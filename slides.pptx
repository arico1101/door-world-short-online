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3716000" cy="77247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1.png"/><Relationship Id="rId5" Type="http://schemas.openxmlformats.org/officeDocument/2006/relationships/image" Target="../media/image27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41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114550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230755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249102" y="5093018"/>
            <a:ext cx="172116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078855" y="5093018"/>
            <a:ext cx="18421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028622" y="5093018"/>
            <a:ext cx="143827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1940" y="3518535"/>
            <a:ext cx="5532120" cy="878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6463"/>
              </a:lnSpc>
            </a:pPr>
            <a:r>
              <a:rPr sz="461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 </a:t>
            </a:r>
            <a:r>
              <a:rPr sz="2308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せかい版 ショート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9850" y="4509135"/>
            <a:ext cx="8495348" cy="470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世界のどこかに生まれ、6歳から25歳までを歩く——お金と選択肢の人生ゲーム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3408" y="5093018"/>
            <a:ext cx="18526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1チーム 3〜4人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5093018"/>
            <a:ext cx="19735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ひとり1台の端末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2928" y="5093018"/>
            <a:ext cx="15697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プレイ25分</a:t>
            </a:r>
          </a:p>
        </p:txBody>
      </p:sp>
      <p:pic>
        <p:nvPicPr>
          <p:cNvPr id="12" name="Picture 11" descr="80d4f2f3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080" y="5222558"/>
            <a:ext cx="170498" cy="170498"/>
          </a:xfrm>
          <a:prstGeom prst="rect">
            <a:avLst/>
          </a:prstGeom>
        </p:spPr>
      </p:pic>
      <p:pic>
        <p:nvPicPr>
          <p:cNvPr id="13" name="Picture 12" descr="295a7d21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880" y="5222558"/>
            <a:ext cx="170498" cy="170498"/>
          </a:xfrm>
          <a:prstGeom prst="rect">
            <a:avLst/>
          </a:prstGeom>
        </p:spPr>
      </p:pic>
      <p:pic>
        <p:nvPicPr>
          <p:cNvPr id="14" name="Picture 13" descr="9920a104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5222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48312" y="1602105"/>
            <a:ext cx="261937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057400" y="224313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057400" y="2889885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057400" y="353568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057400" y="418242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057400" y="4828222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057400" y="547497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5482" y="1602105"/>
            <a:ext cx="268890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今日の流れ（90分）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0718" y="234410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12分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4238" y="235743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導入 — このゲームは何を体験するものか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0718" y="2989898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11分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4238" y="300418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ルール説明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718" y="363664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25分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238" y="3649980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0718" y="4282440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27分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4238" y="429577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振り返り — 結果を全員で見る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0718" y="492823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10分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4238" y="4942522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検証 — 気になるところの洗い出し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30718" y="557498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5分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4238" y="558831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感想共有</a:t>
            </a:r>
          </a:p>
        </p:txBody>
      </p:sp>
      <p:pic>
        <p:nvPicPr>
          <p:cNvPr id="22" name="Picture 21" descr="f477ab9e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770" y="1741170"/>
            <a:ext cx="194310" cy="194310"/>
          </a:xfrm>
          <a:prstGeom prst="rect">
            <a:avLst/>
          </a:prstGeom>
        </p:spPr>
      </p:pic>
      <p:pic>
        <p:nvPicPr>
          <p:cNvPr id="23" name="Picture 22" descr="8f224c57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7535" y="2426970"/>
            <a:ext cx="194310" cy="194310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535" y="3072765"/>
            <a:ext cx="194310" cy="194310"/>
          </a:xfrm>
          <a:prstGeom prst="rect">
            <a:avLst/>
          </a:prstGeom>
        </p:spPr>
      </p:pic>
      <p:pic>
        <p:nvPicPr>
          <p:cNvPr id="25" name="Picture 24" descr="092aaf4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535" y="3719512"/>
            <a:ext cx="194310" cy="194310"/>
          </a:xfrm>
          <a:prstGeom prst="rect">
            <a:avLst/>
          </a:prstGeom>
        </p:spPr>
      </p:pic>
      <p:pic>
        <p:nvPicPr>
          <p:cNvPr id="26" name="Picture 25" descr="98bec61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7535" y="4365308"/>
            <a:ext cx="194310" cy="194310"/>
          </a:xfrm>
          <a:prstGeom prst="rect">
            <a:avLst/>
          </a:prstGeom>
        </p:spPr>
      </p:pic>
      <p:pic>
        <p:nvPicPr>
          <p:cNvPr id="27" name="Picture 26" descr="c2adc338a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7535" y="5012055"/>
            <a:ext cx="194310" cy="194310"/>
          </a:xfrm>
          <a:prstGeom prst="rect">
            <a:avLst/>
          </a:prstGeom>
        </p:spPr>
      </p:pic>
      <p:pic>
        <p:nvPicPr>
          <p:cNvPr id="28" name="Picture 27" descr="432e7fc9e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7535" y="56578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87302" y="1963102"/>
            <a:ext cx="354139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960120" y="2604135"/>
            <a:ext cx="3808095" cy="2073592"/>
          </a:xfrm>
          <a:prstGeom prst="roundRect">
            <a:avLst>
              <a:gd name="adj" fmla="val 8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44905" y="3873818"/>
            <a:ext cx="343852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953952" y="2604135"/>
            <a:ext cx="3808095" cy="2073592"/>
          </a:xfrm>
          <a:prstGeom prst="roundRect">
            <a:avLst>
              <a:gd name="adj" fmla="val 8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138738" y="3873818"/>
            <a:ext cx="343852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46832" y="2604135"/>
            <a:ext cx="3808095" cy="2073592"/>
          </a:xfrm>
          <a:prstGeom prst="roundRect">
            <a:avLst>
              <a:gd name="adj" fmla="val 8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132570" y="3873818"/>
            <a:ext cx="343852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98882" y="5569267"/>
            <a:ext cx="134302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4472" y="1963102"/>
            <a:ext cx="360997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まず、3つの世界の「朝」から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6368" y="2805112"/>
            <a:ext cx="350996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C4703E"/>
                </a:solidFill>
                <a:latin typeface="Zen Maru Gothic"/>
                <a:ea typeface="Zen Maru Gothic"/>
                <a:cs typeface="Zen Maru Gothic"/>
              </a:rPr>
              <a:t>欧米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4905" y="3230880"/>
            <a:ext cx="378142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スクールバスで10分。朝食はシリアルとオレンジジュース。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4905" y="3873818"/>
            <a:ext cx="378142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学校に行くのは「当たり前」。図書館もネットも、ぜんぶそろっている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0200" y="2805112"/>
            <a:ext cx="350996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日本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738" y="3230880"/>
            <a:ext cx="378142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7時に起きて、電車で20分。コンビニに寄る余裕もある。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738" y="3873818"/>
            <a:ext cx="378142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教科書は無料、学校には給食。「支援」も「奨学金」も、自分には関係ない言葉だった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4032" y="2805112"/>
            <a:ext cx="350996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FA882"/>
                </a:solidFill>
                <a:latin typeface="Zen Maru Gothic"/>
                <a:ea typeface="Zen Maru Gothic"/>
                <a:cs typeface="Zen Maru Gothic"/>
              </a:rPr>
              <a:t>ウガンダ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570" y="3230880"/>
            <a:ext cx="378142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5時起き。水くみに1時間、畑を手伝ってから、5km歩いて学校へ。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570" y="3873818"/>
            <a:ext cx="378142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学費を払う月はたいへんだ。でも困ったときは、村のみんなが助けてくれる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8595" y="4848225"/>
            <a:ext cx="571785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同じ「学校に行く」でも、そこに至るまでが違う。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この差が、そのまま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ゲームの数字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になっています。</a:t>
            </a:r>
          </a:p>
        </p:txBody>
      </p:sp>
      <p:pic>
        <p:nvPicPr>
          <p:cNvPr id="21" name="Picture 20" descr="c4554495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760" y="2101215"/>
            <a:ext cx="194310" cy="194310"/>
          </a:xfrm>
          <a:prstGeom prst="rect">
            <a:avLst/>
          </a:prstGeom>
        </p:spPr>
      </p:pic>
      <p:pic>
        <p:nvPicPr>
          <p:cNvPr id="22" name="Picture 21" descr="fb498d6d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905" y="2874645"/>
            <a:ext cx="194310" cy="194310"/>
          </a:xfrm>
          <a:prstGeom prst="rect">
            <a:avLst/>
          </a:prstGeom>
        </p:spPr>
      </p:pic>
      <p:pic>
        <p:nvPicPr>
          <p:cNvPr id="23" name="Picture 22" descr="db1c31d8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738" y="2874645"/>
            <a:ext cx="194310" cy="194310"/>
          </a:xfrm>
          <a:prstGeom prst="rect">
            <a:avLst/>
          </a:prstGeom>
        </p:spPr>
      </p:pic>
      <p:pic>
        <p:nvPicPr>
          <p:cNvPr id="24" name="Picture 23" descr="a240080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2570" y="287464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92309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530918" y="3944302"/>
            <a:ext cx="6655118" cy="1323975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67362" y="1923098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このゲームで起きること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2565082"/>
            <a:ext cx="850392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同じ盤面、同じサイコロ、同じルール。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違うのは、生まれた場所だけ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5168" y="3944302"/>
            <a:ext cx="7226618" cy="1381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説明ではなく、</a:t>
            </a: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自分の手番で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それが起きる。</a:t>
            </a:r>
          </a:p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その差が結果にどう出るかを、</a:t>
            </a:r>
            <a:r>
              <a:rPr sz="1883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25分で一度通しておく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
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6082" y="5436870"/>
            <a:ext cx="782383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街頭で「世界の遺児に教育を」と言うとき、その一言の後ろにある現実を、自分の手で確かめる時間です</a:t>
            </a:r>
          </a:p>
        </p:txBody>
      </p:sp>
      <p:pic>
        <p:nvPicPr>
          <p:cNvPr id="8" name="Picture 7" descr="23d5e6b3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20621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8705" y="385762"/>
            <a:ext cx="3959542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51208" y="6732270"/>
            <a:ext cx="313277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90950" y="7146608"/>
            <a:ext cx="50158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047" y="1027748"/>
            <a:ext cx="2989675" cy="2262188"/>
          </a:xfrm>
          <a:prstGeom prst="rect">
            <a:avLst/>
          </a:prstGeom>
        </p:spPr>
      </p:pic>
      <p:pic>
        <p:nvPicPr>
          <p:cNvPr id="6" name="Picture 5" descr="fa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3162" y="1027748"/>
            <a:ext cx="2989675" cy="2262188"/>
          </a:xfrm>
          <a:prstGeom prst="rect">
            <a:avLst/>
          </a:prstGeom>
        </p:spPr>
      </p:pic>
      <p:pic>
        <p:nvPicPr>
          <p:cNvPr id="7" name="Picture 6" descr="fam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2277" y="1027748"/>
            <a:ext cx="2989675" cy="2262188"/>
          </a:xfrm>
          <a:prstGeom prst="rect">
            <a:avLst/>
          </a:prstGeom>
        </p:spPr>
      </p:pic>
      <p:pic>
        <p:nvPicPr>
          <p:cNvPr id="8" name="Picture 7" descr="fam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047" y="3703320"/>
            <a:ext cx="2989675" cy="2262188"/>
          </a:xfrm>
          <a:prstGeom prst="rect">
            <a:avLst/>
          </a:prstGeom>
        </p:spPr>
      </p:pic>
      <p:pic>
        <p:nvPicPr>
          <p:cNvPr id="9" name="Picture 8" descr="fam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3162" y="3703320"/>
            <a:ext cx="2989675" cy="2262188"/>
          </a:xfrm>
          <a:prstGeom prst="rect">
            <a:avLst/>
          </a:prstGeom>
        </p:spPr>
      </p:pic>
      <p:pic>
        <p:nvPicPr>
          <p:cNvPr id="10" name="Picture 9" descr="fam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2277" y="3703320"/>
            <a:ext cx="2989675" cy="2262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95875" y="385762"/>
            <a:ext cx="40281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配られる家庭カードは、この6種類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3343275"/>
            <a:ext cx="328326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欧米：はじめ150万／基本給20万／★1つ＝10万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795" y="3343275"/>
            <a:ext cx="3280410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日本：はじめ120万／基本給20万／★1つ＝10万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3068" y="3343275"/>
            <a:ext cx="3808095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ウガンダ駐在：はじめ150万／基本給20万／★1つ＝10万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73" y="6019800"/>
            <a:ext cx="408717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ウガンダ・両親あり：はじめ40万／基本給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2022" y="6019800"/>
            <a:ext cx="421290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支援と出会えた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：はじめ20万／基本給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6882" y="6019800"/>
            <a:ext cx="3719512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まだ出会えていない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：数字は左とまったく同じ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6012" y="6424612"/>
            <a:ext cx="894302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カードに出るのは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物語・いまの持ちもの・とくい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だけ。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下に書いた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基本給と★1つの値は、画面のどこにも出ないまま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ずっと効き続けます。</a:t>
            </a:r>
          </a:p>
        </p:txBody>
      </p:sp>
      <p:pic>
        <p:nvPicPr>
          <p:cNvPr id="19" name="Picture 18" descr="6fdef56e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1016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42548" y="1885950"/>
            <a:ext cx="342995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580698" y="4818698"/>
            <a:ext cx="32251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59718" y="1885950"/>
            <a:ext cx="349853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今日いちばん見てほしいこと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7048" y="2526982"/>
            <a:ext cx="7622858" cy="1871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カギが足りずに開けられないのと、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扉があることすら知らない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まったく違う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5200" y="4511040"/>
            <a:ext cx="670560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どのチームにも、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ウガンダの遺児の家庭が必ず1人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入ります。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その人に何が見えていて、何が見えていなかったか——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ゲームが終わったら、全員で答え合わせをします。</a:t>
            </a:r>
          </a:p>
        </p:txBody>
      </p:sp>
      <p:pic>
        <p:nvPicPr>
          <p:cNvPr id="7" name="Picture 6" descr="aa7a0066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005" y="20240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57838" y="385762"/>
            <a:ext cx="260127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1676" y="1027748"/>
            <a:ext cx="8232648" cy="5145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5008" y="385762"/>
            <a:ext cx="266985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まず、ゲームに入る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2945" y="6657022"/>
            <a:ext cx="4166235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3〜4人で1チーム。その中で「ルームをつくる」係を1人決める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595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1. チームと進行役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5380" y="6657022"/>
            <a:ext cx="4123372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進行役の画面に6文字が出る。チームに口で伝え、ほかの人は「ルームに参加」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2078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2. あいことばを配る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6862" y="6657022"/>
            <a:ext cx="40909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全員そろっても「ゲーム開始」はまだ押さない。⚠️のチェックボックスは触らない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4512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3. そろったら止める</a:t>
            </a:r>
          </a:p>
        </p:txBody>
      </p:sp>
      <p:pic>
        <p:nvPicPr>
          <p:cNvPr id="14" name="Picture 13" descr="ea481504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9295" y="524828"/>
            <a:ext cx="194310" cy="194310"/>
          </a:xfrm>
          <a:prstGeom prst="rect">
            <a:avLst/>
          </a:prstGeom>
        </p:spPr>
      </p:pic>
      <p:pic>
        <p:nvPicPr>
          <p:cNvPr id="15" name="Picture 14" descr="b21aaf87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945" y="6411278"/>
            <a:ext cx="178118" cy="178118"/>
          </a:xfrm>
          <a:prstGeom prst="rect">
            <a:avLst/>
          </a:prstGeom>
        </p:spPr>
      </p:pic>
      <p:pic>
        <p:nvPicPr>
          <p:cNvPr id="16" name="Picture 15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5380" y="6411278"/>
            <a:ext cx="178118" cy="178118"/>
          </a:xfrm>
          <a:prstGeom prst="rect">
            <a:avLst/>
          </a:prstGeom>
        </p:spPr>
      </p:pic>
      <p:pic>
        <p:nvPicPr>
          <p:cNvPr id="17" name="Picture 16" descr="dadcd76f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6862" y="6411278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32032" y="2009775"/>
            <a:ext cx="40528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477702" y="2651760"/>
            <a:ext cx="1851660" cy="185166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598920" y="3029902"/>
            <a:ext cx="2638425" cy="769620"/>
          </a:xfrm>
          <a:prstGeom prst="roundRect">
            <a:avLst>
              <a:gd name="adj" fmla="val 200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645920" y="4672965"/>
            <a:ext cx="5157788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912292" y="4672965"/>
            <a:ext cx="5157788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49202" y="2009775"/>
            <a:ext cx="41214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全員、ここにアクセスしてください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5355" y="3346132"/>
            <a:ext cx="1317308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QRコードを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0120" y="3595688"/>
            <a:ext cx="1265872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ここに貼る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3170" y="3029902"/>
            <a:ext cx="3209925" cy="826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3170" y="3860482"/>
            <a:ext cx="320992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つながらない場合は手を挙げてください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0225" y="5033010"/>
            <a:ext cx="505110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人に見せない、隣をのぞかない。誰にどれが配られたかは最後まで秘密です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7875" y="4757738"/>
            <a:ext cx="494538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カードは自分の画面だけ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5645" y="5033010"/>
            <a:ext cx="505110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同じページを開き直せば復帰できます。ただし開始後の途中参加はできません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3295" y="4757738"/>
            <a:ext cx="494538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切れても戻れます</a:t>
            </a:r>
          </a:p>
        </p:txBody>
      </p:sp>
      <p:pic>
        <p:nvPicPr>
          <p:cNvPr id="16" name="Picture 15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2148840"/>
            <a:ext cx="194310" cy="194310"/>
          </a:xfrm>
          <a:prstGeom prst="rect">
            <a:avLst/>
          </a:prstGeom>
        </p:spPr>
      </p:pic>
      <p:pic>
        <p:nvPicPr>
          <p:cNvPr id="17" name="Picture 16" descr="a3e3bfe9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225" y="4787265"/>
            <a:ext cx="178118" cy="178118"/>
          </a:xfrm>
          <a:prstGeom prst="rect">
            <a:avLst/>
          </a:prstGeom>
        </p:spPr>
      </p:pic>
      <p:pic>
        <p:nvPicPr>
          <p:cNvPr id="18" name="Picture 17" descr="1f11ed96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645" y="4787265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72050" y="385762"/>
            <a:ext cx="377190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0" y="6732270"/>
            <a:ext cx="98774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425" y="1027807"/>
            <a:ext cx="8438198" cy="5273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89220" y="385762"/>
            <a:ext cx="384048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盤面は24マス・6歳から25歳まで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83255" y="6424612"/>
            <a:ext cx="735044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15歳まではサイコロなしで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1マスずつ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——人生の土台をつくる期間。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15歳の進学のトビラからサイコロが始まります。</a:t>
            </a:r>
          </a:p>
        </p:txBody>
      </p:sp>
      <p:pic>
        <p:nvPicPr>
          <p:cNvPr id="7" name="Picture 6" descr="092aaf4a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3508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352" y="2045970"/>
            <a:ext cx="1978342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3462338"/>
            <a:ext cx="2893695" cy="113157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744278" y="3462338"/>
            <a:ext cx="2893695" cy="113157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7078028" y="3462338"/>
            <a:ext cx="2893695" cy="113157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10410825" y="3462338"/>
            <a:ext cx="2893695" cy="113157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410325" y="5072062"/>
            <a:ext cx="290893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40955" y="5485448"/>
            <a:ext cx="11191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5522" y="2045970"/>
            <a:ext cx="20469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ゲームの流れ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7648" y="2687955"/>
            <a:ext cx="5641658" cy="6619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くりかえすのは、</a:t>
            </a: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この4つ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785" y="3624262"/>
            <a:ext cx="2505075" cy="397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79"/>
              </a:lnSpc>
            </a:pPr>
            <a:r>
              <a:rPr sz="14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サイコロを転がす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795" y="4026218"/>
            <a:ext cx="3187065" cy="463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0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15歳から。それまでは「一歩すすむ」で1マスずつ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058" y="3462338"/>
            <a:ext cx="7953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1440" y="3624262"/>
            <a:ext cx="2883218" cy="397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79"/>
              </a:lnSpc>
            </a:pPr>
            <a:r>
              <a:rPr sz="14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止まったマスで、できごと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7592" y="4026218"/>
            <a:ext cx="3187065" cy="463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0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おしごと・しゅっぴ・できごと・まなび・トビラ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0808" y="3462338"/>
            <a:ext cx="7953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29488" y="3624262"/>
            <a:ext cx="2788920" cy="397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79"/>
              </a:lnSpc>
            </a:pPr>
            <a:r>
              <a:rPr sz="14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おかねと★まなびが動く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342" y="4026218"/>
            <a:ext cx="3187065" cy="260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0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増えることも、減ることもある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93605" y="3462338"/>
            <a:ext cx="7953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42345" y="3624262"/>
            <a:ext cx="2308860" cy="397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79"/>
              </a:lnSpc>
            </a:pPr>
            <a:r>
              <a:rPr sz="14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25歳でゴール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64140" y="4026218"/>
            <a:ext cx="3187065" cy="260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0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そのときの♥ハッピーで順位が決まる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7152" y="4764405"/>
            <a:ext cx="5941695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おかねも★まなびも、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それ自体は順位になりません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順位を決めるのは、ゴール時点の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♥ハッピー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です。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810" y="2185035"/>
            <a:ext cx="194310" cy="194310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02" y="3695700"/>
            <a:ext cx="198120" cy="198120"/>
          </a:xfrm>
          <a:prstGeom prst="rect">
            <a:avLst/>
          </a:prstGeom>
        </p:spPr>
      </p:pic>
      <p:pic>
        <p:nvPicPr>
          <p:cNvPr id="25" name="Picture 24" descr="10d4f0b2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7158" y="3695700"/>
            <a:ext cx="198120" cy="198120"/>
          </a:xfrm>
          <a:prstGeom prst="rect">
            <a:avLst/>
          </a:prstGeom>
        </p:spPr>
      </p:pic>
      <p:pic>
        <p:nvPicPr>
          <p:cNvPr id="26" name="Picture 25" descr="706f2583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5205" y="3695700"/>
            <a:ext cx="198120" cy="198120"/>
          </a:xfrm>
          <a:prstGeom prst="rect">
            <a:avLst/>
          </a:prstGeom>
        </p:spPr>
      </p:pic>
      <p:pic>
        <p:nvPicPr>
          <p:cNvPr id="27" name="Picture 26" descr="278f8b252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68062" y="3695700"/>
            <a:ext cx="198120" cy="198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08332" y="2403158"/>
            <a:ext cx="23002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22960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92505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87278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056822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51595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121140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92505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887278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056822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7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951595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121140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24550" y="2403158"/>
            <a:ext cx="23688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マスの種類は6つ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4498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おしごと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基本給＋★まなび×掛け率＋仕送り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8815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しゅっぴ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いるものは、いる。決まった額を払う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132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できごと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カードを1枚引く。幸運も、事故も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4498" y="4245292"/>
            <a:ext cx="2944178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まなび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自分に投資する。0円でも学べる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8815" y="4245292"/>
            <a:ext cx="321278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人生の分岐点。19年間で6枚に出会う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3132" y="4108132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はなしあい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22歳。ゲームを止めてチームで話す。数字は変わらない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6262" y="4957762"/>
            <a:ext cx="494442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止まったマスの指示に従い、OKを押すと次の人の番になります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838" y="2541270"/>
            <a:ext cx="194310" cy="194310"/>
          </a:xfrm>
          <a:prstGeom prst="rect">
            <a:avLst/>
          </a:prstGeom>
        </p:spPr>
      </p:pic>
      <p:pic>
        <p:nvPicPr>
          <p:cNvPr id="24" name="Picture 23" descr="3d99c9c0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20" y="3318510"/>
            <a:ext cx="261938" cy="261938"/>
          </a:xfrm>
          <a:prstGeom prst="rect">
            <a:avLst/>
          </a:prstGeom>
        </p:spPr>
      </p:pic>
      <p:pic>
        <p:nvPicPr>
          <p:cNvPr id="25" name="Picture 24" descr="a9d316b1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938" y="3318510"/>
            <a:ext cx="261938" cy="261938"/>
          </a:xfrm>
          <a:prstGeom prst="rect">
            <a:avLst/>
          </a:prstGeom>
        </p:spPr>
      </p:pic>
      <p:pic>
        <p:nvPicPr>
          <p:cNvPr id="26" name="Picture 25" descr="7bf4505d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0208" y="3318510"/>
            <a:ext cx="261938" cy="261938"/>
          </a:xfrm>
          <a:prstGeom prst="rect">
            <a:avLst/>
          </a:prstGeom>
        </p:spPr>
      </p:pic>
      <p:pic>
        <p:nvPicPr>
          <p:cNvPr id="27" name="Picture 26" descr="8afc0ea0c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0620" y="4251960"/>
            <a:ext cx="261938" cy="261938"/>
          </a:xfrm>
          <a:prstGeom prst="rect">
            <a:avLst/>
          </a:prstGeom>
        </p:spPr>
      </p:pic>
      <p:pic>
        <p:nvPicPr>
          <p:cNvPr id="28" name="Picture 27" descr="96066573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4938" y="4251960"/>
            <a:ext cx="261938" cy="261938"/>
          </a:xfrm>
          <a:prstGeom prst="rect">
            <a:avLst/>
          </a:prstGeom>
        </p:spPr>
      </p:pic>
      <p:pic>
        <p:nvPicPr>
          <p:cNvPr id="29" name="Picture 28" descr="6d28f3c5d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0208" y="4251960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50092" y="385762"/>
            <a:ext cx="46158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hoice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3" y="1503581"/>
            <a:ext cx="6194107" cy="3868935"/>
          </a:xfrm>
          <a:prstGeom prst="rect">
            <a:avLst/>
          </a:prstGeom>
        </p:spPr>
      </p:pic>
      <p:pic>
        <p:nvPicPr>
          <p:cNvPr id="7" name="Picture 6" descr="confirm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130" y="1503581"/>
            <a:ext cx="6194107" cy="38689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7262" y="385762"/>
            <a:ext cx="46843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トビラとカギ — ここがこのゲームの核心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3660" y="5909310"/>
            <a:ext cx="1738312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1. どの道を選ぶか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7945" y="3322320"/>
            <a:ext cx="880110" cy="612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374"/>
              </a:lnSpc>
            </a:pPr>
            <a:r>
              <a:rPr sz="2429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040" y="5909310"/>
            <a:ext cx="3062288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2. 開くかどうかは、選んでから分かる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2945" y="6657022"/>
            <a:ext cx="319659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カギがいくつ必要かは、ここでは分からない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595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一覧に出るのは名前だけ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5380" y="6657022"/>
            <a:ext cx="40528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カギが足りなければ「このトビラは開かなかった」。カギの要らない道は必ず選べる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2078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選んで、はじめて分かる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6862" y="6657022"/>
            <a:ext cx="348234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そもそも中身が見えない。選ぶことすらできない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512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？？？</a:t>
            </a:r>
          </a:p>
        </p:txBody>
      </p:sp>
      <p:pic>
        <p:nvPicPr>
          <p:cNvPr id="18" name="Picture 17" descr="96066573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1550" y="524828"/>
            <a:ext cx="194310" cy="194310"/>
          </a:xfrm>
          <a:prstGeom prst="rect">
            <a:avLst/>
          </a:prstGeom>
        </p:spPr>
      </p:pic>
      <p:pic>
        <p:nvPicPr>
          <p:cNvPr id="19" name="Picture 18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945" y="6411278"/>
            <a:ext cx="178118" cy="178118"/>
          </a:xfrm>
          <a:prstGeom prst="rect">
            <a:avLst/>
          </a:prstGeom>
        </p:spPr>
      </p:pic>
      <p:pic>
        <p:nvPicPr>
          <p:cNvPr id="20" name="Picture 19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5380" y="6411278"/>
            <a:ext cx="178118" cy="178118"/>
          </a:xfrm>
          <a:prstGeom prst="rect">
            <a:avLst/>
          </a:prstGeom>
        </p:spPr>
      </p:pic>
      <p:pic>
        <p:nvPicPr>
          <p:cNvPr id="21" name="Picture 20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6862" y="6411278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38725" y="385762"/>
            <a:ext cx="3637598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994660" y="5664518"/>
            <a:ext cx="7726680" cy="1587818"/>
          </a:xfrm>
          <a:prstGeom prst="roundRect">
            <a:avLst>
              <a:gd name="adj" fmla="val 126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mo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168" y="1027880"/>
            <a:ext cx="7225665" cy="4513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55895" y="385762"/>
            <a:ext cx="370617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同じ★でも、入るお金がちがう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08910" y="5664518"/>
            <a:ext cx="8298180" cy="1644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日本・欧米で育つと、</a:t>
            </a:r>
            <a:r>
              <a:rPr sz="164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★1つが10万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ウガンダで育つと、</a:t>
            </a:r>
            <a:r>
              <a:rPr sz="1640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★1つは5万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。はたらきはじめの基本給も、20万と10万。</a:t>
            </a:r>
          </a:p>
          <a:p>
            <a:pPr algn="ctr">
              <a:lnSpc>
                <a:spcPts val="2952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この2つは</a:t>
            </a:r>
            <a:r>
              <a:rPr sz="1336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生まれた場所で決まっていて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、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カードにも盤面にも出てきません</a:t>
            </a:r>
          </a:p>
        </p:txBody>
      </p:sp>
      <p:pic>
        <p:nvPicPr>
          <p:cNvPr id="7" name="Picture 6" descr="adf95adf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18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240887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3049905"/>
            <a:ext cx="11247120" cy="914400"/>
          </a:xfrm>
          <a:prstGeom prst="roundRect">
            <a:avLst>
              <a:gd name="adj" fmla="val 168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50658" y="320421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4103370"/>
            <a:ext cx="11247120" cy="679132"/>
          </a:xfrm>
          <a:prstGeom prst="roundRect">
            <a:avLst>
              <a:gd name="adj" fmla="val 227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50658" y="425767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63540" y="240887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奨学金と、順位の決まり方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0658" y="320421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5965" y="3188970"/>
            <a:ext cx="1060227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「奨学金・支援団体の力で進学」は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貸与型（総額48万）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。働くたびに−6万ずつ返し続けます。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25歳では返し終わりません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0658" y="425767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5965" y="4242435"/>
            <a:ext cx="1060227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順位を決めるのは、お金ではなく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♥ハッピーの数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＝人生の選択肢を多く持ち、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自分の意思で選べた回数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3370" y="4952048"/>
            <a:ext cx="550926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おかねと★まなびは、♥を得るための「カギ」。目的ではなく手段です</a:t>
            </a:r>
          </a:p>
        </p:txBody>
      </p:sp>
      <p:pic>
        <p:nvPicPr>
          <p:cNvPr id="13" name="Picture 12" descr="23e5ec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7828" y="254698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352" y="2001202"/>
            <a:ext cx="19783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07098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2066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70345" y="4124325"/>
            <a:ext cx="84486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522845" y="4124325"/>
            <a:ext cx="873442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503920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22295" y="4711065"/>
            <a:ext cx="29089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138862" y="4711065"/>
            <a:ext cx="209835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345805" y="4711065"/>
            <a:ext cx="2247900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85522" y="2001202"/>
            <a:ext cx="20469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プレイタイム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2062" y="2643188"/>
            <a:ext cx="3570922" cy="13687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327"/>
              </a:lnSpc>
            </a:pPr>
            <a:r>
              <a:rPr sz="10327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523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スタート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491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一時停止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4595" y="4124325"/>
            <a:ext cx="141636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−1分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7095" y="4124325"/>
            <a:ext cx="1444942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＋1分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8170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リセット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4711065"/>
            <a:ext cx="30403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家庭カードは最後まで自分だけ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168" y="4711065"/>
            <a:ext cx="222980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困ったら手を挙げる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110" y="4711065"/>
            <a:ext cx="2379345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全員25歳ゴールで終了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7922" y="5373052"/>
            <a:ext cx="124015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pic>
        <p:nvPicPr>
          <p:cNvPr id="22" name="Picture 21" descr="092aaf4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810" y="2140268"/>
            <a:ext cx="194310" cy="194310"/>
          </a:xfrm>
          <a:prstGeom prst="rect">
            <a:avLst/>
          </a:prstGeom>
        </p:spPr>
      </p:pic>
      <p:pic>
        <p:nvPicPr>
          <p:cNvPr id="23" name="Picture 22" descr="2093fb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272" y="4841558"/>
            <a:ext cx="170498" cy="170498"/>
          </a:xfrm>
          <a:prstGeom prst="rect">
            <a:avLst/>
          </a:prstGeom>
        </p:spPr>
      </p:pic>
      <p:pic>
        <p:nvPicPr>
          <p:cNvPr id="24" name="Picture 23" descr="25c5ca3a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840" y="4841558"/>
            <a:ext cx="170498" cy="170498"/>
          </a:xfrm>
          <a:prstGeom prst="rect">
            <a:avLst/>
          </a:prstGeom>
        </p:spPr>
      </p:pic>
      <p:pic>
        <p:nvPicPr>
          <p:cNvPr id="25" name="Picture 24" descr="4d8d3861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5830" y="4841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9956" y="1027748"/>
            <a:ext cx="8237041" cy="5145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まず、結果を全員で見ます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2945" y="6657022"/>
            <a:ext cx="348234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同数なら残ったお金。お金の多さでは決まらない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595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順位は♥の数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5380" y="6657022"/>
            <a:ext cx="3339465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誰がどこに生まれていたのかが、ここで分かる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2078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家庭カードが公開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6862" y="6657022"/>
            <a:ext cx="40528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借りた人はまだ返し終わっていない。ゴールは、終わりではなかった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4512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奨学金の残り</a:t>
            </a:r>
          </a:p>
        </p:txBody>
      </p:sp>
      <p:pic>
        <p:nvPicPr>
          <p:cNvPr id="14" name="Picture 13" descr="8ece8238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5" name="Picture 14" descr="eea51cc2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945" y="6411278"/>
            <a:ext cx="178118" cy="178118"/>
          </a:xfrm>
          <a:prstGeom prst="rect">
            <a:avLst/>
          </a:prstGeom>
        </p:spPr>
      </p:pic>
      <p:pic>
        <p:nvPicPr>
          <p:cNvPr id="16" name="Picture 15" descr="a33551a2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5380" y="6411278"/>
            <a:ext cx="178118" cy="178118"/>
          </a:xfrm>
          <a:prstGeom prst="rect">
            <a:avLst/>
          </a:prstGeom>
        </p:spPr>
      </p:pic>
      <p:pic>
        <p:nvPicPr>
          <p:cNvPr id="17" name="Picture 16" descr="5baef69d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6862" y="6411278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843212" y="5905500"/>
            <a:ext cx="4922520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22720" y="6732270"/>
            <a:ext cx="201358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41470" y="7146608"/>
            <a:ext cx="274796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610" y="1027748"/>
            <a:ext cx="7117828" cy="4446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誰が、どの扉を選んだのか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1172" y="5597842"/>
            <a:ext cx="10192702" cy="1712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誰のネタバラシでも、自分の画面から開けます。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19年間の扉が全部ならびます。</a:t>
            </a:r>
          </a:p>
          <a:p>
            <a:pPr algn="ctr">
              <a:lnSpc>
                <a:spcPts val="3259"/>
              </a:lnSpc>
            </a:pP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えらんだ</a:t>
            </a: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開けられた</a:t>
            </a:r>
            <a:r>
              <a:rPr sz="1761" b="0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カギ不足</a:t>
            </a:r>
            <a:r>
              <a:rPr sz="1761" b="0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見えてなかった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紫の行が、ゲーム中「？？？」だったもの。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本当は何だったのか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が、ここで初めて分かります。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まず、自分の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「見えていなかった ◯枚」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を声に出して読み上げてみてください。</a:t>
            </a:r>
          </a:p>
        </p:txBody>
      </p:sp>
      <p:pic>
        <p:nvPicPr>
          <p:cNvPr id="9" name="Picture 8" descr="9606657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0" name="Picture 9" descr="dedbf7a2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0465" y="6107430"/>
            <a:ext cx="235268" cy="235268"/>
          </a:xfrm>
          <a:prstGeom prst="rect">
            <a:avLst/>
          </a:prstGeom>
        </p:spPr>
      </p:pic>
      <p:pic>
        <p:nvPicPr>
          <p:cNvPr id="11" name="Picture 10" descr="1f2a15ff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6832" y="6107430"/>
            <a:ext cx="235268" cy="235268"/>
          </a:xfrm>
          <a:prstGeom prst="rect">
            <a:avLst/>
          </a:prstGeom>
        </p:spPr>
      </p:pic>
      <p:pic>
        <p:nvPicPr>
          <p:cNvPr id="12" name="Picture 11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7038" y="6107430"/>
            <a:ext cx="235268" cy="235268"/>
          </a:xfrm>
          <a:prstGeom prst="rect">
            <a:avLst/>
          </a:prstGeom>
        </p:spPr>
      </p:pic>
      <p:pic>
        <p:nvPicPr>
          <p:cNvPr id="13" name="Picture 12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405" y="6107430"/>
            <a:ext cx="235268" cy="2352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4120" y="2467928"/>
            <a:ext cx="112776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8370" y="2467928"/>
            <a:ext cx="169926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2208" y="3093720"/>
            <a:ext cx="88715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結果画面で、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★の数が近い人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を2人さがしてください。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おかねの増え方は、同じでしたか？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それは本人の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努力のちがい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だろうか？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9540" y="4892992"/>
            <a:ext cx="607599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基本給は20万と10万、★1つは10万と5万。どちらも生まれた場所で決まっていた</a:t>
            </a:r>
          </a:p>
        </p:txBody>
      </p:sp>
      <p:pic>
        <p:nvPicPr>
          <p:cNvPr id="6" name="Picture 5" descr="49c8b010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212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1262" y="2467928"/>
            <a:ext cx="113347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5512" y="2467928"/>
            <a:ext cx="170497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98408" y="3093720"/>
            <a:ext cx="87191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「見えていなかった ◯」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読み上げてください。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チームで数字がちがいます。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何が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その差をつくった？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5415" y="4892992"/>
            <a:ext cx="350329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結果画面の帯グラフ。紫の部分の数字です</a:t>
            </a:r>
          </a:p>
        </p:txBody>
      </p:sp>
      <p:pic>
        <p:nvPicPr>
          <p:cNvPr id="6" name="Picture 5" descr="d07e4653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088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8405" y="2467928"/>
            <a:ext cx="113919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2655" y="2467928"/>
            <a:ext cx="171069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8450" y="3093720"/>
            <a:ext cx="804005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ウガンダの遺児の家庭だった人のネタバラシを、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全員が自分の画面で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開いてください。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その人には、何が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本人に見せてもらう必要はありません。誰のぶんでも開けます</a:t>
            </a:r>
          </a:p>
        </p:txBody>
      </p:sp>
      <p:pic>
        <p:nvPicPr>
          <p:cNvPr id="6" name="Picture 5" descr="bb3a5bc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6500" y="2467928"/>
            <a:ext cx="1142048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0750" y="2467928"/>
            <a:ext cx="1713548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7995" y="3093720"/>
            <a:ext cx="770096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今日あなたが持ってきたもの——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スマホ、無料の教科書、給食。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どの家庭カードの世界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のものだった？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9725" y="4892992"/>
            <a:ext cx="311467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「3つの世界の朝」を思い出しながら</a:t>
            </a:r>
          </a:p>
        </p:txBody>
      </p:sp>
      <p:pic>
        <p:nvPicPr>
          <p:cNvPr id="6" name="Picture 5" descr="100c481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0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9358" y="2467928"/>
            <a:ext cx="113728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3608" y="2467928"/>
            <a:ext cx="170878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86175" y="3093720"/>
            <a:ext cx="6342698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日本にいる私たちが、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世界の遺児にわたせる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「カギ」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って、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何だろう？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正解はありません。話したくないことは話さなくて大丈夫です</a:t>
            </a:r>
          </a:p>
        </p:txBody>
      </p:sp>
      <p:pic>
        <p:nvPicPr>
          <p:cNvPr id="6" name="Picture 5" descr="9be6349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1660" y="1607820"/>
            <a:ext cx="239363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320415" y="3628072"/>
            <a:ext cx="1581150" cy="991552"/>
          </a:xfrm>
          <a:prstGeom prst="roundRect">
            <a:avLst>
              <a:gd name="adj" fmla="val 155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80672" y="3628072"/>
            <a:ext cx="2406968" cy="991552"/>
          </a:xfrm>
          <a:prstGeom prst="roundRect">
            <a:avLst>
              <a:gd name="adj" fmla="val 155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65795" y="3628072"/>
            <a:ext cx="2129790" cy="991552"/>
          </a:xfrm>
          <a:prstGeom prst="roundRect">
            <a:avLst>
              <a:gd name="adj" fmla="val 155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061460" y="5096827"/>
            <a:ext cx="559403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62650" y="5511165"/>
            <a:ext cx="268509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8830" y="1607820"/>
            <a:ext cx="246221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ゲームから現実へ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9118" y="2248852"/>
            <a:ext cx="4978718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生まれた場所の差は、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連鎖していく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6122" y="3820478"/>
            <a:ext cx="16906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生まれの差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6122" y="4215765"/>
            <a:ext cx="1690688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初期資金・基本給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4400" y="3628072"/>
            <a:ext cx="833438" cy="10487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4975" y="3820478"/>
            <a:ext cx="213741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見える世界の差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6380" y="4215765"/>
            <a:ext cx="2515552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知っている支援・出会える情報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9522" y="3628072"/>
            <a:ext cx="833438" cy="10487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4870" y="3820478"/>
            <a:ext cx="16906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実る場の差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502" y="4215765"/>
            <a:ext cx="2238375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同じ★でも、かせぎが違う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2755" y="4789170"/>
            <a:ext cx="7731442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学べば報われる、は、場が用意されている人の話です。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そしてその差は、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次の世代の「生まれの差」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へ——。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ゲームで見た「？？？」も「カギ不足」も、いまの世界に実在します。</a:t>
            </a:r>
          </a:p>
        </p:txBody>
      </p:sp>
      <p:pic>
        <p:nvPicPr>
          <p:cNvPr id="19" name="Picture 18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118" y="174593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47351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2114550"/>
            <a:ext cx="11247120" cy="679132"/>
          </a:xfrm>
          <a:prstGeom prst="roundRect">
            <a:avLst>
              <a:gd name="adj" fmla="val 227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50658" y="226885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2932748"/>
            <a:ext cx="11247120" cy="914400"/>
          </a:xfrm>
          <a:prstGeom prst="roundRect">
            <a:avLst>
              <a:gd name="adj" fmla="val 168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50658" y="3087052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234440" y="3985260"/>
            <a:ext cx="11247120" cy="914400"/>
          </a:xfrm>
          <a:prstGeom prst="roundRect">
            <a:avLst>
              <a:gd name="adj" fmla="val 168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50658" y="413956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234440" y="5038725"/>
            <a:ext cx="11247120" cy="679132"/>
          </a:xfrm>
          <a:prstGeom prst="roundRect">
            <a:avLst>
              <a:gd name="adj" fmla="val 227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450658" y="519303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67362" y="1473518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だから、「支援」がある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0658" y="226885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965" y="2253615"/>
            <a:ext cx="1060227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この連鎖は、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本人の努力だけでは断ち切れない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。だから世界には、遺児を支える仕組みと人がいる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0658" y="3087052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5965" y="3071812"/>
            <a:ext cx="1060227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あしなが育英会は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「あしながウガンダ」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で、現地の遺児の教育を実際に支えている——ゲームに出てきた支援団体のモデル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0658" y="413956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5965" y="4124325"/>
            <a:ext cx="1060227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AAI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は、アフリカの遺児を海外の大学へ送り出す奨学金。カギはお金ではなく、まなびと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「志」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——祖国に貢献するリーダーを育てる「約束」の仕組み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50658" y="519303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5965" y="5177790"/>
            <a:ext cx="1060227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そして、その入り口に立っているのが——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いま街頭に立っている、みなさんです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9330" y="5887402"/>
            <a:ext cx="919638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ゲームでAAIを選んだ人は、お金を1円も払っていません。25歳のいま、その人がどこで何をしていたか、読んでみてください</a:t>
            </a:r>
          </a:p>
        </p:txBody>
      </p:sp>
      <p:pic>
        <p:nvPicPr>
          <p:cNvPr id="21" name="Picture 20" descr="1b2e1edd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161258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54015" y="2394585"/>
            <a:ext cx="280797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738812" y="5136832"/>
            <a:ext cx="11191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71185" y="2394585"/>
            <a:ext cx="287655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ここからは、検証です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87078" y="3036570"/>
            <a:ext cx="7141845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今度は</a:t>
            </a:r>
            <a:r>
              <a:rPr sz="3401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「届ける側」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として、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いまの75分を振り返ってください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5640" y="4415790"/>
            <a:ext cx="728376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このゲームは、まだ完成していません。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今日みなさんが感じた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引っかかり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が、そのまま改善点になります。</a:t>
            </a:r>
          </a:p>
        </p:txBody>
      </p:sp>
      <p:pic>
        <p:nvPicPr>
          <p:cNvPr id="7" name="Picture 6" descr="867d447a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5472" y="25336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24388" y="2127885"/>
            <a:ext cx="446722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371600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541145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919912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089458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71600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541145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919912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89458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955858" y="5403532"/>
            <a:ext cx="357949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1558" y="2127885"/>
            <a:ext cx="453580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気になるところを、全部出してください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3138" y="3037522"/>
            <a:ext cx="3722370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時間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25分で終わった？ 長すぎた・短すぎたのはどこ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1450" y="3037522"/>
            <a:ext cx="433387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つまずき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ルールで分からなかったこと、操作で迷ったところ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3138" y="3970972"/>
            <a:ext cx="369379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表現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「この言い方は違う」「強すぎる／弱すぎる」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1450" y="3970972"/>
            <a:ext cx="358616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届け方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高校生に届けるなら、何を削り、何を足す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5710" y="4682490"/>
            <a:ext cx="616553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数字のバランス、扉の選択肢、エンディングの文章——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「ここは違うと思う」を、遠慮なく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</p:txBody>
      </p:sp>
      <p:pic>
        <p:nvPicPr>
          <p:cNvPr id="18" name="Picture 17" descr="b7c36b6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45" y="2266950"/>
            <a:ext cx="194310" cy="194310"/>
          </a:xfrm>
          <a:prstGeom prst="rect">
            <a:avLst/>
          </a:prstGeom>
        </p:spPr>
      </p:pic>
      <p:pic>
        <p:nvPicPr>
          <p:cNvPr id="19" name="Picture 18" descr="ad04ca6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260" y="3043238"/>
            <a:ext cx="261938" cy="261938"/>
          </a:xfrm>
          <a:prstGeom prst="rect">
            <a:avLst/>
          </a:prstGeom>
        </p:spPr>
      </p:pic>
      <p:pic>
        <p:nvPicPr>
          <p:cNvPr id="20" name="Picture 19" descr="f5603e6f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7572" y="3043238"/>
            <a:ext cx="261938" cy="261938"/>
          </a:xfrm>
          <a:prstGeom prst="rect">
            <a:avLst/>
          </a:prstGeom>
        </p:spPr>
      </p:pic>
      <p:pic>
        <p:nvPicPr>
          <p:cNvPr id="21" name="Picture 20" descr="374ef3bd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9260" y="3976688"/>
            <a:ext cx="261938" cy="261938"/>
          </a:xfrm>
          <a:prstGeom prst="rect">
            <a:avLst/>
          </a:prstGeom>
        </p:spPr>
      </p:pic>
      <p:pic>
        <p:nvPicPr>
          <p:cNvPr id="22" name="Picture 21" descr="325205dc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572" y="3976688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5855" y="2187892"/>
            <a:ext cx="38452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718435" y="5344477"/>
            <a:ext cx="514635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53025" y="2187892"/>
            <a:ext cx="39138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最後に、感想を聞かせてください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8110" y="2829878"/>
            <a:ext cx="585978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うまく言葉にならなくても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かまいません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2685" y="4209098"/>
            <a:ext cx="885063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今日いちばん心に残った場面。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自分のカードを見たときのこと、他の人のカードを知ったときのこと。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街頭に立つときの言葉が、ひとつでも変わったなら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——それを聞かせてください。</a:t>
            </a:r>
          </a:p>
        </p:txBody>
      </p:sp>
      <p:pic>
        <p:nvPicPr>
          <p:cNvPr id="7" name="Picture 6" descr="8f9f87c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7312" y="232695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272665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388870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02380" y="3676650"/>
            <a:ext cx="6112192" cy="748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443"/>
              </a:lnSpc>
            </a:pPr>
            <a:r>
              <a:rPr sz="38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2432" y="4537710"/>
            <a:ext cx="527018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あなたの前にも、世界のどこかの子の前にも、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まだ見ぬトビラがたくさんある。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