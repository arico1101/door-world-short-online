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3716000" cy="7724775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image" Target="../media/image9.png"/><Relationship Id="rId8" Type="http://schemas.openxmlformats.org/officeDocument/2006/relationships/image" Target="../media/image10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Relationship Id="rId7" Type="http://schemas.openxmlformats.org/officeDocument/2006/relationships/image" Target="../media/image21.png"/><Relationship Id="rId8" Type="http://schemas.openxmlformats.org/officeDocument/2006/relationships/image" Target="../media/image2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Relationship Id="rId6" Type="http://schemas.openxmlformats.org/officeDocument/2006/relationships/image" Target="../media/image2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Relationship Id="rId4" Type="http://schemas.openxmlformats.org/officeDocument/2006/relationships/image" Target="../media/image35.png"/><Relationship Id="rId5" Type="http://schemas.openxmlformats.org/officeDocument/2006/relationships/image" Target="../media/image36.png"/><Relationship Id="rId6" Type="http://schemas.openxmlformats.org/officeDocument/2006/relationships/image" Target="../media/image37.png"/><Relationship Id="rId7" Type="http://schemas.openxmlformats.org/officeDocument/2006/relationships/image" Target="../media/image38.png"/><Relationship Id="rId8" Type="http://schemas.openxmlformats.org/officeDocument/2006/relationships/image" Target="../media/image3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image" Target="../media/image41.png"/><Relationship Id="rId4" Type="http://schemas.openxmlformats.org/officeDocument/2006/relationships/image" Target="../media/image38.png"/><Relationship Id="rId5" Type="http://schemas.openxmlformats.org/officeDocument/2006/relationships/image" Target="../media/image27.png"/><Relationship Id="rId6" Type="http://schemas.openxmlformats.org/officeDocument/2006/relationships/image" Target="../media/image42.png"/><Relationship Id="rId7" Type="http://schemas.openxmlformats.org/officeDocument/2006/relationships/image" Target="../media/image4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Relationship Id="rId3" Type="http://schemas.openxmlformats.org/officeDocument/2006/relationships/image" Target="../media/image4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47.png"/><Relationship Id="rId4" Type="http://schemas.openxmlformats.org/officeDocument/2006/relationships/image" Target="../media/image48.png"/><Relationship Id="rId5" Type="http://schemas.openxmlformats.org/officeDocument/2006/relationships/image" Target="../media/image4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Relationship Id="rId3" Type="http://schemas.openxmlformats.org/officeDocument/2006/relationships/image" Target="../media/image51.png"/><Relationship Id="rId4" Type="http://schemas.openxmlformats.org/officeDocument/2006/relationships/image" Target="../media/image52.png"/><Relationship Id="rId5" Type="http://schemas.openxmlformats.org/officeDocument/2006/relationships/image" Target="../media/image53.png"/><Relationship Id="rId6" Type="http://schemas.openxmlformats.org/officeDocument/2006/relationships/image" Target="../media/image5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Relationship Id="rId3" Type="http://schemas.openxmlformats.org/officeDocument/2006/relationships/image" Target="../media/image38.png"/><Relationship Id="rId4" Type="http://schemas.openxmlformats.org/officeDocument/2006/relationships/image" Target="../media/image56.png"/><Relationship Id="rId5" Type="http://schemas.openxmlformats.org/officeDocument/2006/relationships/image" Target="../media/image57.png"/><Relationship Id="rId6" Type="http://schemas.openxmlformats.org/officeDocument/2006/relationships/image" Target="../media/image42.png"/><Relationship Id="rId7" Type="http://schemas.openxmlformats.org/officeDocument/2006/relationships/image" Target="../media/image4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.png"/><Relationship Id="rId3" Type="http://schemas.openxmlformats.org/officeDocument/2006/relationships/image" Target="../media/image66.png"/><Relationship Id="rId4" Type="http://schemas.openxmlformats.org/officeDocument/2006/relationships/image" Target="../media/image67.png"/><Relationship Id="rId5" Type="http://schemas.openxmlformats.org/officeDocument/2006/relationships/image" Target="../media/image68.png"/><Relationship Id="rId6" Type="http://schemas.openxmlformats.org/officeDocument/2006/relationships/image" Target="../media/image69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0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356032" y="2114550"/>
            <a:ext cx="1002982" cy="1234440"/>
          </a:xfrm>
          <a:prstGeom prst="roundRect">
            <a:avLst>
              <a:gd name="adj" fmla="val 50000"/>
            </a:avLst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6472238" y="2230755"/>
            <a:ext cx="771525" cy="1002982"/>
          </a:xfrm>
          <a:prstGeom prst="roundRect">
            <a:avLst>
              <a:gd name="adj" fmla="val 50000"/>
            </a:avLst>
          </a:prstGeom>
          <a:solidFill>
            <a:srgbClr val="FBD9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4249102" y="5093018"/>
            <a:ext cx="1721168" cy="43053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6078855" y="5093018"/>
            <a:ext cx="1842135" cy="43053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8028622" y="5093018"/>
            <a:ext cx="1438275" cy="43053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091940" y="3518535"/>
            <a:ext cx="5532120" cy="8782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6463"/>
              </a:lnSpc>
            </a:pPr>
            <a:r>
              <a:rPr sz="4617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トビラ </a:t>
            </a:r>
            <a:r>
              <a:rPr sz="2308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せかい版 ショート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09850" y="4509135"/>
            <a:ext cx="8495348" cy="470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世界のどこかに生まれ、6歳から25歳までを歩く——お金と選択肢の人生ゲーム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03408" y="5093018"/>
            <a:ext cx="1852612" cy="487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296"/>
              </a:lnSpc>
            </a:pPr>
            <a:r>
              <a:rPr sz="1275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1チーム 3〜4人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3160" y="5093018"/>
            <a:ext cx="1973580" cy="487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296"/>
              </a:lnSpc>
            </a:pPr>
            <a:r>
              <a:rPr sz="1275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ひとり1台の端末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82928" y="5093018"/>
            <a:ext cx="1569720" cy="487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296"/>
              </a:lnSpc>
            </a:pPr>
            <a:r>
              <a:rPr sz="1275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プレイ25分</a:t>
            </a:r>
          </a:p>
        </p:txBody>
      </p:sp>
      <p:pic>
        <p:nvPicPr>
          <p:cNvPr id="12" name="Picture 11" descr="80d4f2f3d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0080" y="5222558"/>
            <a:ext cx="170498" cy="170498"/>
          </a:xfrm>
          <a:prstGeom prst="rect">
            <a:avLst/>
          </a:prstGeom>
        </p:spPr>
      </p:pic>
      <p:pic>
        <p:nvPicPr>
          <p:cNvPr id="13" name="Picture 12" descr="295a7d218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8880" y="5222558"/>
            <a:ext cx="170498" cy="170498"/>
          </a:xfrm>
          <a:prstGeom prst="rect">
            <a:avLst/>
          </a:prstGeom>
        </p:spPr>
      </p:pic>
      <p:pic>
        <p:nvPicPr>
          <p:cNvPr id="14" name="Picture 13" descr="9920a1042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0" y="5222558"/>
            <a:ext cx="170498" cy="17049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548312" y="1602105"/>
            <a:ext cx="2619375" cy="471488"/>
          </a:xfrm>
          <a:prstGeom prst="roundRect">
            <a:avLst>
              <a:gd name="adj" fmla="val 50000"/>
            </a:avLst>
          </a:prstGeom>
          <a:solidFill>
            <a:srgbClr val="5B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2057400" y="2243138"/>
            <a:ext cx="9601200" cy="561022"/>
          </a:xfrm>
          <a:prstGeom prst="roundRect">
            <a:avLst>
              <a:gd name="adj" fmla="val 2200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2057400" y="2889885"/>
            <a:ext cx="9601200" cy="561022"/>
          </a:xfrm>
          <a:prstGeom prst="roundRect">
            <a:avLst>
              <a:gd name="adj" fmla="val 2200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2057400" y="3535680"/>
            <a:ext cx="9601200" cy="561022"/>
          </a:xfrm>
          <a:prstGeom prst="roundRect">
            <a:avLst>
              <a:gd name="adj" fmla="val 22003"/>
            </a:avLst>
          </a:prstGeom>
          <a:solidFill>
            <a:srgbClr val="5B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2057400" y="4182428"/>
            <a:ext cx="9601200" cy="561022"/>
          </a:xfrm>
          <a:prstGeom prst="roundRect">
            <a:avLst>
              <a:gd name="adj" fmla="val 2200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2057400" y="4828222"/>
            <a:ext cx="9601200" cy="561022"/>
          </a:xfrm>
          <a:prstGeom prst="roundRect">
            <a:avLst>
              <a:gd name="adj" fmla="val 2200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2057400" y="5474970"/>
            <a:ext cx="9601200" cy="561022"/>
          </a:xfrm>
          <a:prstGeom prst="roundRect">
            <a:avLst>
              <a:gd name="adj" fmla="val 2200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765482" y="1602105"/>
            <a:ext cx="2688908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今日の流れ（90分）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30718" y="2344102"/>
            <a:ext cx="1037272" cy="418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2843"/>
              </a:lnSpc>
            </a:pPr>
            <a:r>
              <a:rPr sz="1579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12分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24238" y="2357438"/>
            <a:ext cx="8361045" cy="390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24"/>
              </a:lnSpc>
            </a:pPr>
            <a:r>
              <a:rPr sz="1458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導入 — このゲームは何を体験するものか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30718" y="2989898"/>
            <a:ext cx="1037272" cy="418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2843"/>
              </a:lnSpc>
            </a:pPr>
            <a:r>
              <a:rPr sz="1579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11分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24238" y="3004185"/>
            <a:ext cx="8361045" cy="390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24"/>
              </a:lnSpc>
            </a:pPr>
            <a:r>
              <a:rPr sz="1458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ルール説明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30718" y="3636645"/>
            <a:ext cx="1037272" cy="418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2843"/>
              </a:lnSpc>
            </a:pPr>
            <a:r>
              <a:rPr sz="1579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25分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238" y="3649980"/>
            <a:ext cx="8361045" cy="390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プレイ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30718" y="4282440"/>
            <a:ext cx="1037272" cy="418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2843"/>
              </a:lnSpc>
            </a:pPr>
            <a:r>
              <a:rPr sz="1579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27分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24238" y="4295775"/>
            <a:ext cx="8361045" cy="390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24"/>
              </a:lnSpc>
            </a:pPr>
            <a:r>
              <a:rPr sz="1458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振り返り — 結果を全員で見る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30718" y="4928235"/>
            <a:ext cx="1037272" cy="418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2843"/>
              </a:lnSpc>
            </a:pPr>
            <a:r>
              <a:rPr sz="1579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10分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24238" y="4942522"/>
            <a:ext cx="8361045" cy="390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24"/>
              </a:lnSpc>
            </a:pPr>
            <a:r>
              <a:rPr sz="1458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検証 — 気になるところの洗い出し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30718" y="5574982"/>
            <a:ext cx="1037272" cy="418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2843"/>
              </a:lnSpc>
            </a:pPr>
            <a:r>
              <a:rPr sz="1579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5分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24238" y="5588318"/>
            <a:ext cx="8361045" cy="390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24"/>
              </a:lnSpc>
            </a:pPr>
            <a:r>
              <a:rPr sz="1458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感想共有</a:t>
            </a:r>
          </a:p>
        </p:txBody>
      </p:sp>
      <p:pic>
        <p:nvPicPr>
          <p:cNvPr id="22" name="Picture 21" descr="f477ab9e8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79770" y="1741170"/>
            <a:ext cx="194310" cy="194310"/>
          </a:xfrm>
          <a:prstGeom prst="rect">
            <a:avLst/>
          </a:prstGeom>
        </p:spPr>
      </p:pic>
      <p:pic>
        <p:nvPicPr>
          <p:cNvPr id="23" name="Picture 22" descr="8f224c572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7535" y="2426970"/>
            <a:ext cx="194310" cy="194310"/>
          </a:xfrm>
          <a:prstGeom prst="rect">
            <a:avLst/>
          </a:prstGeom>
        </p:spPr>
      </p:pic>
      <p:pic>
        <p:nvPicPr>
          <p:cNvPr id="24" name="Picture 23" descr="683ca9994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37535" y="3072765"/>
            <a:ext cx="194310" cy="194310"/>
          </a:xfrm>
          <a:prstGeom prst="rect">
            <a:avLst/>
          </a:prstGeom>
        </p:spPr>
      </p:pic>
      <p:pic>
        <p:nvPicPr>
          <p:cNvPr id="25" name="Picture 24" descr="092aaf4ad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37535" y="3719512"/>
            <a:ext cx="194310" cy="194310"/>
          </a:xfrm>
          <a:prstGeom prst="rect">
            <a:avLst/>
          </a:prstGeom>
        </p:spPr>
      </p:pic>
      <p:pic>
        <p:nvPicPr>
          <p:cNvPr id="26" name="Picture 25" descr="98bec61da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37535" y="4365308"/>
            <a:ext cx="194310" cy="194310"/>
          </a:xfrm>
          <a:prstGeom prst="rect">
            <a:avLst/>
          </a:prstGeom>
        </p:spPr>
      </p:pic>
      <p:pic>
        <p:nvPicPr>
          <p:cNvPr id="27" name="Picture 26" descr="c2adc338a8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37535" y="5012055"/>
            <a:ext cx="194310" cy="194310"/>
          </a:xfrm>
          <a:prstGeom prst="rect">
            <a:avLst/>
          </a:prstGeom>
        </p:spPr>
      </p:pic>
      <p:pic>
        <p:nvPicPr>
          <p:cNvPr id="28" name="Picture 27" descr="432e7fc9e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137535" y="5657850"/>
            <a:ext cx="194310" cy="19431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87302" y="1953578"/>
            <a:ext cx="3541395" cy="471488"/>
          </a:xfrm>
          <a:prstGeom prst="roundRect">
            <a:avLst>
              <a:gd name="adj" fmla="val 50000"/>
            </a:avLst>
          </a:prstGeom>
          <a:solidFill>
            <a:srgbClr val="FBD9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960120" y="2594610"/>
            <a:ext cx="3808095" cy="2092642"/>
          </a:xfrm>
          <a:prstGeom prst="roundRect">
            <a:avLst>
              <a:gd name="adj" fmla="val 8111"/>
            </a:avLst>
          </a:prstGeom>
          <a:solidFill>
            <a:srgbClr val="FFFFFF"/>
          </a:solidFill>
          <a:ln w="9525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1154430" y="3873818"/>
            <a:ext cx="3419475" cy="603885"/>
          </a:xfrm>
          <a:prstGeom prst="rect">
            <a:avLst/>
          </a:prstGeom>
          <a:noFill/>
          <a:ln w="19050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4953952" y="2594610"/>
            <a:ext cx="3808095" cy="2092642"/>
          </a:xfrm>
          <a:prstGeom prst="roundRect">
            <a:avLst>
              <a:gd name="adj" fmla="val 8111"/>
            </a:avLst>
          </a:prstGeom>
          <a:solidFill>
            <a:srgbClr val="FFFFFF"/>
          </a:solidFill>
          <a:ln w="9525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148262" y="3873818"/>
            <a:ext cx="3419475" cy="603885"/>
          </a:xfrm>
          <a:prstGeom prst="rect">
            <a:avLst/>
          </a:prstGeom>
          <a:noFill/>
          <a:ln w="19050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8946832" y="2594610"/>
            <a:ext cx="3808095" cy="2092642"/>
          </a:xfrm>
          <a:prstGeom prst="roundRect">
            <a:avLst>
              <a:gd name="adj" fmla="val 8111"/>
            </a:avLst>
          </a:prstGeom>
          <a:solidFill>
            <a:srgbClr val="FFFFFF"/>
          </a:solidFill>
          <a:ln w="9525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9142095" y="3873818"/>
            <a:ext cx="3419475" cy="603885"/>
          </a:xfrm>
          <a:prstGeom prst="rect">
            <a:avLst/>
          </a:prstGeom>
          <a:noFill/>
          <a:ln w="19050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6298882" y="5578792"/>
            <a:ext cx="1343025" cy="54292"/>
          </a:xfrm>
          <a:prstGeom prst="rect">
            <a:avLst/>
          </a:prstGeom>
          <a:solidFill>
            <a:srgbClr val="FCE6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4472" y="1953578"/>
            <a:ext cx="3609975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7A6320"/>
                </a:solidFill>
                <a:latin typeface="Zen Maru Gothic"/>
                <a:ea typeface="Zen Maru Gothic"/>
                <a:cs typeface="Zen Maru Gothic"/>
              </a:rPr>
              <a:t>まず、3つの世界の「朝」から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25892" y="2805112"/>
            <a:ext cx="3490912" cy="390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24"/>
              </a:lnSpc>
            </a:pPr>
            <a:r>
              <a:rPr sz="1458" b="1">
                <a:solidFill>
                  <a:srgbClr val="C4703E"/>
                </a:solidFill>
                <a:latin typeface="Zen Maru Gothic"/>
                <a:ea typeface="Zen Maru Gothic"/>
                <a:cs typeface="Zen Maru Gothic"/>
              </a:rPr>
              <a:t>欧米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54430" y="3230880"/>
            <a:ext cx="3762375" cy="6076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8"/>
              </a:lnSpc>
            </a:pPr>
            <a:r>
              <a:rPr sz="1275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スクールバスで10分。朝食はシリアルとオレンジジュース。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54430" y="3873818"/>
            <a:ext cx="3762375" cy="6610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68"/>
              </a:lnSpc>
            </a:pPr>
            <a:r>
              <a:rPr sz="109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学校に行くのは「当たり前」。図書館もネットも、ぜんぶそろっている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19725" y="2805112"/>
            <a:ext cx="3490912" cy="390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24"/>
              </a:lnSpc>
            </a:pPr>
            <a:r>
              <a:rPr sz="1458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日本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48262" y="3230880"/>
            <a:ext cx="3762375" cy="6076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8"/>
              </a:lnSpc>
            </a:pPr>
            <a:r>
              <a:rPr sz="1275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7時に起きて、電車で20分。コンビニに寄る余裕もある。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48262" y="3873818"/>
            <a:ext cx="3762375" cy="6610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68"/>
              </a:lnSpc>
            </a:pPr>
            <a:r>
              <a:rPr sz="109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教科書は無料、学校には給食。「支援」も「奨学金」も、自分には関係ない言葉だった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13558" y="2805112"/>
            <a:ext cx="3490912" cy="390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24"/>
              </a:lnSpc>
            </a:pPr>
            <a:r>
              <a:rPr sz="1458" b="1">
                <a:solidFill>
                  <a:srgbClr val="5FA882"/>
                </a:solidFill>
                <a:latin typeface="Zen Maru Gothic"/>
                <a:ea typeface="Zen Maru Gothic"/>
                <a:cs typeface="Zen Maru Gothic"/>
              </a:rPr>
              <a:t>ウガンダ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2095" y="3230880"/>
            <a:ext cx="3762375" cy="6076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8"/>
              </a:lnSpc>
            </a:pPr>
            <a:r>
              <a:rPr sz="1275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5時起き。水くみに1時間、畑を手伝ってから、5km歩いて学校へ。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2095" y="3873818"/>
            <a:ext cx="3762375" cy="6610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68"/>
              </a:lnSpc>
            </a:pPr>
            <a:r>
              <a:rPr sz="109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学費を払う月はたいへんだ。でも困ったときは、村のみんなが助けてくれる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98595" y="4857750"/>
            <a:ext cx="5717858" cy="884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同じ「学校に行く」でも、そこに至るまでが違う。</a:t>
            </a:r>
          </a:p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この差が、そのまま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ゲームの数字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になっています。</a:t>
            </a:r>
          </a:p>
        </p:txBody>
      </p:sp>
      <p:pic>
        <p:nvPicPr>
          <p:cNvPr id="21" name="Picture 20" descr="c4554495b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8760" y="2091690"/>
            <a:ext cx="194310" cy="194310"/>
          </a:xfrm>
          <a:prstGeom prst="rect">
            <a:avLst/>
          </a:prstGeom>
        </p:spPr>
      </p:pic>
      <p:pic>
        <p:nvPicPr>
          <p:cNvPr id="22" name="Picture 21" descr="fb498d6da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4430" y="2874645"/>
            <a:ext cx="194310" cy="194310"/>
          </a:xfrm>
          <a:prstGeom prst="rect">
            <a:avLst/>
          </a:prstGeom>
        </p:spPr>
      </p:pic>
      <p:pic>
        <p:nvPicPr>
          <p:cNvPr id="23" name="Picture 22" descr="db1c31d8e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48262" y="2874645"/>
            <a:ext cx="194310" cy="194310"/>
          </a:xfrm>
          <a:prstGeom prst="rect">
            <a:avLst/>
          </a:prstGeom>
        </p:spPr>
      </p:pic>
      <p:pic>
        <p:nvPicPr>
          <p:cNvPr id="24" name="Picture 23" descr="a24008001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2095" y="2874645"/>
            <a:ext cx="194310" cy="19431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350192" y="1913572"/>
            <a:ext cx="3015615" cy="471488"/>
          </a:xfrm>
          <a:prstGeom prst="roundRect">
            <a:avLst>
              <a:gd name="adj" fmla="val 50000"/>
            </a:avLst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3521392" y="3934778"/>
            <a:ext cx="6674168" cy="1343025"/>
          </a:xfrm>
          <a:prstGeom prst="roundRect">
            <a:avLst>
              <a:gd name="adj" fmla="val 14936"/>
            </a:avLst>
          </a:prstGeom>
          <a:solidFill>
            <a:srgbClr val="FFFFFF"/>
          </a:solidFill>
          <a:ln w="9525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567362" y="1913572"/>
            <a:ext cx="3084195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このゲームで起きること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06040" y="2555558"/>
            <a:ext cx="8503920" cy="12668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4762"/>
              </a:lnSpc>
            </a:pPr>
            <a:r>
              <a:rPr sz="340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同じ盤面、同じサイコロ、同じルール。</a:t>
            </a:r>
          </a:p>
          <a:p>
            <a:pPr algn="ctr">
              <a:lnSpc>
                <a:spcPts val="4762"/>
              </a:lnSpc>
            </a:pPr>
            <a:r>
              <a:rPr sz="3401" b="1">
                <a:solidFill>
                  <a:srgbClr val="F4879F"/>
                </a:solidFill>
                <a:latin typeface="Zen Maru Gothic"/>
                <a:ea typeface="Zen Maru Gothic"/>
                <a:cs typeface="Zen Maru Gothic"/>
              </a:rPr>
              <a:t>違うのは、生まれた場所だけ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35642" y="3934778"/>
            <a:ext cx="7245668" cy="14001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389"/>
              </a:lnSpc>
            </a:pPr>
            <a:r>
              <a:rPr sz="188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
    説明ではなく、</a:t>
            </a:r>
            <a:r>
              <a:rPr sz="1883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自分の手番で</a:t>
            </a:r>
            <a:r>
              <a:rPr sz="188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それが起きる。</a:t>
            </a:r>
          </a:p>
          <a:p>
            <a:pPr algn="ctr">
              <a:lnSpc>
                <a:spcPts val="3389"/>
              </a:lnSpc>
            </a:pPr>
            <a:r>
              <a:rPr sz="188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
    その差が結果にどう出るかを、</a:t>
            </a:r>
            <a:r>
              <a:rPr sz="1883" b="1">
                <a:solidFill>
                  <a:srgbClr val="F4879F"/>
                </a:solidFill>
                <a:latin typeface="Zen Maru Gothic"/>
                <a:ea typeface="Zen Maru Gothic"/>
                <a:cs typeface="Zen Maru Gothic"/>
              </a:rPr>
              <a:t>25分で一度通しておく</a:t>
            </a:r>
            <a:r>
              <a:rPr sz="188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。
 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46082" y="5446395"/>
            <a:ext cx="7823835" cy="335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187"/>
              </a:lnSpc>
            </a:pPr>
            <a:r>
              <a:rPr sz="1214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街頭で「世界の遺児に教育を」と言うとき、その一言の後ろにある現実を、自分の手で確かめる時間です</a:t>
            </a:r>
          </a:p>
        </p:txBody>
      </p:sp>
      <p:pic>
        <p:nvPicPr>
          <p:cNvPr id="8" name="Picture 7" descr="23d5e6b3e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1650" y="2052638"/>
            <a:ext cx="194310" cy="19431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878705" y="385762"/>
            <a:ext cx="3959542" cy="471488"/>
          </a:xfrm>
          <a:prstGeom prst="roundRect">
            <a:avLst>
              <a:gd name="adj" fmla="val 50000"/>
            </a:avLst>
          </a:prstGeom>
          <a:solidFill>
            <a:srgbClr val="5B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851208" y="6732270"/>
            <a:ext cx="3132772" cy="54292"/>
          </a:xfrm>
          <a:prstGeom prst="rect">
            <a:avLst/>
          </a:prstGeom>
          <a:solidFill>
            <a:srgbClr val="FCE6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790950" y="7146608"/>
            <a:ext cx="5015865" cy="54292"/>
          </a:xfrm>
          <a:prstGeom prst="rect">
            <a:avLst/>
          </a:prstGeom>
          <a:solidFill>
            <a:srgbClr val="FCE6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am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027748"/>
            <a:ext cx="4194810" cy="2262188"/>
          </a:xfrm>
          <a:prstGeom prst="rect">
            <a:avLst/>
          </a:prstGeom>
        </p:spPr>
      </p:pic>
      <p:pic>
        <p:nvPicPr>
          <p:cNvPr id="6" name="Picture 5" descr="fam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60595" y="1027748"/>
            <a:ext cx="4194810" cy="2262188"/>
          </a:xfrm>
          <a:prstGeom prst="rect">
            <a:avLst/>
          </a:prstGeom>
        </p:spPr>
      </p:pic>
      <p:pic>
        <p:nvPicPr>
          <p:cNvPr id="7" name="Picture 6" descr="fam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09710" y="1027748"/>
            <a:ext cx="4194810" cy="2262188"/>
          </a:xfrm>
          <a:prstGeom prst="rect">
            <a:avLst/>
          </a:prstGeom>
        </p:spPr>
      </p:pic>
      <p:pic>
        <p:nvPicPr>
          <p:cNvPr id="8" name="Picture 7" descr="fam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480" y="3703320"/>
            <a:ext cx="4194810" cy="2262188"/>
          </a:xfrm>
          <a:prstGeom prst="rect">
            <a:avLst/>
          </a:prstGeom>
        </p:spPr>
      </p:pic>
      <p:pic>
        <p:nvPicPr>
          <p:cNvPr id="9" name="Picture 8" descr="fam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60595" y="3703320"/>
            <a:ext cx="4194810" cy="2262188"/>
          </a:xfrm>
          <a:prstGeom prst="rect">
            <a:avLst/>
          </a:prstGeom>
        </p:spPr>
      </p:pic>
      <p:pic>
        <p:nvPicPr>
          <p:cNvPr id="10" name="Picture 9" descr="fam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09710" y="3703320"/>
            <a:ext cx="4194810" cy="226218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095875" y="385762"/>
            <a:ext cx="4028122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配られる家庭カードは、この6種類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6775" y="3343275"/>
            <a:ext cx="3283268" cy="2933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58"/>
              </a:lnSpc>
            </a:pPr>
            <a:r>
              <a:rPr sz="1032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欧米：はじめ150万／基本給20万／★1つ＝10万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7795" y="3343275"/>
            <a:ext cx="3280410" cy="2933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58"/>
              </a:lnSpc>
            </a:pPr>
            <a:r>
              <a:rPr sz="1032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日本：はじめ120万／基本給20万／★1つ＝10万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03068" y="3343275"/>
            <a:ext cx="3808095" cy="2933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58"/>
              </a:lnSpc>
            </a:pPr>
            <a:r>
              <a:rPr sz="1032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ウガンダ駐在：はじめ150万／基本給20万／★1つ＝10万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773" y="6019800"/>
            <a:ext cx="4087178" cy="2933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58"/>
              </a:lnSpc>
            </a:pPr>
            <a:r>
              <a:rPr sz="1032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ウガンダ・両親あり：はじめ40万／基本給</a:t>
            </a:r>
            <a:r>
              <a:rPr sz="1032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10万</a:t>
            </a:r>
            <a:r>
              <a:rPr sz="1032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／★1つ＝</a:t>
            </a:r>
            <a:r>
              <a:rPr sz="1032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5万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2022" y="6019800"/>
            <a:ext cx="4212908" cy="2933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58"/>
              </a:lnSpc>
            </a:pPr>
            <a:r>
              <a:rPr sz="1032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遺児・</a:t>
            </a:r>
            <a:r>
              <a:rPr sz="1032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支援と出会えた</a:t>
            </a:r>
            <a:r>
              <a:rPr sz="1032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：はじめ20万／基本給</a:t>
            </a:r>
            <a:r>
              <a:rPr sz="1032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10万</a:t>
            </a:r>
            <a:r>
              <a:rPr sz="1032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／★1つ＝</a:t>
            </a:r>
            <a:r>
              <a:rPr sz="1032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5万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46882" y="6019800"/>
            <a:ext cx="3719512" cy="2933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58"/>
              </a:lnSpc>
            </a:pPr>
            <a:r>
              <a:rPr sz="1032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遺児・</a:t>
            </a:r>
            <a:r>
              <a:rPr sz="1032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まだ出会えていない</a:t>
            </a:r>
            <a:r>
              <a:rPr sz="1032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：数字は左とまったく同じ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86012" y="6424612"/>
            <a:ext cx="8943022" cy="884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カードに出るのは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物語・いまの持ちもの・とくい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だけ。</a:t>
            </a:r>
          </a:p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下に書いた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基本給と★1つの値は、画面のどこにも出ないまま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ずっと効き続けます。</a:t>
            </a:r>
          </a:p>
        </p:txBody>
      </p:sp>
      <p:pic>
        <p:nvPicPr>
          <p:cNvPr id="19" name="Picture 18" descr="6fdef56e5c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110162" y="524828"/>
            <a:ext cx="194310" cy="19431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142548" y="1885950"/>
            <a:ext cx="3429952" cy="471488"/>
          </a:xfrm>
          <a:prstGeom prst="roundRect">
            <a:avLst>
              <a:gd name="adj" fmla="val 50000"/>
            </a:avLst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580698" y="4818698"/>
            <a:ext cx="3225165" cy="54292"/>
          </a:xfrm>
          <a:prstGeom prst="rect">
            <a:avLst/>
          </a:prstGeom>
          <a:solidFill>
            <a:srgbClr val="FCE6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59718" y="1885950"/>
            <a:ext cx="3498532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今日いちばん見てほしいこと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47048" y="2526982"/>
            <a:ext cx="7622858" cy="18716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4762"/>
              </a:lnSpc>
            </a:pPr>
            <a:r>
              <a:rPr sz="340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カギが足りずに開けられないのと、</a:t>
            </a:r>
          </a:p>
          <a:p>
            <a:pPr algn="ctr">
              <a:lnSpc>
                <a:spcPts val="4762"/>
              </a:lnSpc>
            </a:pPr>
            <a:r>
              <a:rPr sz="3401" b="1">
                <a:solidFill>
                  <a:srgbClr val="F4879F"/>
                </a:solidFill>
                <a:latin typeface="Zen Maru Gothic"/>
                <a:ea typeface="Zen Maru Gothic"/>
                <a:cs typeface="Zen Maru Gothic"/>
              </a:rPr>
              <a:t>扉があることすら知らない</a:t>
            </a:r>
            <a:r>
              <a:rPr sz="340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のは、</a:t>
            </a:r>
          </a:p>
          <a:p>
            <a:pPr algn="ctr">
              <a:lnSpc>
                <a:spcPts val="4762"/>
              </a:lnSpc>
            </a:pPr>
            <a:r>
              <a:rPr sz="340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まったく違う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05200" y="4511040"/>
            <a:ext cx="6705600" cy="12982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どのチームにも、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ウガンダの遺児の家庭が必ず1人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入ります。</a:t>
            </a:r>
          </a:p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その人に何が見えていて、何が見えていなかったか——</a:t>
            </a:r>
          </a:p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ゲームが終わったら、全員で答え合わせをします。</a:t>
            </a:r>
          </a:p>
        </p:txBody>
      </p:sp>
      <p:pic>
        <p:nvPicPr>
          <p:cNvPr id="7" name="Picture 6" descr="aa7a0066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4005" y="2024062"/>
            <a:ext cx="194310" cy="19431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557838" y="385762"/>
            <a:ext cx="2601278" cy="471488"/>
          </a:xfrm>
          <a:prstGeom prst="roundRect">
            <a:avLst>
              <a:gd name="adj" fmla="val 50000"/>
            </a:avLst>
          </a:prstGeom>
          <a:solidFill>
            <a:srgbClr val="4E8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548640" y="6277928"/>
            <a:ext cx="4133850" cy="974408"/>
          </a:xfrm>
          <a:prstGeom prst="roundRect">
            <a:avLst>
              <a:gd name="adj" fmla="val 12668"/>
            </a:avLst>
          </a:prstGeom>
          <a:solidFill>
            <a:srgbClr val="FFFFFF"/>
          </a:solidFill>
          <a:ln w="9525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4791075" y="6277928"/>
            <a:ext cx="4133850" cy="974408"/>
          </a:xfrm>
          <a:prstGeom prst="roundRect">
            <a:avLst>
              <a:gd name="adj" fmla="val 12668"/>
            </a:avLst>
          </a:prstGeom>
          <a:solidFill>
            <a:srgbClr val="FFFFFF"/>
          </a:solidFill>
          <a:ln w="9525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9032558" y="6277928"/>
            <a:ext cx="4133850" cy="974408"/>
          </a:xfrm>
          <a:prstGeom prst="roundRect">
            <a:avLst>
              <a:gd name="adj" fmla="val 12668"/>
            </a:avLst>
          </a:prstGeom>
          <a:solidFill>
            <a:srgbClr val="FFFFFF"/>
          </a:solidFill>
          <a:ln w="9525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lobb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6535" y="1027748"/>
            <a:ext cx="8202930" cy="512635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775008" y="385762"/>
            <a:ext cx="2669858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まず、ゲームに入る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6372225"/>
            <a:ext cx="3902392" cy="2943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71"/>
              </a:lnSpc>
            </a:pPr>
            <a:r>
              <a:rPr sz="1336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1. チームと進行役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01602" y="6372225"/>
            <a:ext cx="3902392" cy="2943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71"/>
              </a:lnSpc>
            </a:pPr>
            <a:r>
              <a:rPr sz="1336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2. あいことばを配る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44038" y="6372225"/>
            <a:ext cx="3902392" cy="2943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71"/>
              </a:lnSpc>
            </a:pPr>
            <a:r>
              <a:rPr sz="1336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3. そろったら止める</a:t>
            </a:r>
          </a:p>
        </p:txBody>
      </p:sp>
      <p:pic>
        <p:nvPicPr>
          <p:cNvPr id="11" name="Picture 10" descr="ea4815045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89295" y="524828"/>
            <a:ext cx="194310" cy="194310"/>
          </a:xfrm>
          <a:prstGeom prst="rect">
            <a:avLst/>
          </a:prstGeom>
        </p:spPr>
      </p:pic>
      <p:pic>
        <p:nvPicPr>
          <p:cNvPr id="12" name="Picture 11" descr="b21aaf87c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470" y="6401752"/>
            <a:ext cx="178118" cy="178118"/>
          </a:xfrm>
          <a:prstGeom prst="rect">
            <a:avLst/>
          </a:prstGeom>
        </p:spPr>
      </p:pic>
      <p:pic>
        <p:nvPicPr>
          <p:cNvPr id="13" name="Picture 12" descr="5b29d22da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54905" y="6401752"/>
            <a:ext cx="178118" cy="178118"/>
          </a:xfrm>
          <a:prstGeom prst="rect">
            <a:avLst/>
          </a:prstGeom>
        </p:spPr>
      </p:pic>
      <p:pic>
        <p:nvPicPr>
          <p:cNvPr id="14" name="Picture 13" descr="dadcd76fd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96388" y="6401752"/>
            <a:ext cx="178118" cy="17811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832032" y="2000250"/>
            <a:ext cx="4052888" cy="471488"/>
          </a:xfrm>
          <a:prstGeom prst="roundRect">
            <a:avLst>
              <a:gd name="adj" fmla="val 50000"/>
            </a:avLst>
          </a:prstGeom>
          <a:solidFill>
            <a:srgbClr val="4E8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4477702" y="2642235"/>
            <a:ext cx="1851660" cy="185166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6598920" y="3020378"/>
            <a:ext cx="2638425" cy="769620"/>
          </a:xfrm>
          <a:prstGeom prst="roundRect">
            <a:avLst>
              <a:gd name="adj" fmla="val 2004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645920" y="4663440"/>
            <a:ext cx="5157788" cy="974408"/>
          </a:xfrm>
          <a:prstGeom prst="roundRect">
            <a:avLst>
              <a:gd name="adj" fmla="val 12668"/>
            </a:avLst>
          </a:prstGeom>
          <a:solidFill>
            <a:srgbClr val="FFFFFF"/>
          </a:solidFill>
          <a:ln w="9525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6912292" y="4663440"/>
            <a:ext cx="5157788" cy="974408"/>
          </a:xfrm>
          <a:prstGeom prst="roundRect">
            <a:avLst>
              <a:gd name="adj" fmla="val 12668"/>
            </a:avLst>
          </a:prstGeom>
          <a:solidFill>
            <a:srgbClr val="FFFFFF"/>
          </a:solidFill>
          <a:ln w="9525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049202" y="2000250"/>
            <a:ext cx="4121468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全員、ここにアクセスしてください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45355" y="3336608"/>
            <a:ext cx="1317308" cy="5067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968"/>
              </a:lnSpc>
            </a:pPr>
            <a:r>
              <a:rPr sz="109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QRコードを</a:t>
            </a:r>
            <a:r>
              <a:rPr sz="109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ここに貼る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13170" y="3020378"/>
            <a:ext cx="3209925" cy="8267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389"/>
              </a:lnSpc>
            </a:pPr>
            <a:r>
              <a:rPr sz="1883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— 記入 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13170" y="3850958"/>
            <a:ext cx="3209925" cy="3209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077"/>
              </a:lnSpc>
            </a:pPr>
            <a:r>
              <a:rPr sz="1154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つながらない場合は手を挙げてください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4757738"/>
            <a:ext cx="4926330" cy="2943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71"/>
              </a:lnSpc>
            </a:pPr>
            <a:r>
              <a:rPr sz="1336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カードは自分の画面だけ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22820" y="4757738"/>
            <a:ext cx="4926330" cy="2943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71"/>
              </a:lnSpc>
            </a:pPr>
            <a:r>
              <a:rPr sz="1336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切れても戻れます</a:t>
            </a:r>
          </a:p>
        </p:txBody>
      </p:sp>
      <p:pic>
        <p:nvPicPr>
          <p:cNvPr id="13" name="Picture 12" descr="995d0a3bd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3490" y="2139315"/>
            <a:ext cx="194310" cy="194310"/>
          </a:xfrm>
          <a:prstGeom prst="rect">
            <a:avLst/>
          </a:prstGeom>
        </p:spPr>
      </p:pic>
      <p:pic>
        <p:nvPicPr>
          <p:cNvPr id="14" name="Picture 13" descr="a3e3bfe91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09750" y="4787265"/>
            <a:ext cx="178118" cy="178118"/>
          </a:xfrm>
          <a:prstGeom prst="rect">
            <a:avLst/>
          </a:prstGeom>
        </p:spPr>
      </p:pic>
      <p:pic>
        <p:nvPicPr>
          <p:cNvPr id="15" name="Picture 14" descr="1f11ed96e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75170" y="4787265"/>
            <a:ext cx="178118" cy="17811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972050" y="385762"/>
            <a:ext cx="3771900" cy="471488"/>
          </a:xfrm>
          <a:prstGeom prst="roundRect">
            <a:avLst>
              <a:gd name="adj" fmla="val 50000"/>
            </a:avLst>
          </a:prstGeom>
          <a:solidFill>
            <a:srgbClr val="4E8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6126480" y="6732270"/>
            <a:ext cx="987742" cy="54292"/>
          </a:xfrm>
          <a:prstGeom prst="rect">
            <a:avLst/>
          </a:prstGeom>
          <a:solidFill>
            <a:srgbClr val="FCE6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38425" y="1027748"/>
            <a:ext cx="8438198" cy="527399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189220" y="385762"/>
            <a:ext cx="3840480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盤面は24マス・6歳から25歳まで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83255" y="6424612"/>
            <a:ext cx="7350442" cy="884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15歳まではサイコロなしで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1マスずつ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——人生の土台をつくる期間。</a:t>
            </a:r>
          </a:p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15歳の進学のトビラからサイコロが始まります。</a:t>
            </a:r>
          </a:p>
        </p:txBody>
      </p:sp>
      <p:pic>
        <p:nvPicPr>
          <p:cNvPr id="7" name="Picture 6" descr="092aaf4ad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03508" y="524828"/>
            <a:ext cx="194310" cy="19431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708332" y="2403158"/>
            <a:ext cx="2300288" cy="471488"/>
          </a:xfrm>
          <a:prstGeom prst="roundRect">
            <a:avLst>
              <a:gd name="adj" fmla="val 50000"/>
            </a:avLst>
          </a:prstGeom>
          <a:solidFill>
            <a:srgbClr val="4E8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822960" y="3044190"/>
            <a:ext cx="3941445" cy="809625"/>
          </a:xfrm>
          <a:prstGeom prst="roundRect">
            <a:avLst>
              <a:gd name="adj" fmla="val 1715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992505" y="3160395"/>
            <a:ext cx="579120" cy="579120"/>
          </a:xfrm>
          <a:prstGeom prst="roundRect">
            <a:avLst>
              <a:gd name="adj" fmla="val 18651"/>
            </a:avLst>
          </a:prstGeom>
          <a:solidFill>
            <a:srgbClr val="FCE7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4887278" y="3044190"/>
            <a:ext cx="3941445" cy="809625"/>
          </a:xfrm>
          <a:prstGeom prst="roundRect">
            <a:avLst>
              <a:gd name="adj" fmla="val 1715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5056822" y="3160395"/>
            <a:ext cx="579120" cy="579120"/>
          </a:xfrm>
          <a:prstGeom prst="roundRect">
            <a:avLst>
              <a:gd name="adj" fmla="val 18651"/>
            </a:avLst>
          </a:prstGeom>
          <a:solidFill>
            <a:srgbClr val="F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8951595" y="3044190"/>
            <a:ext cx="3941445" cy="809625"/>
          </a:xfrm>
          <a:prstGeom prst="roundRect">
            <a:avLst>
              <a:gd name="adj" fmla="val 1715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9121140" y="3160395"/>
            <a:ext cx="579120" cy="579120"/>
          </a:xfrm>
          <a:prstGeom prst="roundRect">
            <a:avLst>
              <a:gd name="adj" fmla="val 18651"/>
            </a:avLst>
          </a:prstGeom>
          <a:solidFill>
            <a:srgbClr val="DCD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22960" y="3977640"/>
            <a:ext cx="3941445" cy="809625"/>
          </a:xfrm>
          <a:prstGeom prst="roundRect">
            <a:avLst>
              <a:gd name="adj" fmla="val 1715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992505" y="4093845"/>
            <a:ext cx="579120" cy="579120"/>
          </a:xfrm>
          <a:prstGeom prst="roundRect">
            <a:avLst>
              <a:gd name="adj" fmla="val 18651"/>
            </a:avLst>
          </a:prstGeom>
          <a:solidFill>
            <a:srgbClr val="C6E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4887278" y="3977640"/>
            <a:ext cx="3941445" cy="809625"/>
          </a:xfrm>
          <a:prstGeom prst="roundRect">
            <a:avLst>
              <a:gd name="adj" fmla="val 1715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5056822" y="4093845"/>
            <a:ext cx="579120" cy="579120"/>
          </a:xfrm>
          <a:prstGeom prst="roundRect">
            <a:avLst>
              <a:gd name="adj" fmla="val 18651"/>
            </a:avLst>
          </a:prstGeom>
          <a:solidFill>
            <a:srgbClr val="F7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951595" y="3977640"/>
            <a:ext cx="3941445" cy="809625"/>
          </a:xfrm>
          <a:prstGeom prst="roundRect">
            <a:avLst>
              <a:gd name="adj" fmla="val 1715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9121140" y="4093845"/>
            <a:ext cx="579120" cy="579120"/>
          </a:xfrm>
          <a:prstGeom prst="roundRect">
            <a:avLst>
              <a:gd name="adj" fmla="val 18651"/>
            </a:avLst>
          </a:prstGeom>
          <a:solidFill>
            <a:srgbClr val="CD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5924550" y="2403158"/>
            <a:ext cx="2368868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マスの種類は6つ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4498" y="3175635"/>
            <a:ext cx="3242310" cy="605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97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おしごと</a:t>
            </a:r>
            <a:r>
              <a:rPr sz="112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基本給＋★まなび×掛け率＋仕送り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58815" y="3175635"/>
            <a:ext cx="3242310" cy="605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97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しゅっぴ</a:t>
            </a:r>
            <a:r>
              <a:rPr sz="112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いるものは、いる。決まった額を払う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23132" y="3175635"/>
            <a:ext cx="3242310" cy="605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97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できごと</a:t>
            </a:r>
            <a:r>
              <a:rPr sz="112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カードを1枚引く。幸運も、事故も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4498" y="4245292"/>
            <a:ext cx="2944178" cy="3314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97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まなび</a:t>
            </a:r>
            <a:r>
              <a:rPr sz="112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自分に投資する。0円でも学べる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58815" y="4245292"/>
            <a:ext cx="3212782" cy="3314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97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トビラ</a:t>
            </a:r>
            <a:r>
              <a:rPr sz="112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人生の分岐点。19年間で6枚に出会う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23132" y="4108132"/>
            <a:ext cx="3242310" cy="605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97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はなしあい</a:t>
            </a:r>
            <a:r>
              <a:rPr sz="112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22歳。ゲームを止めてチームで話す。数字は変わらない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6262" y="4957762"/>
            <a:ext cx="4944428" cy="335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187"/>
              </a:lnSpc>
            </a:pPr>
            <a:r>
              <a:rPr sz="1214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止まったマスの指示に従い、OKを押すと次の人の番になります</a:t>
            </a:r>
          </a:p>
        </p:txBody>
      </p:sp>
      <p:pic>
        <p:nvPicPr>
          <p:cNvPr id="23" name="Picture 22" descr="7ef1eed3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8838" y="2541270"/>
            <a:ext cx="194310" cy="194310"/>
          </a:xfrm>
          <a:prstGeom prst="rect">
            <a:avLst/>
          </a:prstGeom>
        </p:spPr>
      </p:pic>
      <p:pic>
        <p:nvPicPr>
          <p:cNvPr id="24" name="Picture 23" descr="3d99c9c0e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0620" y="3318510"/>
            <a:ext cx="261938" cy="261938"/>
          </a:xfrm>
          <a:prstGeom prst="rect">
            <a:avLst/>
          </a:prstGeom>
        </p:spPr>
      </p:pic>
      <p:pic>
        <p:nvPicPr>
          <p:cNvPr id="25" name="Picture 24" descr="a9d316b12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4938" y="3318510"/>
            <a:ext cx="261938" cy="261938"/>
          </a:xfrm>
          <a:prstGeom prst="rect">
            <a:avLst/>
          </a:prstGeom>
        </p:spPr>
      </p:pic>
      <p:pic>
        <p:nvPicPr>
          <p:cNvPr id="26" name="Picture 25" descr="7bf4505dc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80208" y="3318510"/>
            <a:ext cx="261938" cy="261938"/>
          </a:xfrm>
          <a:prstGeom prst="rect">
            <a:avLst/>
          </a:prstGeom>
        </p:spPr>
      </p:pic>
      <p:pic>
        <p:nvPicPr>
          <p:cNvPr id="27" name="Picture 26" descr="8afc0ea0c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50620" y="4251960"/>
            <a:ext cx="261938" cy="261938"/>
          </a:xfrm>
          <a:prstGeom prst="rect">
            <a:avLst/>
          </a:prstGeom>
        </p:spPr>
      </p:pic>
      <p:pic>
        <p:nvPicPr>
          <p:cNvPr id="28" name="Picture 27" descr="960665730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14938" y="4251960"/>
            <a:ext cx="261938" cy="261938"/>
          </a:xfrm>
          <a:prstGeom prst="rect">
            <a:avLst/>
          </a:prstGeom>
        </p:spPr>
      </p:pic>
      <p:pic>
        <p:nvPicPr>
          <p:cNvPr id="29" name="Picture 28" descr="6d28f3c5d5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80208" y="4251960"/>
            <a:ext cx="261938" cy="26193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50092" y="385762"/>
            <a:ext cx="4615815" cy="471488"/>
          </a:xfrm>
          <a:prstGeom prst="roundRect">
            <a:avLst>
              <a:gd name="adj" fmla="val 50000"/>
            </a:avLst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548640" y="6277928"/>
            <a:ext cx="4133850" cy="974408"/>
          </a:xfrm>
          <a:prstGeom prst="roundRect">
            <a:avLst>
              <a:gd name="adj" fmla="val 12668"/>
            </a:avLst>
          </a:prstGeom>
          <a:solidFill>
            <a:srgbClr val="FFFFFF"/>
          </a:solidFill>
          <a:ln w="9525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4791075" y="6277928"/>
            <a:ext cx="4133850" cy="974408"/>
          </a:xfrm>
          <a:prstGeom prst="roundRect">
            <a:avLst>
              <a:gd name="adj" fmla="val 12668"/>
            </a:avLst>
          </a:prstGeom>
          <a:solidFill>
            <a:srgbClr val="FFFFFF"/>
          </a:solidFill>
          <a:ln w="9525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9032558" y="6277928"/>
            <a:ext cx="4133850" cy="974408"/>
          </a:xfrm>
          <a:prstGeom prst="roundRect">
            <a:avLst>
              <a:gd name="adj" fmla="val 12668"/>
            </a:avLst>
          </a:prstGeom>
          <a:solidFill>
            <a:srgbClr val="FFFFFF"/>
          </a:solidFill>
          <a:ln w="9525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choicel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5762" y="1027748"/>
            <a:ext cx="6194108" cy="4801552"/>
          </a:xfrm>
          <a:prstGeom prst="rect">
            <a:avLst/>
          </a:prstGeom>
        </p:spPr>
      </p:pic>
      <p:pic>
        <p:nvPicPr>
          <p:cNvPr id="7" name="Picture 6" descr="confirmlo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6130" y="1027748"/>
            <a:ext cx="6194108" cy="480155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767262" y="385762"/>
            <a:ext cx="4684395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トビラとカギ — ここがこのゲームの核心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13660" y="5890260"/>
            <a:ext cx="1738312" cy="3209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077"/>
              </a:lnSpc>
            </a:pPr>
            <a:r>
              <a:rPr sz="1154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1. どの道を選ぶか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17945" y="3312795"/>
            <a:ext cx="880110" cy="612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4374"/>
              </a:lnSpc>
            </a:pPr>
            <a:r>
              <a:rPr sz="2429" b="1">
                <a:solidFill>
                  <a:srgbClr val="F4879F"/>
                </a:solidFill>
                <a:latin typeface="Zen Maru Gothic"/>
                <a:ea typeface="Zen Maru Gothic"/>
                <a:cs typeface="Zen Maru Gothic"/>
              </a:rP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02040" y="5890260"/>
            <a:ext cx="3062288" cy="3209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077"/>
              </a:lnSpc>
            </a:pPr>
            <a:r>
              <a:rPr sz="1154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2. 開くかどうかは、選んでから分かる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6372225"/>
            <a:ext cx="3902392" cy="2943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71"/>
              </a:lnSpc>
            </a:pPr>
            <a:r>
              <a:rPr sz="1336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一覧に出るのは名前だけ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01602" y="6372225"/>
            <a:ext cx="3902392" cy="2943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71"/>
              </a:lnSpc>
            </a:pPr>
            <a:r>
              <a:rPr sz="1336" b="1">
                <a:solidFill>
                  <a:srgbClr val="C98A3C"/>
                </a:solidFill>
                <a:latin typeface="Zen Maru Gothic"/>
                <a:ea typeface="Zen Maru Gothic"/>
                <a:cs typeface="Zen Maru Gothic"/>
              </a:rPr>
              <a:t>選んで、はじめて分かる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44038" y="6372225"/>
            <a:ext cx="3902392" cy="2943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71"/>
              </a:lnSpc>
            </a:pPr>
            <a:r>
              <a:rPr sz="1336" b="1">
                <a:solidFill>
                  <a:srgbClr val="7E6BC4"/>
                </a:solidFill>
                <a:latin typeface="Zen Maru Gothic"/>
                <a:ea typeface="Zen Maru Gothic"/>
                <a:cs typeface="Zen Maru Gothic"/>
              </a:rPr>
              <a:t>？？？</a:t>
            </a:r>
          </a:p>
        </p:txBody>
      </p:sp>
      <p:pic>
        <p:nvPicPr>
          <p:cNvPr id="15" name="Picture 14" descr="960665730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81550" y="524828"/>
            <a:ext cx="194310" cy="194310"/>
          </a:xfrm>
          <a:prstGeom prst="rect">
            <a:avLst/>
          </a:prstGeom>
        </p:spPr>
      </p:pic>
      <p:pic>
        <p:nvPicPr>
          <p:cNvPr id="16" name="Picture 15" descr="5b29d22da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2470" y="6401752"/>
            <a:ext cx="178118" cy="178118"/>
          </a:xfrm>
          <a:prstGeom prst="rect">
            <a:avLst/>
          </a:prstGeom>
        </p:spPr>
      </p:pic>
      <p:pic>
        <p:nvPicPr>
          <p:cNvPr id="17" name="Picture 16" descr="2facab2a3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54905" y="6401752"/>
            <a:ext cx="178118" cy="178118"/>
          </a:xfrm>
          <a:prstGeom prst="rect">
            <a:avLst/>
          </a:prstGeom>
        </p:spPr>
      </p:pic>
      <p:pic>
        <p:nvPicPr>
          <p:cNvPr id="18" name="Picture 17" descr="37db8309e8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96388" y="6401752"/>
            <a:ext cx="178118" cy="17811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38725" y="385762"/>
            <a:ext cx="3637598" cy="471488"/>
          </a:xfrm>
          <a:prstGeom prst="roundRect">
            <a:avLst>
              <a:gd name="adj" fmla="val 50000"/>
            </a:avLst>
          </a:prstGeom>
          <a:solidFill>
            <a:srgbClr val="FBD9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2985135" y="5645468"/>
            <a:ext cx="7745730" cy="1606868"/>
          </a:xfrm>
          <a:prstGeom prst="roundRect">
            <a:avLst>
              <a:gd name="adj" fmla="val 12483"/>
            </a:avLst>
          </a:prstGeom>
          <a:solidFill>
            <a:srgbClr val="FFFFFF"/>
          </a:solidFill>
          <a:ln w="9525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Picture 3" descr="mon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0408" y="1027748"/>
            <a:ext cx="7195185" cy="44948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255895" y="385762"/>
            <a:ext cx="3706178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7A6320"/>
                </a:solidFill>
                <a:latin typeface="Zen Maru Gothic"/>
                <a:ea typeface="Zen Maru Gothic"/>
                <a:cs typeface="Zen Maru Gothic"/>
              </a:rPr>
              <a:t>同じ★でも、入るお金がちがう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99385" y="5645468"/>
            <a:ext cx="8317230" cy="16640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952"/>
              </a:lnSpc>
            </a:pPr>
            <a:r>
              <a:rPr sz="1640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
      日本・欧米で育つと、</a:t>
            </a:r>
            <a:r>
              <a:rPr sz="1640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★1つが10万</a:t>
            </a:r>
            <a:r>
              <a:rPr sz="1640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。</a:t>
            </a:r>
          </a:p>
          <a:p>
            <a:pPr algn="ctr">
              <a:lnSpc>
                <a:spcPts val="2952"/>
              </a:lnSpc>
            </a:pPr>
            <a:r>
              <a:rPr sz="1640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
      ウガンダで育つと、</a:t>
            </a:r>
            <a:r>
              <a:rPr sz="1640" b="1">
                <a:solidFill>
                  <a:srgbClr val="F4879F"/>
                </a:solidFill>
                <a:latin typeface="Zen Maru Gothic"/>
                <a:ea typeface="Zen Maru Gothic"/>
                <a:cs typeface="Zen Maru Gothic"/>
              </a:rPr>
              <a:t>★1つは5万</a:t>
            </a:r>
            <a:r>
              <a:rPr sz="1640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。はたらきはじめの基本給も、20万と10万。</a:t>
            </a:r>
          </a:p>
          <a:p>
            <a:pPr algn="ctr">
              <a:lnSpc>
                <a:spcPts val="2952"/>
              </a:lnSpc>
            </a:pPr>
            <a:r>
              <a:rPr sz="1336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この2つは</a:t>
            </a:r>
            <a:r>
              <a:rPr sz="1336" b="1">
                <a:solidFill>
                  <a:srgbClr val="F4879F"/>
                </a:solidFill>
                <a:latin typeface="Zen Maru Gothic"/>
                <a:ea typeface="Zen Maru Gothic"/>
                <a:cs typeface="Zen Maru Gothic"/>
              </a:rPr>
              <a:t>生まれた場所で決まっていて</a:t>
            </a:r>
            <a:r>
              <a:rPr sz="1336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、</a:t>
            </a:r>
            <a:r>
              <a:rPr sz="1336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カードにも盤面にも出てきません</a:t>
            </a:r>
          </a:p>
        </p:txBody>
      </p:sp>
      <p:pic>
        <p:nvPicPr>
          <p:cNvPr id="7" name="Picture 6" descr="adf95adf4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0182" y="524828"/>
            <a:ext cx="194310" cy="19431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246370" y="2389822"/>
            <a:ext cx="3223260" cy="471488"/>
          </a:xfrm>
          <a:prstGeom prst="roundRect">
            <a:avLst>
              <a:gd name="adj" fmla="val 50000"/>
            </a:avLst>
          </a:prstGeom>
          <a:solidFill>
            <a:srgbClr val="4E8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1234440" y="3030855"/>
            <a:ext cx="11247120" cy="933450"/>
          </a:xfrm>
          <a:prstGeom prst="roundRect">
            <a:avLst>
              <a:gd name="adj" fmla="val 16530"/>
            </a:avLst>
          </a:prstGeom>
          <a:solidFill>
            <a:srgbClr val="FFFFFF"/>
          </a:solidFill>
          <a:ln w="9525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Oval 3"/>
          <p:cNvSpPr/>
          <p:nvPr/>
        </p:nvSpPr>
        <p:spPr>
          <a:xfrm>
            <a:off x="1460182" y="3194685"/>
            <a:ext cx="385762" cy="385762"/>
          </a:xfrm>
          <a:prstGeom prst="ellipse">
            <a:avLst/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234440" y="4103370"/>
            <a:ext cx="11247120" cy="698182"/>
          </a:xfrm>
          <a:prstGeom prst="roundRect">
            <a:avLst>
              <a:gd name="adj" fmla="val 22100"/>
            </a:avLst>
          </a:prstGeom>
          <a:solidFill>
            <a:srgbClr val="FFFFFF"/>
          </a:solidFill>
          <a:ln w="9525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1460182" y="4267200"/>
            <a:ext cx="385762" cy="385762"/>
          </a:xfrm>
          <a:prstGeom prst="ellipse">
            <a:avLst/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463540" y="2389822"/>
            <a:ext cx="3291840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奨学金と、順位の決まり方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0182" y="3194685"/>
            <a:ext cx="728662" cy="442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5490" y="3179445"/>
            <a:ext cx="10583228" cy="6934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505"/>
              </a:lnSpc>
            </a:pPr>
            <a:r>
              <a:rPr sz="1518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「奨学金・支援団体の力で進学」は</a:t>
            </a:r>
            <a:r>
              <a:rPr sz="1518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貸与型（総額48万）</a:t>
            </a:r>
            <a:r>
              <a:rPr sz="1518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。働くたびに−6万ずつ返し続けます。</a:t>
            </a:r>
            <a:r>
              <a:rPr sz="1518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25歳では返し終わりません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0182" y="4267200"/>
            <a:ext cx="728662" cy="442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5490" y="4251960"/>
            <a:ext cx="10583228" cy="3752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505"/>
              </a:lnSpc>
            </a:pPr>
            <a:r>
              <a:rPr sz="1518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順位を決めるのは、お金ではなく</a:t>
            </a:r>
            <a:r>
              <a:rPr sz="1518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♥ハッピーの数</a:t>
            </a:r>
            <a:r>
              <a:rPr sz="1518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＝人生の選択肢を多く持ち、</a:t>
            </a:r>
            <a:r>
              <a:rPr sz="1518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自分の意思で選べた回数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03370" y="4971098"/>
            <a:ext cx="5509260" cy="335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187"/>
              </a:lnSpc>
            </a:pPr>
            <a:r>
              <a:rPr sz="1214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おかねと★まなびは、♥を得るための「カギ」。目的ではなく手段です</a:t>
            </a:r>
          </a:p>
        </p:txBody>
      </p:sp>
      <p:pic>
        <p:nvPicPr>
          <p:cNvPr id="13" name="Picture 12" descr="23e5ecb71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77828" y="2527935"/>
            <a:ext cx="194310" cy="19431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868352" y="2001202"/>
            <a:ext cx="1978342" cy="471488"/>
          </a:xfrm>
          <a:prstGeom prst="roundRect">
            <a:avLst>
              <a:gd name="adj" fmla="val 50000"/>
            </a:avLst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4070985" y="4124325"/>
            <a:ext cx="1142048" cy="417195"/>
          </a:xfrm>
          <a:prstGeom prst="roundRect">
            <a:avLst>
              <a:gd name="adj" fmla="val 50000"/>
            </a:avLst>
          </a:prstGeom>
          <a:solidFill>
            <a:srgbClr val="5B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5320665" y="4124325"/>
            <a:ext cx="1142048" cy="41719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6570345" y="4124325"/>
            <a:ext cx="844868" cy="41719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7522845" y="4124325"/>
            <a:ext cx="873442" cy="41719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8503920" y="4124325"/>
            <a:ext cx="1142048" cy="41719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3122295" y="4711065"/>
            <a:ext cx="2908935" cy="43053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6138862" y="4711065"/>
            <a:ext cx="2098358" cy="43053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8345805" y="4711065"/>
            <a:ext cx="2247900" cy="43053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085522" y="2001202"/>
            <a:ext cx="2046922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プレイタイム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72062" y="2643188"/>
            <a:ext cx="3570922" cy="13687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327"/>
              </a:lnSpc>
            </a:pPr>
            <a:r>
              <a:rPr sz="10327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25:00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85235" y="4124325"/>
            <a:ext cx="1713548" cy="4743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36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スタート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34915" y="4124325"/>
            <a:ext cx="1713548" cy="4743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36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一時停止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84595" y="4124325"/>
            <a:ext cx="1416368" cy="4743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36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−1分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37095" y="4124325"/>
            <a:ext cx="1444942" cy="4743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36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＋1分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18170" y="4124325"/>
            <a:ext cx="1713548" cy="4743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36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リセット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76600" y="4711065"/>
            <a:ext cx="3040380" cy="487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296"/>
              </a:lnSpc>
            </a:pPr>
            <a:r>
              <a:rPr sz="1275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家庭カードは最後まで自分だけ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93168" y="4711065"/>
            <a:ext cx="2229802" cy="487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296"/>
              </a:lnSpc>
            </a:pPr>
            <a:r>
              <a:rPr sz="1275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困ったら手を挙げる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0110" y="4711065"/>
            <a:ext cx="2379345" cy="487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296"/>
              </a:lnSpc>
            </a:pPr>
            <a:r>
              <a:rPr sz="1275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全員25歳ゴールで終了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37922" y="5373052"/>
            <a:ext cx="1240155" cy="3209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077"/>
              </a:lnSpc>
            </a:pPr>
            <a:r>
              <a:rPr sz="1154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— 記入 —</a:t>
            </a:r>
          </a:p>
        </p:txBody>
      </p:sp>
      <p:pic>
        <p:nvPicPr>
          <p:cNvPr id="22" name="Picture 21" descr="092aaf4ad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9810" y="2140268"/>
            <a:ext cx="194310" cy="194310"/>
          </a:xfrm>
          <a:prstGeom prst="rect">
            <a:avLst/>
          </a:prstGeom>
        </p:spPr>
      </p:pic>
      <p:pic>
        <p:nvPicPr>
          <p:cNvPr id="23" name="Picture 22" descr="2093fb57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23272" y="4841558"/>
            <a:ext cx="170498" cy="170498"/>
          </a:xfrm>
          <a:prstGeom prst="rect">
            <a:avLst/>
          </a:prstGeom>
        </p:spPr>
      </p:pic>
      <p:pic>
        <p:nvPicPr>
          <p:cNvPr id="24" name="Picture 23" descr="25c5ca3a4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39840" y="4841558"/>
            <a:ext cx="170498" cy="170498"/>
          </a:xfrm>
          <a:prstGeom prst="rect">
            <a:avLst/>
          </a:prstGeom>
        </p:spPr>
      </p:pic>
      <p:pic>
        <p:nvPicPr>
          <p:cNvPr id="25" name="Picture 24" descr="4d8d38612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45830" y="4841558"/>
            <a:ext cx="170498" cy="170498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246370" y="385762"/>
            <a:ext cx="3223260" cy="471488"/>
          </a:xfrm>
          <a:prstGeom prst="roundRect">
            <a:avLst>
              <a:gd name="adj" fmla="val 50000"/>
            </a:avLst>
          </a:prstGeom>
          <a:solidFill>
            <a:srgbClr val="5B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548640" y="6277928"/>
            <a:ext cx="4133850" cy="974408"/>
          </a:xfrm>
          <a:prstGeom prst="roundRect">
            <a:avLst>
              <a:gd name="adj" fmla="val 12668"/>
            </a:avLst>
          </a:prstGeom>
          <a:solidFill>
            <a:srgbClr val="FFFFFF"/>
          </a:solidFill>
          <a:ln w="9525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4791075" y="6277928"/>
            <a:ext cx="4133850" cy="974408"/>
          </a:xfrm>
          <a:prstGeom prst="roundRect">
            <a:avLst>
              <a:gd name="adj" fmla="val 12668"/>
            </a:avLst>
          </a:prstGeom>
          <a:solidFill>
            <a:srgbClr val="FFFFFF"/>
          </a:solidFill>
          <a:ln w="9525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9032558" y="6277928"/>
            <a:ext cx="4133850" cy="974408"/>
          </a:xfrm>
          <a:prstGeom prst="roundRect">
            <a:avLst>
              <a:gd name="adj" fmla="val 12668"/>
            </a:avLst>
          </a:prstGeom>
          <a:solidFill>
            <a:srgbClr val="FFFFFF"/>
          </a:solidFill>
          <a:ln w="9525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res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4630" y="1027748"/>
            <a:ext cx="8207692" cy="512635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63540" y="385762"/>
            <a:ext cx="3291840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まず、結果を全員で見ます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6372225"/>
            <a:ext cx="3902392" cy="2943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71"/>
              </a:lnSpc>
            </a:pPr>
            <a:r>
              <a:rPr sz="1336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順位は♥の数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01602" y="6372225"/>
            <a:ext cx="3902392" cy="2943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71"/>
              </a:lnSpc>
            </a:pPr>
            <a:r>
              <a:rPr sz="1336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家庭カードが公開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44038" y="6372225"/>
            <a:ext cx="3902392" cy="2943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71"/>
              </a:lnSpc>
            </a:pPr>
            <a:r>
              <a:rPr sz="1336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奨学金の残り</a:t>
            </a:r>
          </a:p>
        </p:txBody>
      </p:sp>
      <p:pic>
        <p:nvPicPr>
          <p:cNvPr id="11" name="Picture 10" descr="8ece8238b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77828" y="524828"/>
            <a:ext cx="194310" cy="194310"/>
          </a:xfrm>
          <a:prstGeom prst="rect">
            <a:avLst/>
          </a:prstGeom>
        </p:spPr>
      </p:pic>
      <p:pic>
        <p:nvPicPr>
          <p:cNvPr id="12" name="Picture 11" descr="eea51cc22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470" y="6401752"/>
            <a:ext cx="178118" cy="178118"/>
          </a:xfrm>
          <a:prstGeom prst="rect">
            <a:avLst/>
          </a:prstGeom>
        </p:spPr>
      </p:pic>
      <p:pic>
        <p:nvPicPr>
          <p:cNvPr id="13" name="Picture 12" descr="a33551a2c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54905" y="6401752"/>
            <a:ext cx="178118" cy="178118"/>
          </a:xfrm>
          <a:prstGeom prst="rect">
            <a:avLst/>
          </a:prstGeom>
        </p:spPr>
      </p:pic>
      <p:pic>
        <p:nvPicPr>
          <p:cNvPr id="14" name="Picture 13" descr="5baef69d5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96388" y="6401752"/>
            <a:ext cx="178118" cy="178118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246370" y="385762"/>
            <a:ext cx="3223260" cy="471488"/>
          </a:xfrm>
          <a:prstGeom prst="roundRect">
            <a:avLst>
              <a:gd name="adj" fmla="val 50000"/>
            </a:avLst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2843212" y="5905500"/>
            <a:ext cx="4922520" cy="54292"/>
          </a:xfrm>
          <a:prstGeom prst="rect">
            <a:avLst/>
          </a:prstGeom>
          <a:solidFill>
            <a:srgbClr val="FCE6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22720" y="6732270"/>
            <a:ext cx="2013585" cy="54292"/>
          </a:xfrm>
          <a:prstGeom prst="rect">
            <a:avLst/>
          </a:prstGeom>
          <a:solidFill>
            <a:srgbClr val="FCE6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41470" y="7146608"/>
            <a:ext cx="2747962" cy="54292"/>
          </a:xfrm>
          <a:prstGeom prst="rect">
            <a:avLst/>
          </a:prstGeom>
          <a:solidFill>
            <a:srgbClr val="FCE6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rev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8508" y="1027748"/>
            <a:ext cx="7118032" cy="444627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63540" y="385762"/>
            <a:ext cx="3291840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誰が、どの扉を選んだのか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61172" y="5597842"/>
            <a:ext cx="10192702" cy="17125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誰のネタバラシでも、自分の画面から開けます。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19年間の扉が全部ならびます。</a:t>
            </a:r>
          </a:p>
          <a:p>
            <a:pPr algn="ctr">
              <a:lnSpc>
                <a:spcPts val="3259"/>
              </a:lnSpc>
            </a:pPr>
            <a:r>
              <a:rPr sz="1761" b="0">
                <a:solidFill>
                  <a:srgbClr val="4CA872"/>
                </a:solidFill>
                <a:latin typeface="Zen Maru Gothic"/>
                <a:ea typeface="Zen Maru Gothic"/>
                <a:cs typeface="Zen Maru Gothic"/>
              </a:rPr>
              <a:t>　</a:t>
            </a:r>
            <a:r>
              <a:rPr sz="1761" b="1">
                <a:solidFill>
                  <a:srgbClr val="4CA872"/>
                </a:solidFill>
                <a:latin typeface="Zen Maru Gothic"/>
                <a:ea typeface="Zen Maru Gothic"/>
                <a:cs typeface="Zen Maru Gothic"/>
              </a:rPr>
              <a:t>えらんだ</a:t>
            </a:r>
            <a:r>
              <a:rPr sz="1761" b="0">
                <a:solidFill>
                  <a:srgbClr val="4CA872"/>
                </a:solidFill>
                <a:latin typeface="Zen Maru Gothic"/>
                <a:ea typeface="Zen Maru Gothic"/>
                <a:cs typeface="Zen Maru Gothic"/>
              </a:rPr>
              <a:t>　</a:t>
            </a:r>
            <a:r>
              <a:rPr sz="1761" b="1">
                <a:solidFill>
                  <a:srgbClr val="4CA872"/>
                </a:solidFill>
                <a:latin typeface="Zen Maru Gothic"/>
                <a:ea typeface="Zen Maru Gothic"/>
                <a:cs typeface="Zen Maru Gothic"/>
              </a:rPr>
              <a:t>開けられた</a:t>
            </a:r>
            <a:r>
              <a:rPr sz="1761" b="0">
                <a:solidFill>
                  <a:srgbClr val="C98A3C"/>
                </a:solidFill>
                <a:latin typeface="Zen Maru Gothic"/>
                <a:ea typeface="Zen Maru Gothic"/>
                <a:cs typeface="Zen Maru Gothic"/>
              </a:rPr>
              <a:t>　</a:t>
            </a:r>
            <a:r>
              <a:rPr sz="1761" b="1">
                <a:solidFill>
                  <a:srgbClr val="C98A3C"/>
                </a:solidFill>
                <a:latin typeface="Zen Maru Gothic"/>
                <a:ea typeface="Zen Maru Gothic"/>
                <a:cs typeface="Zen Maru Gothic"/>
              </a:rPr>
              <a:t>カギ不足</a:t>
            </a:r>
            <a:r>
              <a:rPr sz="1761" b="0">
                <a:solidFill>
                  <a:srgbClr val="7E6BC4"/>
                </a:solidFill>
                <a:latin typeface="Zen Maru Gothic"/>
                <a:ea typeface="Zen Maru Gothic"/>
                <a:cs typeface="Zen Maru Gothic"/>
              </a:rPr>
              <a:t>　</a:t>
            </a:r>
            <a:r>
              <a:rPr sz="1761" b="1">
                <a:solidFill>
                  <a:srgbClr val="7E6BC4"/>
                </a:solidFill>
                <a:latin typeface="Zen Maru Gothic"/>
                <a:ea typeface="Zen Maru Gothic"/>
                <a:cs typeface="Zen Maru Gothic"/>
              </a:rPr>
              <a:t>見えてなかった</a:t>
            </a:r>
          </a:p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
      紫の行が、ゲーム中「？？？」だったもの。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本当は何だったのか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が、ここで初めて分かります。</a:t>
            </a:r>
          </a:p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まず、自分の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「見えていなかった ◯枚」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を声に出して読み上げてみてください。</a:t>
            </a:r>
          </a:p>
        </p:txBody>
      </p:sp>
      <p:pic>
        <p:nvPicPr>
          <p:cNvPr id="9" name="Picture 8" descr="960665730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77828" y="524828"/>
            <a:ext cx="194310" cy="194310"/>
          </a:xfrm>
          <a:prstGeom prst="rect">
            <a:avLst/>
          </a:prstGeom>
        </p:spPr>
      </p:pic>
      <p:pic>
        <p:nvPicPr>
          <p:cNvPr id="10" name="Picture 9" descr="dedbf7a2d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20465" y="6107430"/>
            <a:ext cx="235268" cy="235268"/>
          </a:xfrm>
          <a:prstGeom prst="rect">
            <a:avLst/>
          </a:prstGeom>
        </p:spPr>
      </p:pic>
      <p:pic>
        <p:nvPicPr>
          <p:cNvPr id="11" name="Picture 10" descr="1f2a15ff6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36832" y="6107430"/>
            <a:ext cx="235268" cy="235268"/>
          </a:xfrm>
          <a:prstGeom prst="rect">
            <a:avLst/>
          </a:prstGeom>
        </p:spPr>
      </p:pic>
      <p:pic>
        <p:nvPicPr>
          <p:cNvPr id="12" name="Picture 11" descr="2facab2a3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77038" y="6107430"/>
            <a:ext cx="235268" cy="235268"/>
          </a:xfrm>
          <a:prstGeom prst="rect">
            <a:avLst/>
          </a:prstGeom>
        </p:spPr>
      </p:pic>
      <p:pic>
        <p:nvPicPr>
          <p:cNvPr id="13" name="Picture 12" descr="37db8309e8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93405" y="6107430"/>
            <a:ext cx="235268" cy="235268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294120" y="2467928"/>
            <a:ext cx="1127760" cy="456248"/>
          </a:xfrm>
          <a:prstGeom prst="roundRect">
            <a:avLst>
              <a:gd name="adj" fmla="val 50000"/>
            </a:avLst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008370" y="2467928"/>
            <a:ext cx="1699260" cy="5133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問い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22208" y="3093720"/>
            <a:ext cx="8871585" cy="16859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4276"/>
              </a:lnSpc>
            </a:pP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結果画面で、</a:t>
            </a:r>
            <a:r>
              <a:rPr sz="2673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★の数が近い人</a:t>
            </a: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を2人さがしてください。</a:t>
            </a:r>
          </a:p>
          <a:p>
            <a:pPr algn="ctr">
              <a:lnSpc>
                <a:spcPts val="4276"/>
              </a:lnSpc>
            </a:pP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おかねの増え方は、同じでしたか？</a:t>
            </a:r>
          </a:p>
          <a:p>
            <a:pPr algn="ctr">
              <a:lnSpc>
                <a:spcPts val="4276"/>
              </a:lnSpc>
            </a:pP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それは本人の</a:t>
            </a:r>
            <a:r>
              <a:rPr sz="2673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努力のちがい</a:t>
            </a: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だろうか？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939540" y="4892992"/>
            <a:ext cx="6075998" cy="335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187"/>
              </a:lnSpc>
            </a:pPr>
            <a:r>
              <a:rPr sz="1214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基本給は20万と10万、★1つは10万と5万。どちらも生まれた場所で決まっていた</a:t>
            </a:r>
          </a:p>
        </p:txBody>
      </p:sp>
      <p:pic>
        <p:nvPicPr>
          <p:cNvPr id="6" name="Picture 5" descr="49c8b0102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86212" y="4951095"/>
            <a:ext cx="161925" cy="161925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291262" y="2467928"/>
            <a:ext cx="1133475" cy="456248"/>
          </a:xfrm>
          <a:prstGeom prst="roundRect">
            <a:avLst>
              <a:gd name="adj" fmla="val 50000"/>
            </a:avLst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005512" y="2467928"/>
            <a:ext cx="1704975" cy="5133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問い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98408" y="3093720"/>
            <a:ext cx="8719185" cy="16859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4276"/>
              </a:lnSpc>
            </a:pP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自分のカードの</a:t>
            </a:r>
            <a:r>
              <a:rPr sz="2673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「見えていなかった ◯」</a:t>
            </a: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を</a:t>
            </a:r>
          </a:p>
          <a:p>
            <a:pPr algn="ctr">
              <a:lnSpc>
                <a:spcPts val="4276"/>
              </a:lnSpc>
            </a:pP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読み上げてください。</a:t>
            </a:r>
          </a:p>
          <a:p>
            <a:pPr algn="ctr">
              <a:lnSpc>
                <a:spcPts val="4276"/>
              </a:lnSpc>
            </a:pP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チームで数字がちがいます。</a:t>
            </a:r>
            <a:r>
              <a:rPr sz="2673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何が</a:t>
            </a: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その差をつくった？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25415" y="4892992"/>
            <a:ext cx="3503295" cy="335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187"/>
              </a:lnSpc>
            </a:pPr>
            <a:r>
              <a:rPr sz="1214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結果画面の帯グラフ。紫の部分の数字です</a:t>
            </a:r>
          </a:p>
        </p:txBody>
      </p:sp>
      <p:pic>
        <p:nvPicPr>
          <p:cNvPr id="6" name="Picture 5" descr="d07e4653d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2088" y="4951095"/>
            <a:ext cx="161925" cy="161925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288405" y="2467928"/>
            <a:ext cx="1139190" cy="456248"/>
          </a:xfrm>
          <a:prstGeom prst="roundRect">
            <a:avLst>
              <a:gd name="adj" fmla="val 50000"/>
            </a:avLst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002655" y="2467928"/>
            <a:ext cx="1710690" cy="5133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問い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838450" y="3093720"/>
            <a:ext cx="8040052" cy="16859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4276"/>
              </a:lnSpc>
            </a:pP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ウガンダの遺児の家庭だった人のネタバラシを、</a:t>
            </a:r>
          </a:p>
          <a:p>
            <a:pPr algn="ctr">
              <a:lnSpc>
                <a:spcPts val="4276"/>
              </a:lnSpc>
            </a:pPr>
            <a:r>
              <a:rPr sz="2673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全員が自分の画面で</a:t>
            </a: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開いてください。</a:t>
            </a:r>
          </a:p>
          <a:p>
            <a:pPr algn="ctr">
              <a:lnSpc>
                <a:spcPts val="4276"/>
              </a:lnSpc>
            </a:pP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その人には、何が</a:t>
            </a:r>
            <a:r>
              <a:rPr sz="2673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「見えて」</a:t>
            </a: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いた？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31042" y="4892992"/>
            <a:ext cx="4892040" cy="335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187"/>
              </a:lnSpc>
            </a:pPr>
            <a:r>
              <a:rPr sz="1214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本人に見せてもらう必要はありません。誰のぶんでも開けます</a:t>
            </a:r>
          </a:p>
        </p:txBody>
      </p:sp>
      <p:pic>
        <p:nvPicPr>
          <p:cNvPr id="6" name="Picture 5" descr="bb3a5bc0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7715" y="4951095"/>
            <a:ext cx="161925" cy="161925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286500" y="2467928"/>
            <a:ext cx="1142048" cy="456248"/>
          </a:xfrm>
          <a:prstGeom prst="roundRect">
            <a:avLst>
              <a:gd name="adj" fmla="val 50000"/>
            </a:avLst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000750" y="2467928"/>
            <a:ext cx="1713548" cy="5133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問い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007995" y="3093720"/>
            <a:ext cx="7700962" cy="16859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4276"/>
              </a:lnSpc>
            </a:pP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今日あなたが持ってきたもの——</a:t>
            </a:r>
          </a:p>
          <a:p>
            <a:pPr algn="ctr">
              <a:lnSpc>
                <a:spcPts val="4276"/>
              </a:lnSpc>
            </a:pP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スマホ、無料の教科書、給食。</a:t>
            </a:r>
          </a:p>
          <a:p>
            <a:pPr algn="ctr">
              <a:lnSpc>
                <a:spcPts val="4276"/>
              </a:lnSpc>
            </a:pP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それは、</a:t>
            </a:r>
            <a:r>
              <a:rPr sz="2673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どの家庭カードの世界</a:t>
            </a: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のものだった？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19725" y="4892992"/>
            <a:ext cx="3114675" cy="335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187"/>
              </a:lnSpc>
            </a:pPr>
            <a:r>
              <a:rPr sz="1214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「3つの世界の朝」を思い出しながら</a:t>
            </a:r>
          </a:p>
        </p:txBody>
      </p:sp>
      <p:pic>
        <p:nvPicPr>
          <p:cNvPr id="6" name="Picture 5" descr="100c481a7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7350" y="4951095"/>
            <a:ext cx="161925" cy="161925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289358" y="2467928"/>
            <a:ext cx="1137285" cy="456248"/>
          </a:xfrm>
          <a:prstGeom prst="roundRect">
            <a:avLst>
              <a:gd name="adj" fmla="val 50000"/>
            </a:avLst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003608" y="2467928"/>
            <a:ext cx="1708785" cy="5133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問い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86175" y="3093720"/>
            <a:ext cx="6342698" cy="16859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4276"/>
              </a:lnSpc>
            </a:pP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日本にいる私たちが、</a:t>
            </a:r>
          </a:p>
          <a:p>
            <a:pPr algn="ctr">
              <a:lnSpc>
                <a:spcPts val="4276"/>
              </a:lnSpc>
            </a:pP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世界の遺児にわたせる</a:t>
            </a:r>
            <a:r>
              <a:rPr sz="2673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「カギ」</a:t>
            </a: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って、</a:t>
            </a:r>
          </a:p>
          <a:p>
            <a:pPr algn="ctr">
              <a:lnSpc>
                <a:spcPts val="4276"/>
              </a:lnSpc>
            </a:pP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何だろう？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31042" y="4892992"/>
            <a:ext cx="4892040" cy="335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187"/>
              </a:lnSpc>
            </a:pPr>
            <a:r>
              <a:rPr sz="1214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正解はありません。話したくないことは話さなくて大丈夫です</a:t>
            </a:r>
          </a:p>
        </p:txBody>
      </p:sp>
      <p:pic>
        <p:nvPicPr>
          <p:cNvPr id="6" name="Picture 5" descr="9be634904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7715" y="4951095"/>
            <a:ext cx="161925" cy="161925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1660" y="1598295"/>
            <a:ext cx="2393632" cy="471488"/>
          </a:xfrm>
          <a:prstGeom prst="roundRect">
            <a:avLst>
              <a:gd name="adj" fmla="val 50000"/>
            </a:avLst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3291840" y="3618548"/>
            <a:ext cx="1600200" cy="1010602"/>
          </a:xfrm>
          <a:prstGeom prst="roundRect">
            <a:avLst>
              <a:gd name="adj" fmla="val 15268"/>
            </a:avLst>
          </a:prstGeom>
          <a:solidFill>
            <a:srgbClr val="FFFFFF"/>
          </a:solidFill>
          <a:ln w="9525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5371148" y="3618548"/>
            <a:ext cx="2426018" cy="1010602"/>
          </a:xfrm>
          <a:prstGeom prst="roundRect">
            <a:avLst>
              <a:gd name="adj" fmla="val 15268"/>
            </a:avLst>
          </a:prstGeom>
          <a:solidFill>
            <a:srgbClr val="FFFFFF"/>
          </a:solidFill>
          <a:ln w="9525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8275320" y="3618548"/>
            <a:ext cx="2148840" cy="1010602"/>
          </a:xfrm>
          <a:prstGeom prst="roundRect">
            <a:avLst>
              <a:gd name="adj" fmla="val 15268"/>
            </a:avLst>
          </a:prstGeom>
          <a:solidFill>
            <a:srgbClr val="FFFFFF"/>
          </a:solidFill>
          <a:ln w="9525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4061460" y="5106352"/>
            <a:ext cx="5594032" cy="54292"/>
          </a:xfrm>
          <a:prstGeom prst="rect">
            <a:avLst/>
          </a:prstGeom>
          <a:solidFill>
            <a:srgbClr val="FCE6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62650" y="5520690"/>
            <a:ext cx="2685098" cy="54292"/>
          </a:xfrm>
          <a:prstGeom prst="rect">
            <a:avLst/>
          </a:prstGeom>
          <a:solidFill>
            <a:srgbClr val="FCE6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78830" y="1598295"/>
            <a:ext cx="2462212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ゲームから現実へ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69118" y="2239328"/>
            <a:ext cx="4978718" cy="12668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4762"/>
              </a:lnSpc>
            </a:pPr>
            <a:r>
              <a:rPr sz="340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生まれた場所の差は、</a:t>
            </a:r>
          </a:p>
          <a:p>
            <a:pPr algn="ctr">
              <a:lnSpc>
                <a:spcPts val="4762"/>
              </a:lnSpc>
            </a:pPr>
            <a:r>
              <a:rPr sz="340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連鎖していく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47072" y="3820478"/>
            <a:ext cx="1690688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171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生まれの差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47072" y="4215765"/>
            <a:ext cx="1690688" cy="3067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968"/>
              </a:lnSpc>
            </a:pPr>
            <a:r>
              <a:rPr sz="109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初期資金・基本給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14875" y="3618548"/>
            <a:ext cx="833438" cy="1067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717"/>
              </a:lnSpc>
            </a:pPr>
            <a:r>
              <a:rPr sz="2065" b="1">
                <a:solidFill>
                  <a:srgbClr val="F4879F"/>
                </a:solidFill>
                <a:latin typeface="Zen Maru Gothic"/>
                <a:ea typeface="Zen Maru Gothic"/>
                <a:cs typeface="Zen Maru Gothic"/>
              </a:rPr>
              <a:t>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14975" y="3820478"/>
            <a:ext cx="213741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171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見える世界の差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26380" y="4215765"/>
            <a:ext cx="2515552" cy="3067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968"/>
              </a:lnSpc>
            </a:pPr>
            <a:r>
              <a:rPr sz="109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知っている支援・出会える情報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19048" y="3618548"/>
            <a:ext cx="833438" cy="1067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717"/>
              </a:lnSpc>
            </a:pPr>
            <a:r>
              <a:rPr sz="2065" b="1">
                <a:solidFill>
                  <a:srgbClr val="F4879F"/>
                </a:solidFill>
                <a:latin typeface="Zen Maru Gothic"/>
                <a:ea typeface="Zen Maru Gothic"/>
                <a:cs typeface="Zen Maru Gothic"/>
              </a:rPr>
              <a:t>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0" y="3820478"/>
            <a:ext cx="1690688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171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実る場の差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30552" y="4215765"/>
            <a:ext cx="2238375" cy="3067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968"/>
              </a:lnSpc>
            </a:pPr>
            <a:r>
              <a:rPr sz="109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同じ★でも、かせぎが違う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92755" y="4798695"/>
            <a:ext cx="7731442" cy="12982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学べば報われる、は、場が用意されている人の話です。</a:t>
            </a:r>
          </a:p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そしてその差は、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次の世代の「生まれの差」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へ——。</a:t>
            </a:r>
          </a:p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ゲームで見た「？？？」も「カギ不足」も、いまの世界に実在します。</a:t>
            </a:r>
          </a:p>
        </p:txBody>
      </p:sp>
      <p:pic>
        <p:nvPicPr>
          <p:cNvPr id="19" name="Picture 18" descr="995d0a3bd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3118" y="1736408"/>
            <a:ext cx="194310" cy="19431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350192" y="1435418"/>
            <a:ext cx="3015615" cy="471488"/>
          </a:xfrm>
          <a:prstGeom prst="roundRect">
            <a:avLst>
              <a:gd name="adj" fmla="val 50000"/>
            </a:avLst>
          </a:prstGeom>
          <a:solidFill>
            <a:srgbClr val="FBD9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1234440" y="2076450"/>
            <a:ext cx="11247120" cy="698182"/>
          </a:xfrm>
          <a:prstGeom prst="roundRect">
            <a:avLst>
              <a:gd name="adj" fmla="val 22100"/>
            </a:avLst>
          </a:prstGeom>
          <a:solidFill>
            <a:srgbClr val="FFFFFF"/>
          </a:solidFill>
          <a:ln w="9525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Oval 3"/>
          <p:cNvSpPr/>
          <p:nvPr/>
        </p:nvSpPr>
        <p:spPr>
          <a:xfrm>
            <a:off x="1460182" y="2240280"/>
            <a:ext cx="385762" cy="385762"/>
          </a:xfrm>
          <a:prstGeom prst="ellipse">
            <a:avLst/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234440" y="2913698"/>
            <a:ext cx="11247120" cy="933450"/>
          </a:xfrm>
          <a:prstGeom prst="roundRect">
            <a:avLst>
              <a:gd name="adj" fmla="val 16530"/>
            </a:avLst>
          </a:prstGeom>
          <a:solidFill>
            <a:srgbClr val="FFFFFF"/>
          </a:solidFill>
          <a:ln w="9525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1460182" y="3077528"/>
            <a:ext cx="385762" cy="385762"/>
          </a:xfrm>
          <a:prstGeom prst="ellipse">
            <a:avLst/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1234440" y="3985260"/>
            <a:ext cx="11247120" cy="933450"/>
          </a:xfrm>
          <a:prstGeom prst="roundRect">
            <a:avLst>
              <a:gd name="adj" fmla="val 16530"/>
            </a:avLst>
          </a:prstGeom>
          <a:solidFill>
            <a:srgbClr val="FFFFFF"/>
          </a:solidFill>
          <a:ln w="9525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1460182" y="4149090"/>
            <a:ext cx="385762" cy="385762"/>
          </a:xfrm>
          <a:prstGeom prst="ellipse">
            <a:avLst/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1234440" y="5057775"/>
            <a:ext cx="11247120" cy="698182"/>
          </a:xfrm>
          <a:prstGeom prst="roundRect">
            <a:avLst>
              <a:gd name="adj" fmla="val 22100"/>
            </a:avLst>
          </a:prstGeom>
          <a:solidFill>
            <a:srgbClr val="FFFFFF"/>
          </a:solidFill>
          <a:ln w="9525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1460182" y="5221605"/>
            <a:ext cx="385762" cy="385762"/>
          </a:xfrm>
          <a:prstGeom prst="ellipse">
            <a:avLst/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567362" y="1435418"/>
            <a:ext cx="3084195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7A6320"/>
                </a:solidFill>
                <a:latin typeface="Zen Maru Gothic"/>
                <a:ea typeface="Zen Maru Gothic"/>
                <a:cs typeface="Zen Maru Gothic"/>
              </a:rPr>
              <a:t>だから、「支援」がある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0182" y="2240280"/>
            <a:ext cx="728662" cy="442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5490" y="2225040"/>
            <a:ext cx="10583228" cy="3752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505"/>
              </a:lnSpc>
            </a:pPr>
            <a:r>
              <a:rPr sz="1518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この連鎖は、</a:t>
            </a:r>
            <a:r>
              <a:rPr sz="1518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本人の努力だけでは断ち切れない</a:t>
            </a:r>
            <a:r>
              <a:rPr sz="1518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。だから世界には、遺児を支える仕組みと人がいる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0182" y="3077528"/>
            <a:ext cx="728662" cy="442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15490" y="3062288"/>
            <a:ext cx="10583228" cy="6934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505"/>
              </a:lnSpc>
            </a:pPr>
            <a:r>
              <a:rPr sz="1518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あしなが育英会は</a:t>
            </a:r>
            <a:r>
              <a:rPr sz="1518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「あしながウガンダ」</a:t>
            </a:r>
            <a:r>
              <a:rPr sz="1518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で、現地の遺児の教育を実際に支えている——ゲームに出てきた支援団体のモデル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0182" y="4149090"/>
            <a:ext cx="728662" cy="442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15490" y="4133850"/>
            <a:ext cx="10583228" cy="6934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505"/>
              </a:lnSpc>
            </a:pPr>
            <a:r>
              <a:rPr sz="1518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AAI</a:t>
            </a:r>
            <a:r>
              <a:rPr sz="1518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は、アフリカの遺児を海外の大学へ送り出す奨学金。カギはお金ではなく、まなびと</a:t>
            </a:r>
            <a:r>
              <a:rPr sz="1518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「志」</a:t>
            </a:r>
            <a:r>
              <a:rPr sz="1518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——祖国に貢献するリーダーを育てる「約束」の仕組み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0182" y="5221605"/>
            <a:ext cx="728662" cy="442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15490" y="5206365"/>
            <a:ext cx="10583228" cy="3752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505"/>
              </a:lnSpc>
            </a:pPr>
            <a:r>
              <a:rPr sz="1518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そして、その入り口に立っているのが——</a:t>
            </a:r>
            <a:r>
              <a:rPr sz="1518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いま街頭に立っている、みなさんです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59330" y="5925502"/>
            <a:ext cx="9196388" cy="335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187"/>
              </a:lnSpc>
            </a:pPr>
            <a:r>
              <a:rPr sz="1214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ゲームでAAIを選んだ人は、お金を1円も払っていません。25歳のいま、その人がどこで何をしていたか、読んでみてください</a:t>
            </a:r>
          </a:p>
        </p:txBody>
      </p:sp>
      <p:pic>
        <p:nvPicPr>
          <p:cNvPr id="21" name="Picture 20" descr="1b2e1edd7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1650" y="1574482"/>
            <a:ext cx="194310" cy="19431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54015" y="2394585"/>
            <a:ext cx="2807970" cy="471488"/>
          </a:xfrm>
          <a:prstGeom prst="roundRect">
            <a:avLst>
              <a:gd name="adj" fmla="val 50000"/>
            </a:avLst>
          </a:prstGeom>
          <a:solidFill>
            <a:srgbClr val="5B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738812" y="5136832"/>
            <a:ext cx="1119188" cy="54292"/>
          </a:xfrm>
          <a:prstGeom prst="rect">
            <a:avLst/>
          </a:prstGeom>
          <a:solidFill>
            <a:srgbClr val="FCE6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71185" y="2394585"/>
            <a:ext cx="2876550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ここからは、検証です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87078" y="3036570"/>
            <a:ext cx="7141845" cy="12668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4762"/>
              </a:lnSpc>
            </a:pPr>
            <a:r>
              <a:rPr sz="340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今度は</a:t>
            </a:r>
            <a:r>
              <a:rPr sz="3401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「届ける側」</a:t>
            </a:r>
            <a:r>
              <a:rPr sz="340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として、</a:t>
            </a:r>
          </a:p>
          <a:p>
            <a:pPr algn="ctr">
              <a:lnSpc>
                <a:spcPts val="4762"/>
              </a:lnSpc>
            </a:pPr>
            <a:r>
              <a:rPr sz="340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いまの75分を振り返ってください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15640" y="4415790"/>
            <a:ext cx="7283768" cy="884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このゲームは、まだ完成していません。</a:t>
            </a:r>
          </a:p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今日みなさんが感じた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引っかかり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が、そのまま改善点になります。</a:t>
            </a:r>
          </a:p>
        </p:txBody>
      </p:sp>
      <p:pic>
        <p:nvPicPr>
          <p:cNvPr id="7" name="Picture 6" descr="867d447ab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85472" y="2533650"/>
            <a:ext cx="194310" cy="19431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624388" y="2127885"/>
            <a:ext cx="4467225" cy="471488"/>
          </a:xfrm>
          <a:prstGeom prst="roundRect">
            <a:avLst>
              <a:gd name="adj" fmla="val 50000"/>
            </a:avLst>
          </a:prstGeom>
          <a:solidFill>
            <a:srgbClr val="5B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1371600" y="2769870"/>
            <a:ext cx="5424488" cy="809625"/>
          </a:xfrm>
          <a:prstGeom prst="roundRect">
            <a:avLst>
              <a:gd name="adj" fmla="val 1715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1541145" y="2885122"/>
            <a:ext cx="579120" cy="579120"/>
          </a:xfrm>
          <a:prstGeom prst="roundRect">
            <a:avLst>
              <a:gd name="adj" fmla="val 18651"/>
            </a:avLst>
          </a:prstGeom>
          <a:solidFill>
            <a:srgbClr val="C6E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6919912" y="2769870"/>
            <a:ext cx="5424488" cy="809625"/>
          </a:xfrm>
          <a:prstGeom prst="roundRect">
            <a:avLst>
              <a:gd name="adj" fmla="val 1715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7089458" y="2885122"/>
            <a:ext cx="579120" cy="579120"/>
          </a:xfrm>
          <a:prstGeom prst="roundRect">
            <a:avLst>
              <a:gd name="adj" fmla="val 18651"/>
            </a:avLst>
          </a:prstGeom>
          <a:solidFill>
            <a:srgbClr val="DCD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1371600" y="3703320"/>
            <a:ext cx="5424488" cy="809625"/>
          </a:xfrm>
          <a:prstGeom prst="roundRect">
            <a:avLst>
              <a:gd name="adj" fmla="val 1715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1541145" y="3818572"/>
            <a:ext cx="579120" cy="579120"/>
          </a:xfrm>
          <a:prstGeom prst="roundRect">
            <a:avLst>
              <a:gd name="adj" fmla="val 18651"/>
            </a:avLst>
          </a:prstGeom>
          <a:solidFill>
            <a:srgbClr val="F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6919912" y="3703320"/>
            <a:ext cx="5424488" cy="809625"/>
          </a:xfrm>
          <a:prstGeom prst="roundRect">
            <a:avLst>
              <a:gd name="adj" fmla="val 1715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7089458" y="3818572"/>
            <a:ext cx="579120" cy="579120"/>
          </a:xfrm>
          <a:prstGeom prst="roundRect">
            <a:avLst>
              <a:gd name="adj" fmla="val 18651"/>
            </a:avLst>
          </a:prstGeom>
          <a:solidFill>
            <a:srgbClr val="FCE7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4955858" y="5403532"/>
            <a:ext cx="3579495" cy="54292"/>
          </a:xfrm>
          <a:prstGeom prst="rect">
            <a:avLst/>
          </a:prstGeom>
          <a:solidFill>
            <a:srgbClr val="FCE6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41558" y="2127885"/>
            <a:ext cx="4535805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気になるところを、全部出してください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43138" y="3037522"/>
            <a:ext cx="3722370" cy="3314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97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時間</a:t>
            </a:r>
            <a:r>
              <a:rPr sz="112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25分で終わった？ 長すぎた・短すぎたのはどこ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91450" y="3037522"/>
            <a:ext cx="4333875" cy="3314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97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つまずき</a:t>
            </a:r>
            <a:r>
              <a:rPr sz="112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ルールで分からなかったこと、操作で迷ったところ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43138" y="3970972"/>
            <a:ext cx="3693795" cy="3314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97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表現</a:t>
            </a:r>
            <a:r>
              <a:rPr sz="112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「この言い方は違う」「強すぎる／弱すぎる」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91450" y="3970972"/>
            <a:ext cx="3586162" cy="3314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97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届け方</a:t>
            </a:r>
            <a:r>
              <a:rPr sz="112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高校生に届けるなら、何を削り、何を足す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75710" y="4682490"/>
            <a:ext cx="6165532" cy="884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数字のバランス、扉の選択肢、エンディングの文章——</a:t>
            </a:r>
          </a:p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「ここは違うと思う」を、遠慮なく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。</a:t>
            </a:r>
          </a:p>
        </p:txBody>
      </p:sp>
      <p:pic>
        <p:nvPicPr>
          <p:cNvPr id="18" name="Picture 17" descr="b7c36b668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5845" y="2266950"/>
            <a:ext cx="194310" cy="194310"/>
          </a:xfrm>
          <a:prstGeom prst="rect">
            <a:avLst/>
          </a:prstGeom>
        </p:spPr>
      </p:pic>
      <p:pic>
        <p:nvPicPr>
          <p:cNvPr id="19" name="Picture 18" descr="ad04ca622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9260" y="3043238"/>
            <a:ext cx="261938" cy="261938"/>
          </a:xfrm>
          <a:prstGeom prst="rect">
            <a:avLst/>
          </a:prstGeom>
        </p:spPr>
      </p:pic>
      <p:pic>
        <p:nvPicPr>
          <p:cNvPr id="20" name="Picture 19" descr="f5603e6f9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47572" y="3043238"/>
            <a:ext cx="261938" cy="261938"/>
          </a:xfrm>
          <a:prstGeom prst="rect">
            <a:avLst/>
          </a:prstGeom>
        </p:spPr>
      </p:pic>
      <p:pic>
        <p:nvPicPr>
          <p:cNvPr id="21" name="Picture 20" descr="374ef3bd0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99260" y="3976688"/>
            <a:ext cx="261938" cy="261938"/>
          </a:xfrm>
          <a:prstGeom prst="rect">
            <a:avLst/>
          </a:prstGeom>
        </p:spPr>
      </p:pic>
      <p:pic>
        <p:nvPicPr>
          <p:cNvPr id="22" name="Picture 21" descr="325205dcc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47572" y="3976688"/>
            <a:ext cx="261938" cy="261938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935855" y="2187892"/>
            <a:ext cx="3845242" cy="471488"/>
          </a:xfrm>
          <a:prstGeom prst="roundRect">
            <a:avLst>
              <a:gd name="adj" fmla="val 50000"/>
            </a:avLst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2718435" y="5344477"/>
            <a:ext cx="5146358" cy="54292"/>
          </a:xfrm>
          <a:prstGeom prst="rect">
            <a:avLst/>
          </a:prstGeom>
          <a:solidFill>
            <a:srgbClr val="FCE6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153025" y="2187892"/>
            <a:ext cx="3913822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最後に、感想を聞かせてください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928110" y="2829878"/>
            <a:ext cx="5859780" cy="12668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4762"/>
              </a:lnSpc>
            </a:pPr>
            <a:r>
              <a:rPr sz="340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うまく言葉にならなくても</a:t>
            </a:r>
          </a:p>
          <a:p>
            <a:pPr algn="ctr">
              <a:lnSpc>
                <a:spcPts val="4762"/>
              </a:lnSpc>
            </a:pPr>
            <a:r>
              <a:rPr sz="340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かまいません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32685" y="4209098"/>
            <a:ext cx="8850630" cy="12982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今日いちばん心に残った場面。</a:t>
            </a:r>
          </a:p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自分のカードを見たときのこと、他の人のカードを知ったときのこと。</a:t>
            </a:r>
          </a:p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街頭に立つときの言葉が、ひとつでも変わったなら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——それを聞かせてください。</a:t>
            </a:r>
          </a:p>
        </p:txBody>
      </p:sp>
      <p:pic>
        <p:nvPicPr>
          <p:cNvPr id="7" name="Picture 6" descr="8f9f87c31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7312" y="2326958"/>
            <a:ext cx="194310" cy="19431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356032" y="2272665"/>
            <a:ext cx="1002982" cy="1234440"/>
          </a:xfrm>
          <a:prstGeom prst="roundRect">
            <a:avLst>
              <a:gd name="adj" fmla="val 50000"/>
            </a:avLst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6472238" y="2388870"/>
            <a:ext cx="771525" cy="1002982"/>
          </a:xfrm>
          <a:prstGeom prst="roundRect">
            <a:avLst>
              <a:gd name="adj" fmla="val 50000"/>
            </a:avLst>
          </a:prstGeom>
          <a:solidFill>
            <a:srgbClr val="FBD9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802380" y="3676650"/>
            <a:ext cx="6112192" cy="7486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5443"/>
              </a:lnSpc>
            </a:pPr>
            <a:r>
              <a:rPr sz="3888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ありがとうございました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22432" y="4537710"/>
            <a:ext cx="5270182" cy="884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あなたの前にも、世界のどこかの子の前にも、</a:t>
            </a:r>
          </a:p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まだ見ぬトビラがたくさんある。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