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3716000" cy="77247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38.png"/><Relationship Id="rId5" Type="http://schemas.openxmlformats.org/officeDocument/2006/relationships/image" Target="../media/image27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38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6032" y="2114550"/>
            <a:ext cx="1002982" cy="1234440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72238" y="2230755"/>
            <a:ext cx="771525" cy="1002982"/>
          </a:xfrm>
          <a:prstGeom prst="roundRect">
            <a:avLst>
              <a:gd name="adj" fmla="val 50000"/>
            </a:avLst>
          </a:prstGeom>
          <a:solidFill>
            <a:srgbClr val="FBD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249102" y="5093018"/>
            <a:ext cx="1721168" cy="4305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078855" y="5093018"/>
            <a:ext cx="1842135" cy="4305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028622" y="5093018"/>
            <a:ext cx="1438275" cy="4305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63390" y="3518535"/>
            <a:ext cx="5189220" cy="878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463"/>
              </a:lnSpc>
            </a:pPr>
            <a:r>
              <a:rPr sz="461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トビラ </a:t>
            </a:r>
            <a:r>
              <a:rPr sz="2308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せかい版 ショート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1300" y="4509135"/>
            <a:ext cx="8152448" cy="470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世界のどこかに生まれ、6歳から25歳までを歩く——お金と選択肢の人生ゲーム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4858" y="5093018"/>
            <a:ext cx="1509712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96"/>
              </a:lnSpc>
            </a:pPr>
            <a:r>
              <a:rPr sz="1275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1チーム 3〜4人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4610" y="5093018"/>
            <a:ext cx="163068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96"/>
              </a:lnSpc>
            </a:pPr>
            <a:r>
              <a:rPr sz="1275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ひとり1台の端末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4378" y="5093018"/>
            <a:ext cx="12268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96"/>
              </a:lnSpc>
            </a:pPr>
            <a:r>
              <a:rPr sz="1275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プレイ25分</a:t>
            </a:r>
          </a:p>
        </p:txBody>
      </p:sp>
      <p:pic>
        <p:nvPicPr>
          <p:cNvPr id="12" name="Picture 11" descr="80d4f2f3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0" y="5222558"/>
            <a:ext cx="170498" cy="170498"/>
          </a:xfrm>
          <a:prstGeom prst="rect">
            <a:avLst/>
          </a:prstGeom>
        </p:spPr>
      </p:pic>
      <p:pic>
        <p:nvPicPr>
          <p:cNvPr id="13" name="Picture 12" descr="295a7d21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5222558"/>
            <a:ext cx="170498" cy="170498"/>
          </a:xfrm>
          <a:prstGeom prst="rect">
            <a:avLst/>
          </a:prstGeom>
        </p:spPr>
      </p:pic>
      <p:pic>
        <p:nvPicPr>
          <p:cNvPr id="14" name="Picture 13" descr="9920a104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222558"/>
            <a:ext cx="170498" cy="1704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48312" y="1602105"/>
            <a:ext cx="2619375" cy="471488"/>
          </a:xfrm>
          <a:prstGeom prst="roundRect">
            <a:avLst>
              <a:gd name="adj" fmla="val 50000"/>
            </a:avLst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2057400" y="2243138"/>
            <a:ext cx="9601200" cy="561022"/>
          </a:xfrm>
          <a:prstGeom prst="roundRect">
            <a:avLst>
              <a:gd name="adj" fmla="val 220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057400" y="2889885"/>
            <a:ext cx="9601200" cy="561022"/>
          </a:xfrm>
          <a:prstGeom prst="roundRect">
            <a:avLst>
              <a:gd name="adj" fmla="val 220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2057400" y="3535680"/>
            <a:ext cx="9601200" cy="561022"/>
          </a:xfrm>
          <a:prstGeom prst="roundRect">
            <a:avLst>
              <a:gd name="adj" fmla="val 22003"/>
            </a:avLst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057400" y="4182428"/>
            <a:ext cx="9601200" cy="561022"/>
          </a:xfrm>
          <a:prstGeom prst="roundRect">
            <a:avLst>
              <a:gd name="adj" fmla="val 220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057400" y="4828222"/>
            <a:ext cx="9601200" cy="561022"/>
          </a:xfrm>
          <a:prstGeom prst="roundRect">
            <a:avLst>
              <a:gd name="adj" fmla="val 220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057400" y="5474970"/>
            <a:ext cx="9601200" cy="561022"/>
          </a:xfrm>
          <a:prstGeom prst="roundRect">
            <a:avLst>
              <a:gd name="adj" fmla="val 220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36932" y="1602105"/>
            <a:ext cx="2346008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今日の流れ（90分）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5058" y="2344102"/>
            <a:ext cx="602932" cy="418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843"/>
              </a:lnSpc>
            </a:pPr>
            <a:r>
              <a:rPr sz="1579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12分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4238" y="2357438"/>
            <a:ext cx="824674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導入 — このゲームは何を体験するものか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1725" y="2989898"/>
            <a:ext cx="596265" cy="418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843"/>
              </a:lnSpc>
            </a:pPr>
            <a:r>
              <a:rPr sz="1579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11分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4238" y="3004185"/>
            <a:ext cx="824674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ルール説明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3628" y="3636645"/>
            <a:ext cx="614362" cy="418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843"/>
              </a:lnSpc>
            </a:pPr>
            <a:r>
              <a:rPr sz="1579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25分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238" y="3649980"/>
            <a:ext cx="824674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プレイ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4105" y="4282440"/>
            <a:ext cx="602932" cy="418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843"/>
              </a:lnSpc>
            </a:pPr>
            <a:r>
              <a:rPr sz="1579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27分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4238" y="4295775"/>
            <a:ext cx="824674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振り返り — 結果を全員で見る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4580" y="4928235"/>
            <a:ext cx="613410" cy="418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843"/>
              </a:lnSpc>
            </a:pPr>
            <a:r>
              <a:rPr sz="1579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10分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4238" y="4942522"/>
            <a:ext cx="824674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検証 — 気になるところの洗い出し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4115" y="5574982"/>
            <a:ext cx="523875" cy="418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843"/>
              </a:lnSpc>
            </a:pPr>
            <a:r>
              <a:rPr sz="1579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5分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4238" y="5588318"/>
            <a:ext cx="824674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感想共有</a:t>
            </a:r>
          </a:p>
        </p:txBody>
      </p:sp>
      <p:pic>
        <p:nvPicPr>
          <p:cNvPr id="22" name="Picture 21" descr="f477ab9e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770" y="1741170"/>
            <a:ext cx="194310" cy="194310"/>
          </a:xfrm>
          <a:prstGeom prst="rect">
            <a:avLst/>
          </a:prstGeom>
        </p:spPr>
      </p:pic>
      <p:pic>
        <p:nvPicPr>
          <p:cNvPr id="23" name="Picture 22" descr="8f224c57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535" y="2426970"/>
            <a:ext cx="194310" cy="194310"/>
          </a:xfrm>
          <a:prstGeom prst="rect">
            <a:avLst/>
          </a:prstGeom>
        </p:spPr>
      </p:pic>
      <p:pic>
        <p:nvPicPr>
          <p:cNvPr id="24" name="Picture 23" descr="683ca99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535" y="3072765"/>
            <a:ext cx="194310" cy="194310"/>
          </a:xfrm>
          <a:prstGeom prst="rect">
            <a:avLst/>
          </a:prstGeom>
        </p:spPr>
      </p:pic>
      <p:pic>
        <p:nvPicPr>
          <p:cNvPr id="25" name="Picture 24" descr="092aaf4a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535" y="3719512"/>
            <a:ext cx="194310" cy="194310"/>
          </a:xfrm>
          <a:prstGeom prst="rect">
            <a:avLst/>
          </a:prstGeom>
        </p:spPr>
      </p:pic>
      <p:pic>
        <p:nvPicPr>
          <p:cNvPr id="26" name="Picture 25" descr="98bec61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7535" y="4365308"/>
            <a:ext cx="194310" cy="194310"/>
          </a:xfrm>
          <a:prstGeom prst="rect">
            <a:avLst/>
          </a:prstGeom>
        </p:spPr>
      </p:pic>
      <p:pic>
        <p:nvPicPr>
          <p:cNvPr id="27" name="Picture 26" descr="c2adc338a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7535" y="5012055"/>
            <a:ext cx="194310" cy="194310"/>
          </a:xfrm>
          <a:prstGeom prst="rect">
            <a:avLst/>
          </a:prstGeom>
        </p:spPr>
      </p:pic>
      <p:pic>
        <p:nvPicPr>
          <p:cNvPr id="28" name="Picture 27" descr="432e7fc9e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7535" y="5657850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7302" y="1953578"/>
            <a:ext cx="3541395" cy="471488"/>
          </a:xfrm>
          <a:prstGeom prst="roundRect">
            <a:avLst>
              <a:gd name="adj" fmla="val 50000"/>
            </a:avLst>
          </a:prstGeom>
          <a:solidFill>
            <a:srgbClr val="FBD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960120" y="2594610"/>
            <a:ext cx="3808095" cy="2092642"/>
          </a:xfrm>
          <a:prstGeom prst="roundRect">
            <a:avLst>
              <a:gd name="adj" fmla="val 8111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154430" y="3873818"/>
            <a:ext cx="3419475" cy="603885"/>
          </a:xfrm>
          <a:prstGeom prst="rect">
            <a:avLst/>
          </a:prstGeom>
          <a:noFill/>
          <a:ln w="19050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953952" y="2594610"/>
            <a:ext cx="3808095" cy="2092642"/>
          </a:xfrm>
          <a:prstGeom prst="roundRect">
            <a:avLst>
              <a:gd name="adj" fmla="val 8111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148262" y="3873818"/>
            <a:ext cx="3419475" cy="603885"/>
          </a:xfrm>
          <a:prstGeom prst="rect">
            <a:avLst/>
          </a:prstGeom>
          <a:noFill/>
          <a:ln w="19050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946832" y="2594610"/>
            <a:ext cx="3808095" cy="2092642"/>
          </a:xfrm>
          <a:prstGeom prst="roundRect">
            <a:avLst>
              <a:gd name="adj" fmla="val 8111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142095" y="3873818"/>
            <a:ext cx="3419475" cy="603885"/>
          </a:xfrm>
          <a:prstGeom prst="rect">
            <a:avLst/>
          </a:prstGeom>
          <a:noFill/>
          <a:ln w="19050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98882" y="5578792"/>
            <a:ext cx="1343025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75922" y="1953578"/>
            <a:ext cx="3267075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7A6320"/>
                </a:solidFill>
                <a:latin typeface="Zen Maru Gothic"/>
                <a:ea typeface="Zen Maru Gothic"/>
                <a:cs typeface="Zen Maru Gothic"/>
              </a:rPr>
              <a:t>まず、3つの世界の「朝」から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5892" y="2805112"/>
            <a:ext cx="3376612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C4703E"/>
                </a:solidFill>
                <a:latin typeface="Zen Maru Gothic"/>
                <a:ea typeface="Zen Maru Gothic"/>
                <a:cs typeface="Zen Maru Gothic"/>
              </a:rPr>
              <a:t>欧米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430" y="3230880"/>
            <a:ext cx="3648075" cy="607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8"/>
              </a:lnSpc>
            </a:pPr>
            <a:r>
              <a:rPr sz="1275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スクールバスで10分。朝食はシリアルとオレンジジュース。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430" y="3873818"/>
            <a:ext cx="3648075" cy="6610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sz="109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学校に行くのは「当たり前」。図書館もネットも、ぜんぶそろっている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9725" y="2805112"/>
            <a:ext cx="3376612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日本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262" y="3230880"/>
            <a:ext cx="3648075" cy="607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8"/>
              </a:lnSpc>
            </a:pPr>
            <a:r>
              <a:rPr sz="1275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7時に起きて、電車で20分。コンビニに寄る余裕もある。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262" y="3873818"/>
            <a:ext cx="3648075" cy="6610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sz="109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教科書は無料、学校には給食。「支援」も「奨学金」も、自分には関係ない言葉だった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3558" y="2805112"/>
            <a:ext cx="3376612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5FA882"/>
                </a:solidFill>
                <a:latin typeface="Zen Maru Gothic"/>
                <a:ea typeface="Zen Maru Gothic"/>
                <a:cs typeface="Zen Maru Gothic"/>
              </a:rPr>
              <a:t>ウガンダ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2095" y="3230880"/>
            <a:ext cx="3648075" cy="607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8"/>
              </a:lnSpc>
            </a:pPr>
            <a:r>
              <a:rPr sz="1275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5時起き。水くみに1時間、畑を手伝ってから、5km歩いて学校へ。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2095" y="3873818"/>
            <a:ext cx="3648075" cy="6610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sz="109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学費を払う月はたいへんだ。でも困ったときは、村のみんなが助けてくれる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0045" y="4857750"/>
            <a:ext cx="5374958" cy="88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同じ「学校に行く」でも、そこに至るまでが違う。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この差が、そのまま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ゲームの数字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になっています。</a:t>
            </a:r>
          </a:p>
        </p:txBody>
      </p:sp>
      <p:pic>
        <p:nvPicPr>
          <p:cNvPr id="21" name="Picture 20" descr="c4554495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760" y="2091690"/>
            <a:ext cx="194310" cy="194310"/>
          </a:xfrm>
          <a:prstGeom prst="rect">
            <a:avLst/>
          </a:prstGeom>
        </p:spPr>
      </p:pic>
      <p:pic>
        <p:nvPicPr>
          <p:cNvPr id="22" name="Picture 21" descr="fb498d6d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2874645"/>
            <a:ext cx="194310" cy="194310"/>
          </a:xfrm>
          <a:prstGeom prst="rect">
            <a:avLst/>
          </a:prstGeom>
        </p:spPr>
      </p:pic>
      <p:pic>
        <p:nvPicPr>
          <p:cNvPr id="23" name="Picture 22" descr="db1c31d8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262" y="2874645"/>
            <a:ext cx="194310" cy="194310"/>
          </a:xfrm>
          <a:prstGeom prst="rect">
            <a:avLst/>
          </a:prstGeom>
        </p:spPr>
      </p:pic>
      <p:pic>
        <p:nvPicPr>
          <p:cNvPr id="24" name="Picture 23" descr="a240080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2095" y="2874645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50192" y="1913572"/>
            <a:ext cx="3015615" cy="47148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3521392" y="3934778"/>
            <a:ext cx="6674168" cy="1343025"/>
          </a:xfrm>
          <a:prstGeom prst="roundRect">
            <a:avLst>
              <a:gd name="adj" fmla="val 14936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738812" y="1913572"/>
            <a:ext cx="2741295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このゲームで起きること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7490" y="2555558"/>
            <a:ext cx="8161020" cy="1266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同じ盤面、同じサイコロ、同じルール。</a:t>
            </a:r>
          </a:p>
          <a:p>
            <a:pPr algn="ctr">
              <a:lnSpc>
                <a:spcPts val="4762"/>
              </a:lnSpc>
            </a:pPr>
            <a:r>
              <a:rPr sz="3401" b="1">
                <a:solidFill>
                  <a:srgbClr val="F4879F"/>
                </a:solidFill>
                <a:latin typeface="Zen Maru Gothic"/>
                <a:ea typeface="Zen Maru Gothic"/>
                <a:cs typeface="Zen Maru Gothic"/>
              </a:rPr>
              <a:t>違うのは、生まれた場所だけ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3328" y="3934778"/>
            <a:ext cx="6545580" cy="1400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89"/>
              </a:lnSpc>
            </a:pPr>
            <a:r>
              <a:rPr sz="188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
    説明ではなく、</a:t>
            </a:r>
            <a:r>
              <a:rPr sz="1883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自分の手番で</a:t>
            </a:r>
            <a:r>
              <a:rPr sz="188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それが起きる。</a:t>
            </a:r>
          </a:p>
          <a:p>
            <a:pPr algn="ctr">
              <a:lnSpc>
                <a:spcPts val="3389"/>
              </a:lnSpc>
            </a:pPr>
            <a:r>
              <a:rPr sz="188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
    その差が結果にどう出るかを、</a:t>
            </a:r>
            <a:r>
              <a:rPr sz="1883" b="1">
                <a:solidFill>
                  <a:srgbClr val="F4879F"/>
                </a:solidFill>
                <a:latin typeface="Zen Maru Gothic"/>
                <a:ea typeface="Zen Maru Gothic"/>
                <a:cs typeface="Zen Maru Gothic"/>
              </a:rPr>
              <a:t>25分で一度通しておく</a:t>
            </a:r>
            <a:r>
              <a:rPr sz="188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。
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7532" y="5446395"/>
            <a:ext cx="7480935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sz="121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街頭で「世界の遺児に教育を」と言うとき、その一言の後ろにある現実を、自分の手で確かめる時間です</a:t>
            </a:r>
          </a:p>
        </p:txBody>
      </p:sp>
      <p:pic>
        <p:nvPicPr>
          <p:cNvPr id="8" name="Picture 7" descr="23d5e6b3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650" y="2052638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8705" y="385762"/>
            <a:ext cx="3959542" cy="471488"/>
          </a:xfrm>
          <a:prstGeom prst="roundRect">
            <a:avLst>
              <a:gd name="adj" fmla="val 50000"/>
            </a:avLst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51208" y="6732270"/>
            <a:ext cx="3132772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90950" y="7146608"/>
            <a:ext cx="5015865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7748"/>
            <a:ext cx="4194810" cy="2262188"/>
          </a:xfrm>
          <a:prstGeom prst="rect">
            <a:avLst/>
          </a:prstGeom>
        </p:spPr>
      </p:pic>
      <p:pic>
        <p:nvPicPr>
          <p:cNvPr id="6" name="Picture 5" descr="fa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595" y="1027748"/>
            <a:ext cx="4194810" cy="2262188"/>
          </a:xfrm>
          <a:prstGeom prst="rect">
            <a:avLst/>
          </a:prstGeom>
        </p:spPr>
      </p:pic>
      <p:pic>
        <p:nvPicPr>
          <p:cNvPr id="7" name="Picture 6" descr="fam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710" y="1027748"/>
            <a:ext cx="4194810" cy="2262188"/>
          </a:xfrm>
          <a:prstGeom prst="rect">
            <a:avLst/>
          </a:prstGeom>
        </p:spPr>
      </p:pic>
      <p:pic>
        <p:nvPicPr>
          <p:cNvPr id="8" name="Picture 7" descr="fam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03320"/>
            <a:ext cx="4194810" cy="2262188"/>
          </a:xfrm>
          <a:prstGeom prst="rect">
            <a:avLst/>
          </a:prstGeom>
        </p:spPr>
      </p:pic>
      <p:pic>
        <p:nvPicPr>
          <p:cNvPr id="9" name="Picture 8" descr="fam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0595" y="3703320"/>
            <a:ext cx="4194810" cy="2262188"/>
          </a:xfrm>
          <a:prstGeom prst="rect">
            <a:avLst/>
          </a:prstGeom>
        </p:spPr>
      </p:pic>
      <p:pic>
        <p:nvPicPr>
          <p:cNvPr id="10" name="Picture 9" descr="fam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9710" y="3703320"/>
            <a:ext cx="4194810" cy="22621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7325" y="385762"/>
            <a:ext cx="3685222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配られる家庭カードは、この6種類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343275"/>
            <a:ext cx="2940368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58"/>
              </a:lnSpc>
            </a:pP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欧米：はじめ150万／基本給20万／★1つ＝10万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9245" y="3343275"/>
            <a:ext cx="2937510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58"/>
              </a:lnSpc>
            </a:pP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日本：はじめ120万／基本給20万／★1つ＝10万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4518" y="3343275"/>
            <a:ext cx="3465195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58"/>
              </a:lnSpc>
            </a:pP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ウガンダ駐在：はじめ150万／基本給20万／★1つ＝10万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" y="6019800"/>
            <a:ext cx="3744278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58"/>
              </a:lnSpc>
            </a:pP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ウガンダ・両親あり：はじめ40万／基本給</a:t>
            </a: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10万</a:t>
            </a: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／★1つ＝</a:t>
            </a: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5万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3472" y="6019800"/>
            <a:ext cx="3870008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58"/>
              </a:lnSpc>
            </a:pP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遺児・</a:t>
            </a: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支援と出会えた</a:t>
            </a: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：はじめ20万／基本給</a:t>
            </a: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10万</a:t>
            </a: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／★1つ＝</a:t>
            </a: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5万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18332" y="6019800"/>
            <a:ext cx="3376612" cy="29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58"/>
              </a:lnSpc>
            </a:pP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遺児・</a:t>
            </a: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まだ出会えていない</a:t>
            </a:r>
            <a:r>
              <a:rPr sz="1032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：数字は左とまったく同じ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7462" y="6424612"/>
            <a:ext cx="8600122" cy="88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カードに出るのは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物語・いまの持ちもの・とくい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だけ。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下に書いた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基本給と★1つの値は、画面のどこにも出ないまま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ずっと効き続けます。</a:t>
            </a:r>
          </a:p>
        </p:txBody>
      </p:sp>
      <p:pic>
        <p:nvPicPr>
          <p:cNvPr id="19" name="Picture 18" descr="6fdef56e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0162" y="524828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2548" y="1885950"/>
            <a:ext cx="3429952" cy="47148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580698" y="4818698"/>
            <a:ext cx="3225165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1168" y="1885950"/>
            <a:ext cx="3155632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今日いちばん見てほしいこと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8498" y="2526982"/>
            <a:ext cx="7279958" cy="1871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カギが足りずに開けられないのと、</a:t>
            </a:r>
          </a:p>
          <a:p>
            <a:pPr algn="ctr">
              <a:lnSpc>
                <a:spcPts val="4762"/>
              </a:lnSpc>
            </a:pPr>
            <a:r>
              <a:rPr sz="3401" b="1">
                <a:solidFill>
                  <a:srgbClr val="F4879F"/>
                </a:solidFill>
                <a:latin typeface="Zen Maru Gothic"/>
                <a:ea typeface="Zen Maru Gothic"/>
                <a:cs typeface="Zen Maru Gothic"/>
              </a:rPr>
              <a:t>扉があることすら知らない</a:t>
            </a: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のは、</a:t>
            </a:r>
          </a:p>
          <a:p>
            <a:pPr algn="ctr">
              <a:lnSpc>
                <a:spcPts val="4762"/>
              </a:lnSpc>
            </a:pP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まったく違う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6650" y="4511040"/>
            <a:ext cx="6362700" cy="12982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どのチームにも、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ウガンダの遺児の家庭が必ず1人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入ります。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その人に何が見えていて、何が見えていなかったか——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ゲームが終わったら、全員で答え合わせをします。</a:t>
            </a:r>
          </a:p>
        </p:txBody>
      </p:sp>
      <p:pic>
        <p:nvPicPr>
          <p:cNvPr id="7" name="Picture 6" descr="aa7a0066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005" y="2024062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7838" y="385762"/>
            <a:ext cx="2601278" cy="471488"/>
          </a:xfrm>
          <a:prstGeom prst="roundRect">
            <a:avLst>
              <a:gd name="adj" fmla="val 50000"/>
            </a:avLst>
          </a:prstGeom>
          <a:solidFill>
            <a:srgbClr val="4E8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6277928"/>
            <a:ext cx="4133850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791075" y="6277928"/>
            <a:ext cx="4133850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32558" y="6277928"/>
            <a:ext cx="4133850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lob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535" y="1027748"/>
            <a:ext cx="8202930" cy="51263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6458" y="385762"/>
            <a:ext cx="2326958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まず、ゲームに入る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372225"/>
            <a:ext cx="3788092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1. チームと進行役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1602" y="6372225"/>
            <a:ext cx="3788092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2. あいことばを配る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4038" y="6372225"/>
            <a:ext cx="3788092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3. そろったら止める</a:t>
            </a:r>
          </a:p>
        </p:txBody>
      </p:sp>
      <p:pic>
        <p:nvPicPr>
          <p:cNvPr id="11" name="Picture 10" descr="ea481504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295" y="524828"/>
            <a:ext cx="194310" cy="194310"/>
          </a:xfrm>
          <a:prstGeom prst="rect">
            <a:avLst/>
          </a:prstGeom>
        </p:spPr>
      </p:pic>
      <p:pic>
        <p:nvPicPr>
          <p:cNvPr id="12" name="Picture 11" descr="b21aaf87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70" y="6401752"/>
            <a:ext cx="178118" cy="178118"/>
          </a:xfrm>
          <a:prstGeom prst="rect">
            <a:avLst/>
          </a:prstGeom>
        </p:spPr>
      </p:pic>
      <p:pic>
        <p:nvPicPr>
          <p:cNvPr id="13" name="Picture 12" descr="5b29d22d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905" y="6401752"/>
            <a:ext cx="178118" cy="178118"/>
          </a:xfrm>
          <a:prstGeom prst="rect">
            <a:avLst/>
          </a:prstGeom>
        </p:spPr>
      </p:pic>
      <p:pic>
        <p:nvPicPr>
          <p:cNvPr id="14" name="Picture 13" descr="dadcd76f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6388" y="6401752"/>
            <a:ext cx="178118" cy="1781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32032" y="2000250"/>
            <a:ext cx="4052888" cy="471488"/>
          </a:xfrm>
          <a:prstGeom prst="roundRect">
            <a:avLst>
              <a:gd name="adj" fmla="val 50000"/>
            </a:avLst>
          </a:prstGeom>
          <a:solidFill>
            <a:srgbClr val="4E8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477702" y="2642235"/>
            <a:ext cx="1851660" cy="18516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598920" y="3020378"/>
            <a:ext cx="2638425" cy="769620"/>
          </a:xfrm>
          <a:prstGeom prst="roundRect">
            <a:avLst>
              <a:gd name="adj" fmla="val 200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645920" y="4663440"/>
            <a:ext cx="5157788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912292" y="4663440"/>
            <a:ext cx="5157788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220652" y="2000250"/>
            <a:ext cx="3778568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全員、ここにアクセスしてください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715" y="3020378"/>
            <a:ext cx="2107882" cy="826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89"/>
              </a:lnSpc>
            </a:pPr>
            <a:r>
              <a:rPr sz="1883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— 記入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4620" y="3850958"/>
            <a:ext cx="2867025" cy="320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77"/>
              </a:lnSpc>
            </a:pPr>
            <a:r>
              <a:rPr sz="115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つながらない場合は手を挙げてください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4757738"/>
            <a:ext cx="4812030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カードは自分の画面だけ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2820" y="4757738"/>
            <a:ext cx="4812030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切れても戻れます</a:t>
            </a:r>
          </a:p>
        </p:txBody>
      </p:sp>
      <p:pic>
        <p:nvPicPr>
          <p:cNvPr id="12" name="Picture 11" descr="995d0a3b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2139315"/>
            <a:ext cx="194310" cy="194310"/>
          </a:xfrm>
          <a:prstGeom prst="rect">
            <a:avLst/>
          </a:prstGeom>
        </p:spPr>
      </p:pic>
      <p:pic>
        <p:nvPicPr>
          <p:cNvPr id="13" name="Picture 12" descr="a3e3bfe9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787265"/>
            <a:ext cx="178118" cy="178118"/>
          </a:xfrm>
          <a:prstGeom prst="rect">
            <a:avLst/>
          </a:prstGeom>
        </p:spPr>
      </p:pic>
      <p:pic>
        <p:nvPicPr>
          <p:cNvPr id="14" name="Picture 13" descr="1f11ed96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0" y="4787265"/>
            <a:ext cx="178118" cy="1781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72050" y="385762"/>
            <a:ext cx="3771900" cy="471488"/>
          </a:xfrm>
          <a:prstGeom prst="roundRect">
            <a:avLst>
              <a:gd name="adj" fmla="val 50000"/>
            </a:avLst>
          </a:prstGeom>
          <a:solidFill>
            <a:srgbClr val="4E8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126480" y="6732270"/>
            <a:ext cx="987742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425" y="1027748"/>
            <a:ext cx="8438198" cy="5273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60670" y="385762"/>
            <a:ext cx="3497580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盤面は24マス・6歳から25歳まで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4705" y="6424612"/>
            <a:ext cx="7007542" cy="88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15歳まではサイコロなしで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1マスずつ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——人生の土台をつくる期間。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15歳の進学のトビラからサイコロが始まります。</a:t>
            </a:r>
          </a:p>
        </p:txBody>
      </p:sp>
      <p:pic>
        <p:nvPicPr>
          <p:cNvPr id="7" name="Picture 6" descr="092aaf4a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508" y="524828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08332" y="2403158"/>
            <a:ext cx="2300288" cy="471488"/>
          </a:xfrm>
          <a:prstGeom prst="roundRect">
            <a:avLst>
              <a:gd name="adj" fmla="val 50000"/>
            </a:avLst>
          </a:prstGeom>
          <a:solidFill>
            <a:srgbClr val="4E8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822960" y="3044190"/>
            <a:ext cx="3941445" cy="809625"/>
          </a:xfrm>
          <a:prstGeom prst="roundRect">
            <a:avLst>
              <a:gd name="adj" fmla="val 17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92505" y="3160395"/>
            <a:ext cx="579120" cy="579120"/>
          </a:xfrm>
          <a:prstGeom prst="roundRect">
            <a:avLst>
              <a:gd name="adj" fmla="val 18651"/>
            </a:avLst>
          </a:prstGeom>
          <a:solidFill>
            <a:srgbClr val="FCE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887278" y="3044190"/>
            <a:ext cx="3941445" cy="809625"/>
          </a:xfrm>
          <a:prstGeom prst="roundRect">
            <a:avLst>
              <a:gd name="adj" fmla="val 17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56822" y="3160395"/>
            <a:ext cx="579120" cy="579120"/>
          </a:xfrm>
          <a:prstGeom prst="roundRect">
            <a:avLst>
              <a:gd name="adj" fmla="val 18651"/>
            </a:avLst>
          </a:prstGeom>
          <a:solidFill>
            <a:srgbClr val="F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951595" y="3044190"/>
            <a:ext cx="3941445" cy="809625"/>
          </a:xfrm>
          <a:prstGeom prst="roundRect">
            <a:avLst>
              <a:gd name="adj" fmla="val 17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121140" y="3160395"/>
            <a:ext cx="579120" cy="579120"/>
          </a:xfrm>
          <a:prstGeom prst="roundRect">
            <a:avLst>
              <a:gd name="adj" fmla="val 18651"/>
            </a:avLst>
          </a:prstGeom>
          <a:solidFill>
            <a:srgbClr val="DCD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22960" y="3977640"/>
            <a:ext cx="3941445" cy="809625"/>
          </a:xfrm>
          <a:prstGeom prst="roundRect">
            <a:avLst>
              <a:gd name="adj" fmla="val 17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992505" y="4093845"/>
            <a:ext cx="579120" cy="579120"/>
          </a:xfrm>
          <a:prstGeom prst="roundRect">
            <a:avLst>
              <a:gd name="adj" fmla="val 18651"/>
            </a:avLst>
          </a:prstGeom>
          <a:solidFill>
            <a:srgbClr val="C6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887278" y="3977640"/>
            <a:ext cx="3941445" cy="809625"/>
          </a:xfrm>
          <a:prstGeom prst="roundRect">
            <a:avLst>
              <a:gd name="adj" fmla="val 17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056822" y="4093845"/>
            <a:ext cx="579120" cy="579120"/>
          </a:xfrm>
          <a:prstGeom prst="roundRect">
            <a:avLst>
              <a:gd name="adj" fmla="val 18651"/>
            </a:avLst>
          </a:prstGeom>
          <a:solidFill>
            <a:srgbClr val="F7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951595" y="3977640"/>
            <a:ext cx="3941445" cy="809625"/>
          </a:xfrm>
          <a:prstGeom prst="roundRect">
            <a:avLst>
              <a:gd name="adj" fmla="val 17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121140" y="4093845"/>
            <a:ext cx="579120" cy="579120"/>
          </a:xfrm>
          <a:prstGeom prst="roundRect">
            <a:avLst>
              <a:gd name="adj" fmla="val 18651"/>
            </a:avLst>
          </a:prstGeom>
          <a:solidFill>
            <a:srgbClr val="C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96000" y="2403158"/>
            <a:ext cx="2025968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マスの種類は6つ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4498" y="3175635"/>
            <a:ext cx="3128010" cy="605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9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おしごと</a:t>
            </a:r>
            <a:r>
              <a:rPr sz="112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基本給＋★まなび×掛け率＋仕送り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8815" y="3175635"/>
            <a:ext cx="3128010" cy="605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9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しゅっぴ</a:t>
            </a:r>
            <a:r>
              <a:rPr sz="112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いるものは、いる。決まった額を払う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3132" y="3175635"/>
            <a:ext cx="3128010" cy="605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9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できごと</a:t>
            </a:r>
            <a:r>
              <a:rPr sz="112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カードを1枚引く。幸運も、事故も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4498" y="4245292"/>
            <a:ext cx="2829878" cy="331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9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まなび</a:t>
            </a:r>
            <a:r>
              <a:rPr sz="112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自分に投資する。0円でも学べる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8815" y="4245292"/>
            <a:ext cx="3098482" cy="331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9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トビラ</a:t>
            </a:r>
            <a:r>
              <a:rPr sz="112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人生の分岐点。19年間で6枚に出会う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3132" y="4108132"/>
            <a:ext cx="3128010" cy="605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9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はなしあい</a:t>
            </a:r>
            <a:r>
              <a:rPr sz="112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22歳。ゲームを止めてチームで話す。数字は変わらない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7712" y="4957762"/>
            <a:ext cx="4601528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sz="121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止まったマスの指示に従い、OKを押すと次の人の番になります</a:t>
            </a:r>
          </a:p>
        </p:txBody>
      </p:sp>
      <p:pic>
        <p:nvPicPr>
          <p:cNvPr id="23" name="Picture 22" descr="7ef1eed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838" y="2541270"/>
            <a:ext cx="194310" cy="194310"/>
          </a:xfrm>
          <a:prstGeom prst="rect">
            <a:avLst/>
          </a:prstGeom>
        </p:spPr>
      </p:pic>
      <p:pic>
        <p:nvPicPr>
          <p:cNvPr id="24" name="Picture 23" descr="3d99c9c0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20" y="3318510"/>
            <a:ext cx="261938" cy="261938"/>
          </a:xfrm>
          <a:prstGeom prst="rect">
            <a:avLst/>
          </a:prstGeom>
        </p:spPr>
      </p:pic>
      <p:pic>
        <p:nvPicPr>
          <p:cNvPr id="25" name="Picture 24" descr="a9d316b1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38" y="3318510"/>
            <a:ext cx="261938" cy="261938"/>
          </a:xfrm>
          <a:prstGeom prst="rect">
            <a:avLst/>
          </a:prstGeom>
        </p:spPr>
      </p:pic>
      <p:pic>
        <p:nvPicPr>
          <p:cNvPr id="26" name="Picture 25" descr="7bf4505d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0208" y="3318510"/>
            <a:ext cx="261938" cy="261938"/>
          </a:xfrm>
          <a:prstGeom prst="rect">
            <a:avLst/>
          </a:prstGeom>
        </p:spPr>
      </p:pic>
      <p:pic>
        <p:nvPicPr>
          <p:cNvPr id="27" name="Picture 26" descr="8afc0ea0c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20" y="4251960"/>
            <a:ext cx="261938" cy="261938"/>
          </a:xfrm>
          <a:prstGeom prst="rect">
            <a:avLst/>
          </a:prstGeom>
        </p:spPr>
      </p:pic>
      <p:pic>
        <p:nvPicPr>
          <p:cNvPr id="28" name="Picture 27" descr="96066573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938" y="4251960"/>
            <a:ext cx="261938" cy="261938"/>
          </a:xfrm>
          <a:prstGeom prst="rect">
            <a:avLst/>
          </a:prstGeom>
        </p:spPr>
      </p:pic>
      <p:pic>
        <p:nvPicPr>
          <p:cNvPr id="29" name="Picture 28" descr="6d28f3c5d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0208" y="4251960"/>
            <a:ext cx="261938" cy="2619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50092" y="385762"/>
            <a:ext cx="4615815" cy="47148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6277928"/>
            <a:ext cx="4133850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791075" y="6277928"/>
            <a:ext cx="4133850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32558" y="6277928"/>
            <a:ext cx="4133850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hoice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1027748"/>
            <a:ext cx="6194108" cy="4801552"/>
          </a:xfrm>
          <a:prstGeom prst="rect">
            <a:avLst/>
          </a:prstGeom>
        </p:spPr>
      </p:pic>
      <p:pic>
        <p:nvPicPr>
          <p:cNvPr id="7" name="Picture 6" descr="confirm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130" y="1027748"/>
            <a:ext cx="6194108" cy="4801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8712" y="385762"/>
            <a:ext cx="4341495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トビラとカギ — ここがこのゲームの核心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5110" y="5890260"/>
            <a:ext cx="1395412" cy="320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77"/>
              </a:lnSpc>
            </a:pPr>
            <a:r>
              <a:rPr sz="1154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1. どの道を選ぶか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9395" y="3312795"/>
            <a:ext cx="537210" cy="612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74"/>
              </a:lnSpc>
            </a:pPr>
            <a:r>
              <a:rPr sz="2429" b="1">
                <a:solidFill>
                  <a:srgbClr val="F4879F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3490" y="5890260"/>
            <a:ext cx="2719388" cy="320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77"/>
              </a:lnSpc>
            </a:pPr>
            <a:r>
              <a:rPr sz="1154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2. 開くかどうかは、選んでから分かる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372225"/>
            <a:ext cx="3788092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一覧に出るのは名前だけ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1602" y="6372225"/>
            <a:ext cx="3788092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C98A3C"/>
                </a:solidFill>
                <a:latin typeface="Zen Maru Gothic"/>
                <a:ea typeface="Zen Maru Gothic"/>
                <a:cs typeface="Zen Maru Gothic"/>
              </a:rPr>
              <a:t>選んで、はじめて分かる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4038" y="6372225"/>
            <a:ext cx="3788092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7E6BC4"/>
                </a:solidFill>
                <a:latin typeface="Zen Maru Gothic"/>
                <a:ea typeface="Zen Maru Gothic"/>
                <a:cs typeface="Zen Maru Gothic"/>
              </a:rPr>
              <a:t>？？？</a:t>
            </a:r>
          </a:p>
        </p:txBody>
      </p:sp>
      <p:pic>
        <p:nvPicPr>
          <p:cNvPr id="15" name="Picture 14" descr="96066573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0" y="524828"/>
            <a:ext cx="194310" cy="194310"/>
          </a:xfrm>
          <a:prstGeom prst="rect">
            <a:avLst/>
          </a:prstGeom>
        </p:spPr>
      </p:pic>
      <p:pic>
        <p:nvPicPr>
          <p:cNvPr id="16" name="Picture 15" descr="5b29d22d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70" y="6401752"/>
            <a:ext cx="178118" cy="178118"/>
          </a:xfrm>
          <a:prstGeom prst="rect">
            <a:avLst/>
          </a:prstGeom>
        </p:spPr>
      </p:pic>
      <p:pic>
        <p:nvPicPr>
          <p:cNvPr id="17" name="Picture 16" descr="2facab2a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905" y="6401752"/>
            <a:ext cx="178118" cy="178118"/>
          </a:xfrm>
          <a:prstGeom prst="rect">
            <a:avLst/>
          </a:prstGeom>
        </p:spPr>
      </p:pic>
      <p:pic>
        <p:nvPicPr>
          <p:cNvPr id="18" name="Picture 17" descr="37db8309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6388" y="6401752"/>
            <a:ext cx="178118" cy="1781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38725" y="385762"/>
            <a:ext cx="3637598" cy="471488"/>
          </a:xfrm>
          <a:prstGeom prst="roundRect">
            <a:avLst>
              <a:gd name="adj" fmla="val 50000"/>
            </a:avLst>
          </a:prstGeom>
          <a:solidFill>
            <a:srgbClr val="FBD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2985135" y="5645468"/>
            <a:ext cx="7745730" cy="1606868"/>
          </a:xfrm>
          <a:prstGeom prst="roundRect">
            <a:avLst>
              <a:gd name="adj" fmla="val 12483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408" y="1027748"/>
            <a:ext cx="7195185" cy="4494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7345" y="385762"/>
            <a:ext cx="3363278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7A6320"/>
                </a:solidFill>
                <a:latin typeface="Zen Maru Gothic"/>
                <a:ea typeface="Zen Maru Gothic"/>
                <a:cs typeface="Zen Maru Gothic"/>
              </a:rPr>
              <a:t>同じ★でも、入るお金がちがう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7070" y="5645468"/>
            <a:ext cx="7617142" cy="1664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52"/>
              </a:lnSpc>
            </a:pPr>
            <a:r>
              <a:rPr sz="1640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
      日本・欧米で育つと、</a:t>
            </a:r>
            <a:r>
              <a:rPr sz="1640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★1つが10万</a:t>
            </a:r>
            <a:r>
              <a:rPr sz="1640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  <a:p>
            <a:pPr algn="ctr">
              <a:lnSpc>
                <a:spcPts val="2952"/>
              </a:lnSpc>
            </a:pPr>
            <a:r>
              <a:rPr sz="1640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
      ウガンダで育つと、</a:t>
            </a:r>
            <a:r>
              <a:rPr sz="1640" b="1">
                <a:solidFill>
                  <a:srgbClr val="F4879F"/>
                </a:solidFill>
                <a:latin typeface="Zen Maru Gothic"/>
                <a:ea typeface="Zen Maru Gothic"/>
                <a:cs typeface="Zen Maru Gothic"/>
              </a:rPr>
              <a:t>★1つは5万</a:t>
            </a:r>
            <a:r>
              <a:rPr sz="1640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。はたらきはじめの基本給も、20万と10万。</a:t>
            </a:r>
          </a:p>
          <a:p>
            <a:pPr algn="ctr">
              <a:lnSpc>
                <a:spcPts val="2952"/>
              </a:lnSpc>
            </a:pP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この2つは</a:t>
            </a:r>
            <a:r>
              <a:rPr sz="1336" b="1">
                <a:solidFill>
                  <a:srgbClr val="F4879F"/>
                </a:solidFill>
                <a:latin typeface="Zen Maru Gothic"/>
                <a:ea typeface="Zen Maru Gothic"/>
                <a:cs typeface="Zen Maru Gothic"/>
              </a:rPr>
              <a:t>生まれた場所で決まっていて</a:t>
            </a: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、</a:t>
            </a: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カードにも盤面にも出てきません</a:t>
            </a:r>
          </a:p>
        </p:txBody>
      </p:sp>
      <p:pic>
        <p:nvPicPr>
          <p:cNvPr id="7" name="Picture 6" descr="adf95adf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182" y="524828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46370" y="2389822"/>
            <a:ext cx="3223260" cy="471488"/>
          </a:xfrm>
          <a:prstGeom prst="roundRect">
            <a:avLst>
              <a:gd name="adj" fmla="val 50000"/>
            </a:avLst>
          </a:prstGeom>
          <a:solidFill>
            <a:srgbClr val="4E8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1234440" y="3030855"/>
            <a:ext cx="11247120" cy="933450"/>
          </a:xfrm>
          <a:prstGeom prst="roundRect">
            <a:avLst>
              <a:gd name="adj" fmla="val 16530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460182" y="3194685"/>
            <a:ext cx="385762" cy="385762"/>
          </a:xfrm>
          <a:prstGeom prst="ellipse">
            <a:avLst/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234440" y="4103370"/>
            <a:ext cx="11247120" cy="698182"/>
          </a:xfrm>
          <a:prstGeom prst="roundRect">
            <a:avLst>
              <a:gd name="adj" fmla="val 22100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460182" y="4267200"/>
            <a:ext cx="385762" cy="385762"/>
          </a:xfrm>
          <a:prstGeom prst="ellipse">
            <a:avLst/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34990" y="2389822"/>
            <a:ext cx="2948940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奨学金と、順位の決まり方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4488" y="3194685"/>
            <a:ext cx="460058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5490" y="3179445"/>
            <a:ext cx="10468928" cy="693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「奨学金・支援団体の力で進学」は</a:t>
            </a:r>
            <a:r>
              <a:rPr sz="1518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貸与型（総額48万）</a:t>
            </a: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。働くたびに−6万ずつ返し続けます。</a:t>
            </a:r>
            <a:r>
              <a:rPr sz="1518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25歳では返し終わりません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0678" y="4267200"/>
            <a:ext cx="46291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5490" y="4251960"/>
            <a:ext cx="10468928" cy="3752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順位を決めるのは、お金ではなく</a:t>
            </a:r>
            <a:r>
              <a:rPr sz="1518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♥ハッピーの数</a:t>
            </a: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＝人生の選択肢を多く持ち、</a:t>
            </a:r>
            <a:r>
              <a:rPr sz="1518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自分の意思で選べた回数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4820" y="4971098"/>
            <a:ext cx="516636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sz="121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おかねと★まなびは、♥を得るための「カギ」。目的ではなく手段です</a:t>
            </a:r>
          </a:p>
        </p:txBody>
      </p:sp>
      <p:pic>
        <p:nvPicPr>
          <p:cNvPr id="13" name="Picture 12" descr="23e5ecb7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828" y="2527935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8352" y="2001202"/>
            <a:ext cx="1978342" cy="47148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070985" y="4124325"/>
            <a:ext cx="1142048" cy="417195"/>
          </a:xfrm>
          <a:prstGeom prst="roundRect">
            <a:avLst>
              <a:gd name="adj" fmla="val 50000"/>
            </a:avLst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320665" y="4124325"/>
            <a:ext cx="1142048" cy="4171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70345" y="4124325"/>
            <a:ext cx="844868" cy="4171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522845" y="4124325"/>
            <a:ext cx="873442" cy="4171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503920" y="4124325"/>
            <a:ext cx="1142048" cy="4171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122295" y="4711065"/>
            <a:ext cx="2908935" cy="4305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138862" y="4711065"/>
            <a:ext cx="2098358" cy="4305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345805" y="4711065"/>
            <a:ext cx="2247900" cy="4305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56972" y="2001202"/>
            <a:ext cx="1704022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プレイタイム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3512" y="2643188"/>
            <a:ext cx="3228022" cy="1368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327"/>
              </a:lnSpc>
            </a:pPr>
            <a:r>
              <a:rPr sz="10327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25:00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8142" y="4124325"/>
            <a:ext cx="1139190" cy="474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36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スタート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7822" y="4124325"/>
            <a:ext cx="1139190" cy="474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36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一時停止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7502" y="4124325"/>
            <a:ext cx="842010" cy="474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36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−1分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0002" y="4124325"/>
            <a:ext cx="870585" cy="474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36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＋1分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0125" y="4124325"/>
            <a:ext cx="1139190" cy="474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36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リセット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8050" y="4711065"/>
            <a:ext cx="269748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96"/>
              </a:lnSpc>
            </a:pPr>
            <a:r>
              <a:rPr sz="1275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家庭カードは最後まで自分だけ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618" y="4711065"/>
            <a:ext cx="1886902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96"/>
              </a:lnSpc>
            </a:pPr>
            <a:r>
              <a:rPr sz="1275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困ったら手を挙げる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1560" y="4711065"/>
            <a:ext cx="2036445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96"/>
              </a:lnSpc>
            </a:pPr>
            <a:r>
              <a:rPr sz="1275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全員25歳ゴールで終了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372" y="5373052"/>
            <a:ext cx="897255" cy="320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77"/>
              </a:lnSpc>
            </a:pPr>
            <a:r>
              <a:rPr sz="115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— 記入 —</a:t>
            </a:r>
          </a:p>
        </p:txBody>
      </p:sp>
      <p:pic>
        <p:nvPicPr>
          <p:cNvPr id="22" name="Picture 21" descr="092aaf4a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810" y="2140268"/>
            <a:ext cx="194310" cy="194310"/>
          </a:xfrm>
          <a:prstGeom prst="rect">
            <a:avLst/>
          </a:prstGeom>
        </p:spPr>
      </p:pic>
      <p:pic>
        <p:nvPicPr>
          <p:cNvPr id="23" name="Picture 22" descr="2093fb5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272" y="4841558"/>
            <a:ext cx="170498" cy="170498"/>
          </a:xfrm>
          <a:prstGeom prst="rect">
            <a:avLst/>
          </a:prstGeom>
        </p:spPr>
      </p:pic>
      <p:pic>
        <p:nvPicPr>
          <p:cNvPr id="24" name="Picture 23" descr="25c5ca3a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840" y="4841558"/>
            <a:ext cx="170498" cy="170498"/>
          </a:xfrm>
          <a:prstGeom prst="rect">
            <a:avLst/>
          </a:prstGeom>
        </p:spPr>
      </p:pic>
      <p:pic>
        <p:nvPicPr>
          <p:cNvPr id="25" name="Picture 24" descr="4d8d3861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5830" y="4841558"/>
            <a:ext cx="170498" cy="1704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46370" y="385762"/>
            <a:ext cx="3223260" cy="471488"/>
          </a:xfrm>
          <a:prstGeom prst="roundRect">
            <a:avLst>
              <a:gd name="adj" fmla="val 50000"/>
            </a:avLst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6277928"/>
            <a:ext cx="4133850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791075" y="6277928"/>
            <a:ext cx="4133850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32558" y="6277928"/>
            <a:ext cx="4133850" cy="974408"/>
          </a:xfrm>
          <a:prstGeom prst="roundRect">
            <a:avLst>
              <a:gd name="adj" fmla="val 126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630" y="1027748"/>
            <a:ext cx="8207692" cy="51263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4990" y="385762"/>
            <a:ext cx="2948940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まず、結果を全員で見ます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372225"/>
            <a:ext cx="3788092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順位は♥の数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1602" y="6372225"/>
            <a:ext cx="3788092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家庭カードが公開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4038" y="6372225"/>
            <a:ext cx="3788092" cy="2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sz="1336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奨学金の残り</a:t>
            </a:r>
          </a:p>
        </p:txBody>
      </p:sp>
      <p:pic>
        <p:nvPicPr>
          <p:cNvPr id="11" name="Picture 10" descr="8ece8238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828" y="524828"/>
            <a:ext cx="194310" cy="194310"/>
          </a:xfrm>
          <a:prstGeom prst="rect">
            <a:avLst/>
          </a:prstGeom>
        </p:spPr>
      </p:pic>
      <p:pic>
        <p:nvPicPr>
          <p:cNvPr id="12" name="Picture 11" descr="eea51cc2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70" y="6401752"/>
            <a:ext cx="178118" cy="178118"/>
          </a:xfrm>
          <a:prstGeom prst="rect">
            <a:avLst/>
          </a:prstGeom>
        </p:spPr>
      </p:pic>
      <p:pic>
        <p:nvPicPr>
          <p:cNvPr id="13" name="Picture 12" descr="a33551a2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905" y="6401752"/>
            <a:ext cx="178118" cy="178118"/>
          </a:xfrm>
          <a:prstGeom prst="rect">
            <a:avLst/>
          </a:prstGeom>
        </p:spPr>
      </p:pic>
      <p:pic>
        <p:nvPicPr>
          <p:cNvPr id="14" name="Picture 13" descr="5baef69d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6388" y="6401752"/>
            <a:ext cx="178118" cy="1781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46370" y="385762"/>
            <a:ext cx="3223260" cy="47148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2843212" y="5905500"/>
            <a:ext cx="4922520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22720" y="6732270"/>
            <a:ext cx="2013585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41470" y="7146608"/>
            <a:ext cx="2747962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v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508" y="1027748"/>
            <a:ext cx="7118032" cy="44462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4990" y="385762"/>
            <a:ext cx="2948940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誰が、どの扉を選んだのか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2622" y="5597842"/>
            <a:ext cx="9849802" cy="1712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誰のネタバラシでも、自分の画面から開けます。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19年間の扉が全部ならびます。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4CA872"/>
                </a:solidFill>
                <a:latin typeface="Zen Maru Gothic"/>
                <a:ea typeface="Zen Maru Gothic"/>
                <a:cs typeface="Zen Maru Gothic"/>
              </a:rPr>
              <a:t>えらんだ</a:t>
            </a:r>
            <a:r>
              <a:rPr sz="1761" b="1">
                <a:solidFill>
                  <a:srgbClr val="4CA872"/>
                </a:solidFill>
                <a:latin typeface="Zen Maru Gothic"/>
                <a:ea typeface="Zen Maru Gothic"/>
                <a:cs typeface="Zen Maru Gothic"/>
              </a:rPr>
              <a:t>開けられた</a:t>
            </a:r>
            <a:r>
              <a:rPr sz="1761" b="1">
                <a:solidFill>
                  <a:srgbClr val="C98A3C"/>
                </a:solidFill>
                <a:latin typeface="Zen Maru Gothic"/>
                <a:ea typeface="Zen Maru Gothic"/>
                <a:cs typeface="Zen Maru Gothic"/>
              </a:rPr>
              <a:t>カギ不足</a:t>
            </a:r>
            <a:r>
              <a:rPr sz="1761" b="1">
                <a:solidFill>
                  <a:srgbClr val="7E6BC4"/>
                </a:solidFill>
                <a:latin typeface="Zen Maru Gothic"/>
                <a:ea typeface="Zen Maru Gothic"/>
                <a:cs typeface="Zen Maru Gothic"/>
              </a:rPr>
              <a:t>見えてなかった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
      紫の行が、ゲーム中「？？？」だったもの。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本当は何だったのか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が、ここで初めて分かります。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まず、自分の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「見えていなかった ◯枚」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を声に出して読み上げてみてください。</a:t>
            </a:r>
          </a:p>
        </p:txBody>
      </p:sp>
      <p:pic>
        <p:nvPicPr>
          <p:cNvPr id="9" name="Picture 8" descr="96066573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828" y="524828"/>
            <a:ext cx="194310" cy="194310"/>
          </a:xfrm>
          <a:prstGeom prst="rect">
            <a:avLst/>
          </a:prstGeom>
        </p:spPr>
      </p:pic>
      <p:pic>
        <p:nvPicPr>
          <p:cNvPr id="10" name="Picture 9" descr="dedbf7a2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465" y="6107430"/>
            <a:ext cx="235268" cy="235268"/>
          </a:xfrm>
          <a:prstGeom prst="rect">
            <a:avLst/>
          </a:prstGeom>
        </p:spPr>
      </p:pic>
      <p:pic>
        <p:nvPicPr>
          <p:cNvPr id="11" name="Picture 10" descr="1f2a15ff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6832" y="6107430"/>
            <a:ext cx="235268" cy="235268"/>
          </a:xfrm>
          <a:prstGeom prst="rect">
            <a:avLst/>
          </a:prstGeom>
        </p:spPr>
      </p:pic>
      <p:pic>
        <p:nvPicPr>
          <p:cNvPr id="12" name="Picture 11" descr="2facab2a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038" y="6107430"/>
            <a:ext cx="235268" cy="235268"/>
          </a:xfrm>
          <a:prstGeom prst="rect">
            <a:avLst/>
          </a:prstGeom>
        </p:spPr>
      </p:pic>
      <p:pic>
        <p:nvPicPr>
          <p:cNvPr id="13" name="Picture 12" descr="37db8309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405" y="6107430"/>
            <a:ext cx="235268" cy="2352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4120" y="2467928"/>
            <a:ext cx="1127760" cy="45624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41758" y="2467928"/>
            <a:ext cx="1093470" cy="51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問い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3658" y="3093720"/>
            <a:ext cx="8528685" cy="1685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結果画面で、</a:t>
            </a:r>
            <a:r>
              <a:rPr sz="2673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★の数が近い人</a:t>
            </a: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を2人さがしてください。</a:t>
            </a:r>
          </a:p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おかねの増え方は、同じでしたか？</a:t>
            </a:r>
          </a:p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それは本人の</a:t>
            </a:r>
            <a:r>
              <a:rPr sz="2673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努力のちがい</a:t>
            </a: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だろうか？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0990" y="4892992"/>
            <a:ext cx="5733098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sz="121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基本給は20万と10万、★1つは10万と5万。どちらも生まれた場所で決まっていた</a:t>
            </a:r>
          </a:p>
        </p:txBody>
      </p:sp>
      <p:pic>
        <p:nvPicPr>
          <p:cNvPr id="6" name="Picture 5" descr="49c8b010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212" y="4951095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1262" y="2467928"/>
            <a:ext cx="1133475" cy="45624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38900" y="2467928"/>
            <a:ext cx="1100138" cy="51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問い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9858" y="3093720"/>
            <a:ext cx="8376285" cy="1685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自分のカードの</a:t>
            </a:r>
            <a:r>
              <a:rPr sz="2673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「見えていなかった ◯」</a:t>
            </a: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を</a:t>
            </a:r>
          </a:p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読み上げてください。</a:t>
            </a:r>
          </a:p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チームで数字がちがいます。</a:t>
            </a:r>
            <a:r>
              <a:rPr sz="2673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何が</a:t>
            </a: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その差をつくった？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6865" y="4892992"/>
            <a:ext cx="3160395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sz="121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結果画面の帯グラフ。紫の部分の数字です</a:t>
            </a:r>
          </a:p>
        </p:txBody>
      </p:sp>
      <p:pic>
        <p:nvPicPr>
          <p:cNvPr id="6" name="Picture 5" descr="d07e4653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088" y="4951095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8405" y="2467928"/>
            <a:ext cx="1139190" cy="45624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36042" y="2467928"/>
            <a:ext cx="1105852" cy="51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問い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9900" y="3093720"/>
            <a:ext cx="7697152" cy="1685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ウガンダの遺児の家庭だった人のネタバラシを、</a:t>
            </a:r>
          </a:p>
          <a:p>
            <a:pPr algn="ctr">
              <a:lnSpc>
                <a:spcPts val="4276"/>
              </a:lnSpc>
            </a:pPr>
            <a:r>
              <a:rPr sz="2673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全員が自分の画面で</a:t>
            </a: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開いてください。</a:t>
            </a:r>
          </a:p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その人には、何が</a:t>
            </a:r>
            <a:r>
              <a:rPr sz="2673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「見えて」</a:t>
            </a: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いた？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2492" y="4892992"/>
            <a:ext cx="454914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sz="121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本人に見せてもらう必要はありません。誰のぶんでも開けます</a:t>
            </a:r>
          </a:p>
        </p:txBody>
      </p:sp>
      <p:pic>
        <p:nvPicPr>
          <p:cNvPr id="6" name="Picture 5" descr="bb3a5bc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715" y="4951095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467928"/>
            <a:ext cx="1142048" cy="45624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35090" y="2467928"/>
            <a:ext cx="1108710" cy="51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問い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79445" y="3093720"/>
            <a:ext cx="7358062" cy="1685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今日あなたが持ってきたもの——</a:t>
            </a:r>
          </a:p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スマホ、無料の教科書、給食。</a:t>
            </a:r>
          </a:p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それは、</a:t>
            </a:r>
            <a:r>
              <a:rPr sz="2673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どの家庭カードの世界</a:t>
            </a: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のものだった？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91175" y="4892992"/>
            <a:ext cx="2771775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sz="121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「3つの世界の朝」を思い出しながら</a:t>
            </a:r>
          </a:p>
        </p:txBody>
      </p:sp>
      <p:pic>
        <p:nvPicPr>
          <p:cNvPr id="6" name="Picture 5" descr="100c481a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350" y="4951095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9358" y="2467928"/>
            <a:ext cx="1137285" cy="45624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36995" y="2467928"/>
            <a:ext cx="1103948" cy="51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問い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7625" y="3093720"/>
            <a:ext cx="5999798" cy="1685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日本にいる私たちが、</a:t>
            </a:r>
          </a:p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世界の遺児にわたせる</a:t>
            </a:r>
            <a:r>
              <a:rPr sz="2673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「カギ」</a:t>
            </a: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って、</a:t>
            </a:r>
          </a:p>
          <a:p>
            <a:pPr algn="ctr">
              <a:lnSpc>
                <a:spcPts val="4276"/>
              </a:lnSpc>
            </a:pPr>
            <a:r>
              <a:rPr sz="2673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何だろう？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2492" y="4892992"/>
            <a:ext cx="454914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sz="121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正解はありません。話したくないことは話さなくて大丈夫です</a:t>
            </a:r>
          </a:p>
        </p:txBody>
      </p:sp>
      <p:pic>
        <p:nvPicPr>
          <p:cNvPr id="6" name="Picture 5" descr="9be6349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715" y="4951095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1660" y="1598295"/>
            <a:ext cx="2393632" cy="47148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3291840" y="3618548"/>
            <a:ext cx="1600200" cy="1010602"/>
          </a:xfrm>
          <a:prstGeom prst="roundRect">
            <a:avLst>
              <a:gd name="adj" fmla="val 152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371148" y="3618548"/>
            <a:ext cx="2426018" cy="1010602"/>
          </a:xfrm>
          <a:prstGeom prst="roundRect">
            <a:avLst>
              <a:gd name="adj" fmla="val 152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75320" y="3618548"/>
            <a:ext cx="2148840" cy="1010602"/>
          </a:xfrm>
          <a:prstGeom prst="roundRect">
            <a:avLst>
              <a:gd name="adj" fmla="val 15268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061460" y="5106352"/>
            <a:ext cx="5594032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62650" y="5520690"/>
            <a:ext cx="2685098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50280" y="1598295"/>
            <a:ext cx="2119312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ゲームから現実へ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0568" y="2239328"/>
            <a:ext cx="4635818" cy="1266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生まれた場所の差は、</a:t>
            </a:r>
          </a:p>
          <a:p>
            <a:pPr algn="ctr">
              <a:lnSpc>
                <a:spcPts val="4762"/>
              </a:lnSpc>
            </a:pP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連鎖していく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2332" y="4215765"/>
            <a:ext cx="1343025" cy="3067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sz="109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初期資金・基本給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6325" y="3618548"/>
            <a:ext cx="490538" cy="106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sz="2065" b="1">
                <a:solidFill>
                  <a:srgbClr val="F4879F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7830" y="4215765"/>
            <a:ext cx="2172652" cy="3067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sz="109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知っている支援・出会える情報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498" y="3618548"/>
            <a:ext cx="490538" cy="106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sz="2065" b="1">
                <a:solidFill>
                  <a:srgbClr val="F4879F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2002" y="4215765"/>
            <a:ext cx="1895475" cy="3067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sz="109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同じ★でも、かせぎが違う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4205" y="4798695"/>
            <a:ext cx="7388542" cy="12982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学べば報われる、は、場が用意されている人の話です。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そしてその差は、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次の世代の「生まれの差」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へ——。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ゲームで見た「？？？」も「カギ不足」も、いまの世界に実在します。</a:t>
            </a:r>
          </a:p>
        </p:txBody>
      </p:sp>
      <p:pic>
        <p:nvPicPr>
          <p:cNvPr id="16" name="Picture 15" descr="995d0a3b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118" y="1736408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50192" y="1435418"/>
            <a:ext cx="3015615" cy="471488"/>
          </a:xfrm>
          <a:prstGeom prst="roundRect">
            <a:avLst>
              <a:gd name="adj" fmla="val 50000"/>
            </a:avLst>
          </a:prstGeom>
          <a:solidFill>
            <a:srgbClr val="FBD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1234440" y="2076450"/>
            <a:ext cx="11247120" cy="698182"/>
          </a:xfrm>
          <a:prstGeom prst="roundRect">
            <a:avLst>
              <a:gd name="adj" fmla="val 22100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460182" y="2240280"/>
            <a:ext cx="385762" cy="385762"/>
          </a:xfrm>
          <a:prstGeom prst="ellipse">
            <a:avLst/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234440" y="2913698"/>
            <a:ext cx="11247120" cy="933450"/>
          </a:xfrm>
          <a:prstGeom prst="roundRect">
            <a:avLst>
              <a:gd name="adj" fmla="val 16530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460182" y="3077528"/>
            <a:ext cx="385762" cy="385762"/>
          </a:xfrm>
          <a:prstGeom prst="ellipse">
            <a:avLst/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234440" y="3985260"/>
            <a:ext cx="11247120" cy="933450"/>
          </a:xfrm>
          <a:prstGeom prst="roundRect">
            <a:avLst>
              <a:gd name="adj" fmla="val 16530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460182" y="4149090"/>
            <a:ext cx="385762" cy="385762"/>
          </a:xfrm>
          <a:prstGeom prst="ellipse">
            <a:avLst/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234440" y="5057775"/>
            <a:ext cx="11247120" cy="698182"/>
          </a:xfrm>
          <a:prstGeom prst="roundRect">
            <a:avLst>
              <a:gd name="adj" fmla="val 22100"/>
            </a:avLst>
          </a:prstGeom>
          <a:solidFill>
            <a:srgbClr val="FFFFFF"/>
          </a:solidFill>
          <a:ln w="9525">
            <a:solidFill>
              <a:srgbClr val="E3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460182" y="5221605"/>
            <a:ext cx="385762" cy="385762"/>
          </a:xfrm>
          <a:prstGeom prst="ellipse">
            <a:avLst/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38812" y="1435418"/>
            <a:ext cx="2741295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7A6320"/>
                </a:solidFill>
                <a:latin typeface="Zen Maru Gothic"/>
                <a:ea typeface="Zen Maru Gothic"/>
                <a:cs typeface="Zen Maru Gothic"/>
              </a:rPr>
              <a:t>だから、「支援」がある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4488" y="2240280"/>
            <a:ext cx="460058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490" y="2225040"/>
            <a:ext cx="10468928" cy="3752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この連鎖は、</a:t>
            </a:r>
            <a:r>
              <a:rPr sz="1518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本人の努力だけでは断ち切れない</a:t>
            </a: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。だから世界には、遺児を支える仕組みと人がいる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0678" y="3077528"/>
            <a:ext cx="46291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5490" y="3062288"/>
            <a:ext cx="10468928" cy="693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あしなが育英会は</a:t>
            </a:r>
            <a:r>
              <a:rPr sz="1518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「あしながウガンダ」</a:t>
            </a: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で、現地の遺児の教育を実際に支えている——ゲームに出てきた支援団体のモデル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7820" y="4149090"/>
            <a:ext cx="465772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5490" y="4133850"/>
            <a:ext cx="10468928" cy="693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sz="1518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AAI</a:t>
            </a: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は、アフリカの遺児を海外の大学へ送り出す奨学金。カギはお金ではなく、まなびと</a:t>
            </a:r>
            <a:r>
              <a:rPr sz="1518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「志」</a:t>
            </a: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——祖国に貢献するリーダーを育てる「約束」の仕組み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6868" y="5221605"/>
            <a:ext cx="467678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5490" y="5206365"/>
            <a:ext cx="10468928" cy="3752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5"/>
              </a:lnSpc>
            </a:pPr>
            <a:r>
              <a:rPr sz="151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そして、その入り口に立っているのが——</a:t>
            </a:r>
            <a:r>
              <a:rPr sz="1518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いま街頭に立っている、みなさんです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0780" y="5925502"/>
            <a:ext cx="8853488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87"/>
              </a:lnSpc>
            </a:pPr>
            <a:r>
              <a:rPr sz="1214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ゲームでAAIを選んだ人は、お金を1円も払っていません。25歳のいま、その人がどこで何をしていたか、読んでみてください</a:t>
            </a:r>
          </a:p>
        </p:txBody>
      </p:sp>
      <p:pic>
        <p:nvPicPr>
          <p:cNvPr id="21" name="Picture 20" descr="1b2e1edd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650" y="1574482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54015" y="2394585"/>
            <a:ext cx="2807970" cy="471488"/>
          </a:xfrm>
          <a:prstGeom prst="roundRect">
            <a:avLst>
              <a:gd name="adj" fmla="val 50000"/>
            </a:avLst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38812" y="5136832"/>
            <a:ext cx="1119188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42635" y="2394585"/>
            <a:ext cx="2533650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ここからは、検証です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8528" y="3036570"/>
            <a:ext cx="6798945" cy="1266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今度は</a:t>
            </a:r>
            <a:r>
              <a:rPr sz="3401" b="1">
                <a:solidFill>
                  <a:srgbClr val="5B7FA8"/>
                </a:solidFill>
                <a:latin typeface="Zen Maru Gothic"/>
                <a:ea typeface="Zen Maru Gothic"/>
                <a:cs typeface="Zen Maru Gothic"/>
              </a:rPr>
              <a:t>「届ける側」</a:t>
            </a: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として、</a:t>
            </a:r>
          </a:p>
          <a:p>
            <a:pPr algn="ctr">
              <a:lnSpc>
                <a:spcPts val="4762"/>
              </a:lnSpc>
            </a:pP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いまの75分を振り返ってください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7090" y="4415790"/>
            <a:ext cx="6940868" cy="88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このゲームは、まだ完成していません。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今日みなさんが感じた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引っかかり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が、そのまま改善点になります。</a:t>
            </a:r>
          </a:p>
        </p:txBody>
      </p:sp>
      <p:pic>
        <p:nvPicPr>
          <p:cNvPr id="7" name="Picture 6" descr="867d447a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472" y="2533650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24388" y="2127885"/>
            <a:ext cx="4467225" cy="471488"/>
          </a:xfrm>
          <a:prstGeom prst="roundRect">
            <a:avLst>
              <a:gd name="adj" fmla="val 50000"/>
            </a:avLst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1371600" y="2769870"/>
            <a:ext cx="5424488" cy="809625"/>
          </a:xfrm>
          <a:prstGeom prst="roundRect">
            <a:avLst>
              <a:gd name="adj" fmla="val 17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541145" y="2885122"/>
            <a:ext cx="579120" cy="579120"/>
          </a:xfrm>
          <a:prstGeom prst="roundRect">
            <a:avLst>
              <a:gd name="adj" fmla="val 18651"/>
            </a:avLst>
          </a:prstGeom>
          <a:solidFill>
            <a:srgbClr val="C6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919912" y="2769870"/>
            <a:ext cx="5424488" cy="809625"/>
          </a:xfrm>
          <a:prstGeom prst="roundRect">
            <a:avLst>
              <a:gd name="adj" fmla="val 17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089458" y="2885122"/>
            <a:ext cx="579120" cy="579120"/>
          </a:xfrm>
          <a:prstGeom prst="roundRect">
            <a:avLst>
              <a:gd name="adj" fmla="val 18651"/>
            </a:avLst>
          </a:prstGeom>
          <a:solidFill>
            <a:srgbClr val="DCD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71600" y="3703320"/>
            <a:ext cx="5424488" cy="809625"/>
          </a:xfrm>
          <a:prstGeom prst="roundRect">
            <a:avLst>
              <a:gd name="adj" fmla="val 17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541145" y="3818572"/>
            <a:ext cx="579120" cy="579120"/>
          </a:xfrm>
          <a:prstGeom prst="roundRect">
            <a:avLst>
              <a:gd name="adj" fmla="val 18651"/>
            </a:avLst>
          </a:prstGeom>
          <a:solidFill>
            <a:srgbClr val="F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919912" y="3703320"/>
            <a:ext cx="5424488" cy="809625"/>
          </a:xfrm>
          <a:prstGeom prst="roundRect">
            <a:avLst>
              <a:gd name="adj" fmla="val 17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7089458" y="3818572"/>
            <a:ext cx="579120" cy="579120"/>
          </a:xfrm>
          <a:prstGeom prst="roundRect">
            <a:avLst>
              <a:gd name="adj" fmla="val 18651"/>
            </a:avLst>
          </a:prstGeom>
          <a:solidFill>
            <a:srgbClr val="FCE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955858" y="5403532"/>
            <a:ext cx="3579495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3008" y="2127885"/>
            <a:ext cx="4192905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気になるところを、全部出してください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3138" y="3037522"/>
            <a:ext cx="3608070" cy="331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9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時間</a:t>
            </a:r>
            <a:r>
              <a:rPr sz="112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25分で終わった？ 長すぎた・短すぎたのはどこ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1450" y="3037522"/>
            <a:ext cx="4219575" cy="331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9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つまずき</a:t>
            </a:r>
            <a:r>
              <a:rPr sz="112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ルールで分からなかったこと、操作で迷ったところ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3138" y="3970972"/>
            <a:ext cx="3579495" cy="331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9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表現</a:t>
            </a:r>
            <a:r>
              <a:rPr sz="112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「この言い方は違う」「強すぎる／弱すぎる」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1450" y="3970972"/>
            <a:ext cx="3471862" cy="331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97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届け方</a:t>
            </a:r>
            <a:r>
              <a:rPr sz="1123" b="1">
                <a:solidFill>
                  <a:srgbClr val="8A97A5"/>
                </a:solidFill>
                <a:latin typeface="Zen Maru Gothic"/>
                <a:ea typeface="Zen Maru Gothic"/>
                <a:cs typeface="Zen Maru Gothic"/>
              </a:rPr>
              <a:t>高校生に届けるなら、何を削り、何を足す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7160" y="4682490"/>
            <a:ext cx="5822632" cy="88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数字のバランス、扉の選択肢、エンディングの文章——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「ここは違うと思う」を、遠慮なく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。</a:t>
            </a:r>
          </a:p>
        </p:txBody>
      </p:sp>
      <p:pic>
        <p:nvPicPr>
          <p:cNvPr id="18" name="Picture 17" descr="b7c36b66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845" y="2266950"/>
            <a:ext cx="194310" cy="194310"/>
          </a:xfrm>
          <a:prstGeom prst="rect">
            <a:avLst/>
          </a:prstGeom>
        </p:spPr>
      </p:pic>
      <p:pic>
        <p:nvPicPr>
          <p:cNvPr id="19" name="Picture 18" descr="ad04ca62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260" y="3043238"/>
            <a:ext cx="261938" cy="261938"/>
          </a:xfrm>
          <a:prstGeom prst="rect">
            <a:avLst/>
          </a:prstGeom>
        </p:spPr>
      </p:pic>
      <p:pic>
        <p:nvPicPr>
          <p:cNvPr id="20" name="Picture 19" descr="f5603e6f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572" y="3043238"/>
            <a:ext cx="261938" cy="261938"/>
          </a:xfrm>
          <a:prstGeom prst="rect">
            <a:avLst/>
          </a:prstGeom>
        </p:spPr>
      </p:pic>
      <p:pic>
        <p:nvPicPr>
          <p:cNvPr id="21" name="Picture 20" descr="374ef3bd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260" y="3976688"/>
            <a:ext cx="261938" cy="261938"/>
          </a:xfrm>
          <a:prstGeom prst="rect">
            <a:avLst/>
          </a:prstGeom>
        </p:spPr>
      </p:pic>
      <p:pic>
        <p:nvPicPr>
          <p:cNvPr id="22" name="Picture 21" descr="325205dc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572" y="3976688"/>
            <a:ext cx="261938" cy="26193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5855" y="2187892"/>
            <a:ext cx="3845242" cy="471488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2718435" y="5344477"/>
            <a:ext cx="5146358" cy="54292"/>
          </a:xfrm>
          <a:prstGeom prst="rect">
            <a:avLst/>
          </a:prstGeom>
          <a:solidFill>
            <a:srgbClr val="FCE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24475" y="2187892"/>
            <a:ext cx="3570922" cy="528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sz="1458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最後に、感想を聞かせてください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9560" y="2829878"/>
            <a:ext cx="5516880" cy="1266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うまく言葉にならなくても</a:t>
            </a:r>
          </a:p>
          <a:p>
            <a:pPr algn="ctr">
              <a:lnSpc>
                <a:spcPts val="4762"/>
              </a:lnSpc>
            </a:pPr>
            <a:r>
              <a:rPr sz="340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かまいません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4135" y="4209098"/>
            <a:ext cx="8507730" cy="12982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今日いちばん心に残った場面。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自分のカードを見たときのこと、他の人のカードを知ったときのこと。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街頭に立つときの言葉が、ひとつでも変わったなら</a:t>
            </a: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——それを聞かせてください。</a:t>
            </a:r>
          </a:p>
        </p:txBody>
      </p:sp>
      <p:pic>
        <p:nvPicPr>
          <p:cNvPr id="7" name="Picture 6" descr="8f9f87c3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312" y="2326958"/>
            <a:ext cx="194310" cy="1943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6032" y="2272665"/>
            <a:ext cx="1002982" cy="1234440"/>
          </a:xfrm>
          <a:prstGeom prst="roundRect">
            <a:avLst>
              <a:gd name="adj" fmla="val 50000"/>
            </a:avLst>
          </a:prstGeom>
          <a:solidFill>
            <a:srgbClr val="F48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72238" y="2388870"/>
            <a:ext cx="771525" cy="1002982"/>
          </a:xfrm>
          <a:prstGeom prst="roundRect">
            <a:avLst>
              <a:gd name="adj" fmla="val 50000"/>
            </a:avLst>
          </a:prstGeom>
          <a:solidFill>
            <a:srgbClr val="FBD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73830" y="3676650"/>
            <a:ext cx="5769292" cy="748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443"/>
              </a:lnSpc>
            </a:pPr>
            <a:r>
              <a:rPr sz="3888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3882" y="4537710"/>
            <a:ext cx="4927282" cy="88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あなたの前にも、世界のどこかの子の前にも、</a:t>
            </a:r>
          </a:p>
          <a:p>
            <a:pPr algn="ctr">
              <a:lnSpc>
                <a:spcPts val="3259"/>
              </a:lnSpc>
            </a:pPr>
            <a:r>
              <a:rPr sz="1761" b="1">
                <a:solidFill>
                  <a:srgbClr val="3F5266"/>
                </a:solidFill>
                <a:latin typeface="Zen Maru Gothic"/>
                <a:ea typeface="Zen Maru Gothic"/>
                <a:cs typeface="Zen Maru Gothic"/>
              </a:rPr>
              <a:t>まだ見ぬトビラがたくさんある。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