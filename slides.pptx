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3716000" cy="77247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38.png"/><Relationship Id="rId5" Type="http://schemas.openxmlformats.org/officeDocument/2006/relationships/image" Target="../media/image27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38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10325" y="2302192"/>
            <a:ext cx="895350" cy="1102042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513195" y="2405062"/>
            <a:ext cx="688658" cy="895350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530090" y="4959668"/>
            <a:ext cx="1536382" cy="38385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162675" y="4959668"/>
            <a:ext cx="1644015" cy="38385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902892" y="4959668"/>
            <a:ext cx="1283018" cy="38385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30090" y="3555682"/>
            <a:ext cx="4655820" cy="7896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769"/>
              </a:lnSpc>
            </a:pPr>
            <a:r>
              <a:rPr sz="412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 </a:t>
            </a:r>
            <a:r>
              <a:rPr sz="2060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せかい版 ショート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8020" y="4439602"/>
            <a:ext cx="7299008" cy="426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09"/>
              </a:lnSpc>
            </a:pP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世界のどこかに生まれ、6歳から25歳までを歩く——お金と選択肢の人生ゲーム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5790" y="4959668"/>
            <a:ext cx="1764982" cy="4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49"/>
              </a:lnSpc>
            </a:pPr>
            <a:r>
              <a:rPr sz="113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1チーム 3〜4人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48375" y="4959668"/>
            <a:ext cx="1872615" cy="4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49"/>
              </a:lnSpc>
            </a:pPr>
            <a:r>
              <a:rPr sz="113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ひとり1台の端末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88592" y="4959668"/>
            <a:ext cx="1511618" cy="4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49"/>
              </a:lnSpc>
            </a:pPr>
            <a:r>
              <a:rPr sz="113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プレイ25分</a:t>
            </a:r>
          </a:p>
        </p:txBody>
      </p:sp>
      <p:pic>
        <p:nvPicPr>
          <p:cNvPr id="12" name="Picture 11" descr="80d4f2f3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5075872"/>
            <a:ext cx="151448" cy="151448"/>
          </a:xfrm>
          <a:prstGeom prst="rect">
            <a:avLst/>
          </a:prstGeom>
        </p:spPr>
      </p:pic>
      <p:pic>
        <p:nvPicPr>
          <p:cNvPr id="13" name="Picture 12" descr="295a7d21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1745" y="5075872"/>
            <a:ext cx="151448" cy="151448"/>
          </a:xfrm>
          <a:prstGeom prst="rect">
            <a:avLst/>
          </a:prstGeom>
        </p:spPr>
      </p:pic>
      <p:pic>
        <p:nvPicPr>
          <p:cNvPr id="14" name="Picture 13" descr="9920a104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1962" y="5075872"/>
            <a:ext cx="151448" cy="1514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89282" y="1844040"/>
            <a:ext cx="2338388" cy="421005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057400" y="2417445"/>
            <a:ext cx="9601200" cy="501015"/>
          </a:xfrm>
          <a:prstGeom prst="roundRect">
            <a:avLst>
              <a:gd name="adj" fmla="val 2199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057400" y="2993708"/>
            <a:ext cx="9601200" cy="501015"/>
          </a:xfrm>
          <a:prstGeom prst="roundRect">
            <a:avLst>
              <a:gd name="adj" fmla="val 2199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057400" y="3570922"/>
            <a:ext cx="9601200" cy="501015"/>
          </a:xfrm>
          <a:prstGeom prst="roundRect">
            <a:avLst>
              <a:gd name="adj" fmla="val 21992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057400" y="4147185"/>
            <a:ext cx="9601200" cy="501015"/>
          </a:xfrm>
          <a:prstGeom prst="roundRect">
            <a:avLst>
              <a:gd name="adj" fmla="val 2199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057400" y="4724400"/>
            <a:ext cx="9601200" cy="501015"/>
          </a:xfrm>
          <a:prstGeom prst="roundRect">
            <a:avLst>
              <a:gd name="adj" fmla="val 2199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057400" y="5300662"/>
            <a:ext cx="9601200" cy="501015"/>
          </a:xfrm>
          <a:prstGeom prst="roundRect">
            <a:avLst>
              <a:gd name="adj" fmla="val 2199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574982" y="1844040"/>
            <a:ext cx="2566988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今日の流れ（90分）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1205" y="2506980"/>
            <a:ext cx="848678" cy="379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537"/>
              </a:lnSpc>
            </a:pPr>
            <a:r>
              <a:rPr sz="140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12分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1330" y="2519362"/>
            <a:ext cx="8673465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2"/>
              </a:lnSpc>
            </a:pPr>
            <a:r>
              <a:rPr sz="13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導入 — このゲームは何を体験するものか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1205" y="3083242"/>
            <a:ext cx="848678" cy="379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537"/>
              </a:lnSpc>
            </a:pPr>
            <a:r>
              <a:rPr sz="140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11分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1330" y="3095625"/>
            <a:ext cx="8673465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2"/>
              </a:lnSpc>
            </a:pPr>
            <a:r>
              <a:rPr sz="13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ルール説明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1205" y="3660458"/>
            <a:ext cx="848678" cy="379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537"/>
              </a:lnSpc>
            </a:pPr>
            <a:r>
              <a:rPr sz="1409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25分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1330" y="3671888"/>
            <a:ext cx="8673465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1205" y="4236720"/>
            <a:ext cx="848678" cy="379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537"/>
              </a:lnSpc>
            </a:pPr>
            <a:r>
              <a:rPr sz="140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27分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21330" y="4249102"/>
            <a:ext cx="8673465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2"/>
              </a:lnSpc>
            </a:pPr>
            <a:r>
              <a:rPr sz="13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振り返り — 結果を全員で見る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21205" y="4812982"/>
            <a:ext cx="848678" cy="379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537"/>
              </a:lnSpc>
            </a:pPr>
            <a:r>
              <a:rPr sz="140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10分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1330" y="4825365"/>
            <a:ext cx="8673465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2"/>
              </a:lnSpc>
            </a:pPr>
            <a:r>
              <a:rPr sz="13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検証 — 気になるところの洗い出し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1205" y="5390198"/>
            <a:ext cx="848678" cy="379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537"/>
              </a:lnSpc>
            </a:pPr>
            <a:r>
              <a:rPr sz="140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5分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21330" y="5402580"/>
            <a:ext cx="8673465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2"/>
              </a:lnSpc>
            </a:pPr>
            <a:r>
              <a:rPr sz="13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感想共有</a:t>
            </a:r>
          </a:p>
        </p:txBody>
      </p:sp>
      <p:pic>
        <p:nvPicPr>
          <p:cNvPr id="22" name="Picture 21" descr="f477ab9e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5022" y="1967865"/>
            <a:ext cx="173355" cy="173355"/>
          </a:xfrm>
          <a:prstGeom prst="rect">
            <a:avLst/>
          </a:prstGeom>
        </p:spPr>
      </p:pic>
      <p:pic>
        <p:nvPicPr>
          <p:cNvPr id="23" name="Picture 22" descr="8f224c57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1330" y="2581275"/>
            <a:ext cx="173355" cy="173355"/>
          </a:xfrm>
          <a:prstGeom prst="rect">
            <a:avLst/>
          </a:prstGeom>
        </p:spPr>
      </p:pic>
      <p:pic>
        <p:nvPicPr>
          <p:cNvPr id="24" name="Picture 23" descr="683ca999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1330" y="3157538"/>
            <a:ext cx="173355" cy="173355"/>
          </a:xfrm>
          <a:prstGeom prst="rect">
            <a:avLst/>
          </a:prstGeom>
        </p:spPr>
      </p:pic>
      <p:pic>
        <p:nvPicPr>
          <p:cNvPr id="25" name="Picture 24" descr="092aaf4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1330" y="3733800"/>
            <a:ext cx="173355" cy="173355"/>
          </a:xfrm>
          <a:prstGeom prst="rect">
            <a:avLst/>
          </a:prstGeom>
        </p:spPr>
      </p:pic>
      <p:pic>
        <p:nvPicPr>
          <p:cNvPr id="26" name="Picture 25" descr="98bec61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21330" y="4311015"/>
            <a:ext cx="173355" cy="173355"/>
          </a:xfrm>
          <a:prstGeom prst="rect">
            <a:avLst/>
          </a:prstGeom>
        </p:spPr>
      </p:pic>
      <p:pic>
        <p:nvPicPr>
          <p:cNvPr id="27" name="Picture 26" descr="c2adc338a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21330" y="4887278"/>
            <a:ext cx="173355" cy="173355"/>
          </a:xfrm>
          <a:prstGeom prst="rect">
            <a:avLst/>
          </a:prstGeom>
        </p:spPr>
      </p:pic>
      <p:pic>
        <p:nvPicPr>
          <p:cNvPr id="28" name="Picture 27" descr="432e7fc9e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21330" y="5464492"/>
            <a:ext cx="173355" cy="1733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77802" y="2155508"/>
            <a:ext cx="3161348" cy="421005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960120" y="2727960"/>
            <a:ext cx="3821430" cy="1872615"/>
          </a:xfrm>
          <a:prstGeom prst="roundRect">
            <a:avLst>
              <a:gd name="adj" fmla="val 809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134428" y="3870960"/>
            <a:ext cx="3471862" cy="541020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947285" y="2727960"/>
            <a:ext cx="3821430" cy="1872615"/>
          </a:xfrm>
          <a:prstGeom prst="roundRect">
            <a:avLst>
              <a:gd name="adj" fmla="val 809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121592" y="3870960"/>
            <a:ext cx="3471862" cy="541020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34450" y="2727960"/>
            <a:ext cx="3821430" cy="1872615"/>
          </a:xfrm>
          <a:prstGeom prst="roundRect">
            <a:avLst>
              <a:gd name="adj" fmla="val 809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108758" y="3870960"/>
            <a:ext cx="3471862" cy="541020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358890" y="5391150"/>
            <a:ext cx="119824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63502" y="2155508"/>
            <a:ext cx="3389948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まず、3つの世界の「朝」から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4428" y="2916555"/>
            <a:ext cx="3700462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2"/>
              </a:lnSpc>
            </a:pPr>
            <a:r>
              <a:rPr sz="1301" b="1">
                <a:solidFill>
                  <a:srgbClr val="C4703E"/>
                </a:solidFill>
                <a:latin typeface="Zen Maru Gothic"/>
                <a:ea typeface="Zen Maru Gothic"/>
                <a:cs typeface="Zen Maru Gothic"/>
              </a:rPr>
              <a:t>欧米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4428" y="3296602"/>
            <a:ext cx="370046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35"/>
              </a:lnSpc>
            </a:pPr>
            <a:r>
              <a:rPr sz="113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スクールバスで10分。朝食はシリアルとオレンジジュース。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4428" y="3870960"/>
            <a:ext cx="3700462" cy="598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6"/>
              </a:lnSpc>
            </a:pPr>
            <a:r>
              <a:rPr sz="976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学校に行くのは「当たり前」。図書館もネットも、ぜんぶそろっている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1592" y="2916555"/>
            <a:ext cx="3700462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2"/>
              </a:lnSpc>
            </a:pPr>
            <a:r>
              <a:rPr sz="1301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日本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1592" y="3296602"/>
            <a:ext cx="370046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35"/>
              </a:lnSpc>
            </a:pPr>
            <a:r>
              <a:rPr sz="113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7時に起きて、電車で20分。コンビニに寄る余裕もある。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1592" y="3870960"/>
            <a:ext cx="3700462" cy="598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6"/>
              </a:lnSpc>
            </a:pPr>
            <a:r>
              <a:rPr sz="976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教科書は無料、学校には給食。「支援」も「奨学金」も、自分には関係ない言葉だった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8758" y="2916555"/>
            <a:ext cx="3700462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2"/>
              </a:lnSpc>
            </a:pPr>
            <a:r>
              <a:rPr sz="1301" b="1">
                <a:solidFill>
                  <a:srgbClr val="5FA882"/>
                </a:solidFill>
                <a:latin typeface="Zen Maru Gothic"/>
                <a:ea typeface="Zen Maru Gothic"/>
                <a:cs typeface="Zen Maru Gothic"/>
              </a:rPr>
              <a:t>ウガンダ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8758" y="3296602"/>
            <a:ext cx="370046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35"/>
              </a:lnSpc>
            </a:pPr>
            <a:r>
              <a:rPr sz="113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5時起き。水くみに1時間、畑を手伝ってから、5km歩いて学校へ。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8758" y="3870960"/>
            <a:ext cx="3700462" cy="598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6"/>
              </a:lnSpc>
            </a:pPr>
            <a:r>
              <a:rPr sz="976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学費を払う月はたいへんだ。でも困ったときは、村のみんなが助けてくれる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175" y="4752022"/>
            <a:ext cx="4820602" cy="796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09"/>
              </a:lnSpc>
            </a:pP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同じ「学校に行く」でも、そこに至るまでが違う。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この差が、そのまま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ゲームの数字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になっています。</a:t>
            </a:r>
          </a:p>
        </p:txBody>
      </p:sp>
      <p:pic>
        <p:nvPicPr>
          <p:cNvPr id="21" name="Picture 20" descr="c4554495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4495" y="2279332"/>
            <a:ext cx="173355" cy="173355"/>
          </a:xfrm>
          <a:prstGeom prst="rect">
            <a:avLst/>
          </a:prstGeom>
        </p:spPr>
      </p:pic>
      <p:pic>
        <p:nvPicPr>
          <p:cNvPr id="22" name="Picture 21" descr="fb498d6d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28" y="2978468"/>
            <a:ext cx="173355" cy="173355"/>
          </a:xfrm>
          <a:prstGeom prst="rect">
            <a:avLst/>
          </a:prstGeom>
        </p:spPr>
      </p:pic>
      <p:pic>
        <p:nvPicPr>
          <p:cNvPr id="23" name="Picture 22" descr="db1c31d8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1592" y="2978468"/>
            <a:ext cx="173355" cy="173355"/>
          </a:xfrm>
          <a:prstGeom prst="rect">
            <a:avLst/>
          </a:prstGeom>
        </p:spPr>
      </p:pic>
      <p:pic>
        <p:nvPicPr>
          <p:cNvPr id="24" name="Picture 23" descr="a240080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8758" y="2978468"/>
            <a:ext cx="173355" cy="1733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12118" y="2121218"/>
            <a:ext cx="2691765" cy="421005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878580" y="3925252"/>
            <a:ext cx="5958840" cy="1200150"/>
          </a:xfrm>
          <a:prstGeom prst="roundRect">
            <a:avLst>
              <a:gd name="adj" fmla="val 14919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97818" y="2121218"/>
            <a:ext cx="2920365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このゲームで起きること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4210" y="2694622"/>
            <a:ext cx="7307580" cy="11363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51"/>
              </a:lnSpc>
            </a:pPr>
            <a:r>
              <a:rPr sz="30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同じ盤面、同じサイコロ、同じルール。</a:t>
            </a:r>
            <a:r>
              <a:rPr sz="3036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違うのは、生まれた場所だけ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4280" y="3925252"/>
            <a:ext cx="6187440" cy="125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025"/>
              </a:lnSpc>
            </a:pPr>
            <a:r>
              <a:rPr sz="168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説明ではなく、</a:t>
            </a:r>
            <a:r>
              <a:rPr sz="1680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自分の手番で</a:t>
            </a:r>
            <a:r>
              <a:rPr sz="168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それが起きる。</a:t>
            </a:r>
            <a:r>
              <a:rPr sz="168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その差が結果にどう出るかを、</a:t>
            </a:r>
            <a:r>
              <a:rPr sz="1680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25分で一度通しておく</a:t>
            </a:r>
            <a:r>
              <a:rPr sz="168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
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07105" y="5276850"/>
            <a:ext cx="670179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2"/>
              </a:lnSpc>
            </a:pPr>
            <a:r>
              <a:rPr sz="108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街頭で「世界の遺児に教育を」と言うとき、その一言の後ろにある現実を、自分の手で確かめる時間です</a:t>
            </a:r>
          </a:p>
        </p:txBody>
      </p:sp>
      <p:pic>
        <p:nvPicPr>
          <p:cNvPr id="8" name="Picture 7" descr="23d5e6b3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810" y="2245042"/>
            <a:ext cx="173355" cy="1733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91112" y="343852"/>
            <a:ext cx="3533775" cy="421005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59792" y="6833235"/>
            <a:ext cx="279558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21468" y="7201852"/>
            <a:ext cx="447484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7258"/>
            <a:ext cx="4206240" cy="2433638"/>
          </a:xfrm>
          <a:prstGeom prst="rect">
            <a:avLst/>
          </a:prstGeom>
        </p:spPr>
      </p:pic>
      <p:pic>
        <p:nvPicPr>
          <p:cNvPr id="6" name="Picture 5" descr="fa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917258"/>
            <a:ext cx="4206240" cy="2433638"/>
          </a:xfrm>
          <a:prstGeom prst="rect">
            <a:avLst/>
          </a:prstGeom>
        </p:spPr>
      </p:pic>
      <p:pic>
        <p:nvPicPr>
          <p:cNvPr id="7" name="Picture 6" descr="fam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917258"/>
            <a:ext cx="4206240" cy="2433638"/>
          </a:xfrm>
          <a:prstGeom prst="rect">
            <a:avLst/>
          </a:prstGeom>
        </p:spPr>
      </p:pic>
      <p:pic>
        <p:nvPicPr>
          <p:cNvPr id="8" name="Picture 7" descr="fam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719512"/>
            <a:ext cx="4206240" cy="2433638"/>
          </a:xfrm>
          <a:prstGeom prst="rect">
            <a:avLst/>
          </a:prstGeom>
        </p:spPr>
      </p:pic>
      <p:pic>
        <p:nvPicPr>
          <p:cNvPr id="9" name="Picture 8" descr="fam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3719512"/>
            <a:ext cx="4206240" cy="2433638"/>
          </a:xfrm>
          <a:prstGeom prst="rect">
            <a:avLst/>
          </a:prstGeom>
        </p:spPr>
      </p:pic>
      <p:pic>
        <p:nvPicPr>
          <p:cNvPr id="10" name="Picture 9" descr="fam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3719512"/>
            <a:ext cx="4206240" cy="243363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76812" y="343852"/>
            <a:ext cx="3762375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配られる家庭カードは、この6種類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9672" y="3398520"/>
            <a:ext cx="2648902" cy="267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59"/>
              </a:lnSpc>
            </a:pPr>
            <a:r>
              <a:rPr sz="921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欧米：はじめ150万／基本給20万／★1つ＝10万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4978" y="3398520"/>
            <a:ext cx="2646045" cy="267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59"/>
              </a:lnSpc>
            </a:pPr>
            <a:r>
              <a:rPr sz="921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日本：はじめ120万／基本給20万／★1つ＝10万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3110" y="3398520"/>
            <a:ext cx="3117532" cy="267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59"/>
              </a:lnSpc>
            </a:pPr>
            <a:r>
              <a:rPr sz="921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ウガンダ駐在：はじめ150万／基本給20万／★1つ＝10万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532" y="6200775"/>
            <a:ext cx="3366135" cy="267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59"/>
              </a:lnSpc>
            </a:pPr>
            <a:r>
              <a:rPr sz="921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ウガンダ・両親あり：はじめ40万／基本給</a:t>
            </a:r>
            <a:r>
              <a:rPr sz="921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921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921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8735" y="6200775"/>
            <a:ext cx="3478530" cy="267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59"/>
              </a:lnSpc>
            </a:pPr>
            <a:r>
              <a:rPr sz="921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921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支援と出会えた</a:t>
            </a:r>
            <a:r>
              <a:rPr sz="921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：はじめ20万／基本給</a:t>
            </a:r>
            <a:r>
              <a:rPr sz="921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921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921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82162" y="6200775"/>
            <a:ext cx="3038475" cy="267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59"/>
              </a:lnSpc>
            </a:pPr>
            <a:r>
              <a:rPr sz="921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921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まだ出会えていない</a:t>
            </a:r>
            <a:r>
              <a:rPr sz="921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：数字は左とまったく同じ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8948" y="6563678"/>
            <a:ext cx="7699058" cy="796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09"/>
              </a:lnSpc>
            </a:pP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カードに出るのは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物語・いまの持ちもの・とくい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だけ。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下に書いた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基本給と★1つの値は、画面のどこにも出ないまま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ずっと効き続けます。</a:t>
            </a:r>
          </a:p>
        </p:txBody>
      </p:sp>
      <p:pic>
        <p:nvPicPr>
          <p:cNvPr id="19" name="Picture 18" descr="6fdef56e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7805" y="467678"/>
            <a:ext cx="173355" cy="1733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27332" y="2097405"/>
            <a:ext cx="3061335" cy="421005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717858" y="4710112"/>
            <a:ext cx="287845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3032" y="2097405"/>
            <a:ext cx="3289935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今日いちばん見てほしいこと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97592" y="2669858"/>
            <a:ext cx="6520815" cy="167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51"/>
              </a:lnSpc>
            </a:pPr>
            <a:r>
              <a:rPr sz="30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カギが足りずに開けられないのと、</a:t>
            </a:r>
            <a:r>
              <a:rPr sz="3036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扉があることすら知らない</a:t>
            </a:r>
            <a:r>
              <a:rPr sz="30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のは、</a:t>
            </a:r>
            <a:r>
              <a:rPr sz="30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まったく違う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7168" y="4440555"/>
            <a:ext cx="5702618" cy="11649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09"/>
              </a:lnSpc>
            </a:pP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どのチームにも、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ウガンダの遺児の家庭が必ず1人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入ります。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その人に何が見えていて、何が見えていなかったか——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ゲームが終わったら、全員で答え合わせをします。</a:t>
            </a:r>
          </a:p>
        </p:txBody>
      </p:sp>
      <p:pic>
        <p:nvPicPr>
          <p:cNvPr id="7" name="Picture 6" descr="aa7a0066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4025" y="2221230"/>
            <a:ext cx="173355" cy="1733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96902" y="343852"/>
            <a:ext cx="2321242" cy="421005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371272"/>
            <a:ext cx="4142422" cy="930592"/>
          </a:xfrm>
          <a:prstGeom prst="roundRect">
            <a:avLst>
              <a:gd name="adj" fmla="val 1184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87265" y="6371272"/>
            <a:ext cx="4142422" cy="930592"/>
          </a:xfrm>
          <a:prstGeom prst="roundRect">
            <a:avLst>
              <a:gd name="adj" fmla="val 1184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24938" y="6371272"/>
            <a:ext cx="4142422" cy="930592"/>
          </a:xfrm>
          <a:prstGeom prst="roundRect">
            <a:avLst>
              <a:gd name="adj" fmla="val 1184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3180" y="917258"/>
            <a:ext cx="8550592" cy="53435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82602" y="343852"/>
            <a:ext cx="2549842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まず、ゲームに入る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325" y="6456045"/>
            <a:ext cx="4076700" cy="2695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0"/>
              </a:lnSpc>
            </a:pPr>
            <a:r>
              <a:rPr sz="119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1. チームと進行役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3950" y="6456045"/>
            <a:ext cx="4076700" cy="2695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0"/>
              </a:lnSpc>
            </a:pPr>
            <a:r>
              <a:rPr sz="119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2. あいことばを配る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72575" y="6456045"/>
            <a:ext cx="4076700" cy="2695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0"/>
              </a:lnSpc>
            </a:pPr>
            <a:r>
              <a:rPr sz="119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3. そろったら止める</a:t>
            </a:r>
          </a:p>
        </p:txBody>
      </p:sp>
      <p:pic>
        <p:nvPicPr>
          <p:cNvPr id="11" name="Picture 10" descr="ea481504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3595" y="467678"/>
            <a:ext cx="173355" cy="173355"/>
          </a:xfrm>
          <a:prstGeom prst="rect">
            <a:avLst/>
          </a:prstGeom>
        </p:spPr>
      </p:pic>
      <p:pic>
        <p:nvPicPr>
          <p:cNvPr id="12" name="Picture 11" descr="b21aaf87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25" y="6482715"/>
            <a:ext cx="159068" cy="159068"/>
          </a:xfrm>
          <a:prstGeom prst="rect">
            <a:avLst/>
          </a:prstGeom>
        </p:spPr>
      </p:pic>
      <p:pic>
        <p:nvPicPr>
          <p:cNvPr id="13" name="Picture 12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3950" y="6482715"/>
            <a:ext cx="159068" cy="159068"/>
          </a:xfrm>
          <a:prstGeom prst="rect">
            <a:avLst/>
          </a:prstGeom>
        </p:spPr>
      </p:pic>
      <p:pic>
        <p:nvPicPr>
          <p:cNvPr id="14" name="Picture 13" descr="dadcd76f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2575" y="6482715"/>
            <a:ext cx="159068" cy="1590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49202" y="2306002"/>
            <a:ext cx="3616642" cy="421005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733925" y="2879408"/>
            <a:ext cx="1652588" cy="1652588"/>
          </a:xfrm>
          <a:prstGeom prst="roundRect">
            <a:avLst>
              <a:gd name="adj" fmla="val 8334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627495" y="3216592"/>
            <a:ext cx="2353628" cy="686752"/>
          </a:xfrm>
          <a:prstGeom prst="roundRect">
            <a:avLst>
              <a:gd name="adj" fmla="val 200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645920" y="4683442"/>
            <a:ext cx="5163502" cy="656272"/>
          </a:xfrm>
          <a:prstGeom prst="roundRect">
            <a:avLst>
              <a:gd name="adj" fmla="val 16789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905625" y="4683442"/>
            <a:ext cx="5163502" cy="656272"/>
          </a:xfrm>
          <a:prstGeom prst="roundRect">
            <a:avLst>
              <a:gd name="adj" fmla="val 16789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934902" y="2306002"/>
            <a:ext cx="3845242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全員、ここにアクセスしてください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195" y="3216592"/>
            <a:ext cx="2582228" cy="743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025"/>
              </a:lnSpc>
            </a:pPr>
            <a:r>
              <a:rPr sz="1680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3195" y="3958590"/>
            <a:ext cx="2582228" cy="2924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4"/>
              </a:lnSpc>
            </a:pPr>
            <a:r>
              <a:rPr sz="1030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つながらない場合は手を挙げてください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3558" y="4768215"/>
            <a:ext cx="5097780" cy="2695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0"/>
              </a:lnSpc>
            </a:pPr>
            <a:r>
              <a:rPr sz="119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カードは自分の画面だけ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53262" y="4768215"/>
            <a:ext cx="5097780" cy="2695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0"/>
              </a:lnSpc>
            </a:pPr>
            <a:r>
              <a:rPr sz="119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切れても戻れます</a:t>
            </a:r>
          </a:p>
        </p:txBody>
      </p:sp>
      <p:pic>
        <p:nvPicPr>
          <p:cNvPr id="12" name="Picture 11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895" y="2429828"/>
            <a:ext cx="173355" cy="173355"/>
          </a:xfrm>
          <a:prstGeom prst="rect">
            <a:avLst/>
          </a:prstGeom>
        </p:spPr>
      </p:pic>
      <p:pic>
        <p:nvPicPr>
          <p:cNvPr id="13" name="Picture 12" descr="a3e3bfe9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3558" y="4794885"/>
            <a:ext cx="159068" cy="159068"/>
          </a:xfrm>
          <a:prstGeom prst="rect">
            <a:avLst/>
          </a:prstGeom>
        </p:spPr>
      </p:pic>
      <p:pic>
        <p:nvPicPr>
          <p:cNvPr id="14" name="Picture 13" descr="1f11ed96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3262" y="4794885"/>
            <a:ext cx="159068" cy="1590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74932" y="343852"/>
            <a:ext cx="3366135" cy="421005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05538" y="6833235"/>
            <a:ext cx="88201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875" y="917258"/>
            <a:ext cx="8858250" cy="55359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60632" y="343852"/>
            <a:ext cx="3594735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盤面は24マス・6歳から25歳まで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19512" y="6563678"/>
            <a:ext cx="6276975" cy="796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09"/>
              </a:lnSpc>
            </a:pP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15歳まではサイコロなしで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1マスずつ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——人生の土台をつくる期間。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15歳の進学のトビラからサイコロが始まります。</a:t>
            </a:r>
          </a:p>
        </p:txBody>
      </p:sp>
      <p:pic>
        <p:nvPicPr>
          <p:cNvPr id="7" name="Picture 6" descr="092aaf4a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625" y="467678"/>
            <a:ext cx="173355" cy="1733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31205" y="2543175"/>
            <a:ext cx="2052638" cy="421005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22960" y="3115628"/>
            <a:ext cx="3950018" cy="722948"/>
          </a:xfrm>
          <a:prstGeom prst="roundRect">
            <a:avLst>
              <a:gd name="adj" fmla="val 171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74408" y="3219450"/>
            <a:ext cx="516255" cy="516255"/>
          </a:xfrm>
          <a:prstGeom prst="roundRect">
            <a:avLst>
              <a:gd name="adj" fmla="val 18675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883468" y="3115628"/>
            <a:ext cx="3950018" cy="722948"/>
          </a:xfrm>
          <a:prstGeom prst="roundRect">
            <a:avLst>
              <a:gd name="adj" fmla="val 171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033962" y="3219450"/>
            <a:ext cx="516255" cy="516255"/>
          </a:xfrm>
          <a:prstGeom prst="roundRect">
            <a:avLst>
              <a:gd name="adj" fmla="val 18675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43022" y="3115628"/>
            <a:ext cx="3950018" cy="722948"/>
          </a:xfrm>
          <a:prstGeom prst="roundRect">
            <a:avLst>
              <a:gd name="adj" fmla="val 171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094470" y="3219450"/>
            <a:ext cx="516255" cy="516255"/>
          </a:xfrm>
          <a:prstGeom prst="roundRect">
            <a:avLst>
              <a:gd name="adj" fmla="val 18675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3949065"/>
            <a:ext cx="3950018" cy="755332"/>
          </a:xfrm>
          <a:prstGeom prst="roundRect">
            <a:avLst>
              <a:gd name="adj" fmla="val 164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74408" y="4068128"/>
            <a:ext cx="516255" cy="516255"/>
          </a:xfrm>
          <a:prstGeom prst="roundRect">
            <a:avLst>
              <a:gd name="adj" fmla="val 18675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883468" y="3949065"/>
            <a:ext cx="3950018" cy="755332"/>
          </a:xfrm>
          <a:prstGeom prst="roundRect">
            <a:avLst>
              <a:gd name="adj" fmla="val 164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033962" y="4068128"/>
            <a:ext cx="516255" cy="516255"/>
          </a:xfrm>
          <a:prstGeom prst="roundRect">
            <a:avLst>
              <a:gd name="adj" fmla="val 18675"/>
            </a:avLst>
          </a:prstGeom>
          <a:solidFill>
            <a:srgbClr val="F7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943022" y="3949065"/>
            <a:ext cx="3950018" cy="755332"/>
          </a:xfrm>
          <a:prstGeom prst="roundRect">
            <a:avLst>
              <a:gd name="adj" fmla="val 164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094470" y="4068128"/>
            <a:ext cx="516255" cy="516255"/>
          </a:xfrm>
          <a:prstGeom prst="roundRect">
            <a:avLst>
              <a:gd name="adj" fmla="val 18675"/>
            </a:avLst>
          </a:prstGeom>
          <a:solidFill>
            <a:srgbClr val="C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716905" y="2543175"/>
            <a:ext cx="2281238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マスの種類は6つ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1152" y="3340418"/>
            <a:ext cx="2880360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24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おしごと</a:t>
            </a:r>
            <a:r>
              <a:rPr sz="100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基本給＋★まなび×掛け率＋仕送り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0708" y="3340418"/>
            <a:ext cx="302704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24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しゅっぴ</a:t>
            </a:r>
            <a:r>
              <a:rPr sz="100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いるものは、いる。決まった額を払う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1215" y="3340418"/>
            <a:ext cx="282416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24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できごと</a:t>
            </a:r>
            <a:r>
              <a:rPr sz="100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カードを1枚引く。幸運も、事故も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1152" y="4189095"/>
            <a:ext cx="255079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24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まなび</a:t>
            </a:r>
            <a:r>
              <a:rPr sz="100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自分に投資する。0円でも学べる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0708" y="4189095"/>
            <a:ext cx="278987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24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</a:t>
            </a:r>
            <a:r>
              <a:rPr sz="100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人生の分岐点。19年間で6枚に出会う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1215" y="4051935"/>
            <a:ext cx="3248978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24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はなしあい</a:t>
            </a:r>
            <a:r>
              <a:rPr sz="100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22歳。ゲームを止めてチームで話す。数字は変わらない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2028" y="4855845"/>
            <a:ext cx="413194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2"/>
              </a:lnSpc>
            </a:pPr>
            <a:r>
              <a:rPr sz="108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止まったマスの指示に従い、OKを押すと次の人の番になります</a:t>
            </a:r>
          </a:p>
        </p:txBody>
      </p:sp>
      <p:pic>
        <p:nvPicPr>
          <p:cNvPr id="23" name="Picture 22" descr="7ef1eed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7898" y="2667000"/>
            <a:ext cx="173355" cy="173355"/>
          </a:xfrm>
          <a:prstGeom prst="rect">
            <a:avLst/>
          </a:prstGeom>
        </p:spPr>
      </p:pic>
      <p:pic>
        <p:nvPicPr>
          <p:cNvPr id="24" name="Picture 23" descr="3d99c9c0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378" y="3360420"/>
            <a:ext cx="234315" cy="234315"/>
          </a:xfrm>
          <a:prstGeom prst="rect">
            <a:avLst/>
          </a:prstGeom>
        </p:spPr>
      </p:pic>
      <p:pic>
        <p:nvPicPr>
          <p:cNvPr id="25" name="Picture 24" descr="a9d316b1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5885" y="3360420"/>
            <a:ext cx="234315" cy="234315"/>
          </a:xfrm>
          <a:prstGeom prst="rect">
            <a:avLst/>
          </a:prstGeom>
        </p:spPr>
      </p:pic>
      <p:pic>
        <p:nvPicPr>
          <p:cNvPr id="26" name="Picture 25" descr="7bf4505d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0" y="3360420"/>
            <a:ext cx="234315" cy="234315"/>
          </a:xfrm>
          <a:prstGeom prst="rect">
            <a:avLst/>
          </a:prstGeom>
        </p:spPr>
      </p:pic>
      <p:pic>
        <p:nvPicPr>
          <p:cNvPr id="27" name="Picture 26" descr="8afc0ea0c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378" y="4209098"/>
            <a:ext cx="234315" cy="234315"/>
          </a:xfrm>
          <a:prstGeom prst="rect">
            <a:avLst/>
          </a:prstGeom>
        </p:spPr>
      </p:pic>
      <p:pic>
        <p:nvPicPr>
          <p:cNvPr id="28" name="Picture 27" descr="96066573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5885" y="4209098"/>
            <a:ext cx="234315" cy="234315"/>
          </a:xfrm>
          <a:prstGeom prst="rect">
            <a:avLst/>
          </a:prstGeom>
        </p:spPr>
      </p:pic>
      <p:pic>
        <p:nvPicPr>
          <p:cNvPr id="29" name="Picture 28" descr="6d28f3c5d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5440" y="4209098"/>
            <a:ext cx="234315" cy="2343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798695" y="343852"/>
            <a:ext cx="4119562" cy="421005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371272"/>
            <a:ext cx="4142422" cy="930592"/>
          </a:xfrm>
          <a:prstGeom prst="roundRect">
            <a:avLst>
              <a:gd name="adj" fmla="val 1184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87265" y="6371272"/>
            <a:ext cx="4142422" cy="930592"/>
          </a:xfrm>
          <a:prstGeom prst="roundRect">
            <a:avLst>
              <a:gd name="adj" fmla="val 1184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24938" y="6371272"/>
            <a:ext cx="4142422" cy="930592"/>
          </a:xfrm>
          <a:prstGeom prst="roundRect">
            <a:avLst>
              <a:gd name="adj" fmla="val 1184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hoice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52" y="917258"/>
            <a:ext cx="6265545" cy="5053965"/>
          </a:xfrm>
          <a:prstGeom prst="rect">
            <a:avLst/>
          </a:prstGeom>
        </p:spPr>
      </p:pic>
      <p:pic>
        <p:nvPicPr>
          <p:cNvPr id="7" name="Picture 6" descr="confirm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5650" y="917258"/>
            <a:ext cx="6265545" cy="50539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684395" y="343852"/>
            <a:ext cx="4348162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トビラとカギ — ここがこのゲームの核心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2260" y="6025515"/>
            <a:ext cx="1269682" cy="2924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4"/>
              </a:lnSpc>
            </a:pPr>
            <a:r>
              <a:rPr sz="1030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1. どの道を選ぶか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5588" y="3341370"/>
            <a:ext cx="503872" cy="552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904"/>
              </a:lnSpc>
            </a:pPr>
            <a:r>
              <a:rPr sz="2169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13508" y="6025515"/>
            <a:ext cx="2450782" cy="2924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4"/>
              </a:lnSpc>
            </a:pPr>
            <a:r>
              <a:rPr sz="1030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2. 開くかどうかは、選んでから分かる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325" y="6456045"/>
            <a:ext cx="4076700" cy="2695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0"/>
              </a:lnSpc>
            </a:pPr>
            <a:r>
              <a:rPr sz="119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一覧に出るのは名前だけ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3950" y="6456045"/>
            <a:ext cx="4076700" cy="2695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0"/>
              </a:lnSpc>
            </a:pPr>
            <a:r>
              <a:rPr sz="1192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選んで、はじめて分かる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72575" y="6456045"/>
            <a:ext cx="4076700" cy="2695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0"/>
              </a:lnSpc>
            </a:pPr>
            <a:r>
              <a:rPr sz="1192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？？？</a:t>
            </a:r>
          </a:p>
        </p:txBody>
      </p:sp>
      <p:pic>
        <p:nvPicPr>
          <p:cNvPr id="15" name="Picture 14" descr="96066573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4435" y="467678"/>
            <a:ext cx="173355" cy="173355"/>
          </a:xfrm>
          <a:prstGeom prst="rect">
            <a:avLst/>
          </a:prstGeom>
        </p:spPr>
      </p:pic>
      <p:pic>
        <p:nvPicPr>
          <p:cNvPr id="16" name="Picture 15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25" y="6482715"/>
            <a:ext cx="159068" cy="159068"/>
          </a:xfrm>
          <a:prstGeom prst="rect">
            <a:avLst/>
          </a:prstGeom>
        </p:spPr>
      </p:pic>
      <p:pic>
        <p:nvPicPr>
          <p:cNvPr id="17" name="Picture 16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3950" y="6482715"/>
            <a:ext cx="159068" cy="159068"/>
          </a:xfrm>
          <a:prstGeom prst="rect">
            <a:avLst/>
          </a:prstGeom>
        </p:spPr>
      </p:pic>
      <p:pic>
        <p:nvPicPr>
          <p:cNvPr id="18" name="Picture 17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2575" y="6482715"/>
            <a:ext cx="159068" cy="1590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34940" y="343852"/>
            <a:ext cx="3247072" cy="421005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400425" y="5866448"/>
            <a:ext cx="6915150" cy="1436370"/>
          </a:xfrm>
          <a:prstGeom prst="roundRect">
            <a:avLst>
              <a:gd name="adj" fmla="val 12465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mo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182" y="917258"/>
            <a:ext cx="7746682" cy="4838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343852"/>
            <a:ext cx="3475672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同じ★でも、入るお金がちがう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86125" y="5866448"/>
            <a:ext cx="7143750" cy="149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35"/>
              </a:lnSpc>
            </a:pPr>
            <a:r>
              <a:rPr sz="1464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日本・欧米で育つと、</a:t>
            </a:r>
            <a:r>
              <a:rPr sz="146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★1つが10万</a:t>
            </a:r>
            <a:r>
              <a:rPr sz="1464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  <a:r>
              <a:rPr sz="1464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ウガンダで育つと、</a:t>
            </a:r>
            <a:r>
              <a:rPr sz="1464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★1つは5万</a:t>
            </a:r>
            <a:r>
              <a:rPr sz="1464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。はたらきはじめの基本給も、20万と10万。</a:t>
            </a:r>
            <a:r>
              <a:rPr sz="119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この2つは</a:t>
            </a:r>
            <a:r>
              <a:rPr sz="1192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生まれた場所で決まっていて</a:t>
            </a:r>
            <a:r>
              <a:rPr sz="119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、</a:t>
            </a:r>
            <a:r>
              <a:rPr sz="119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カードにも盤面にも出てきません</a:t>
            </a:r>
          </a:p>
        </p:txBody>
      </p:sp>
      <p:pic>
        <p:nvPicPr>
          <p:cNvPr id="7" name="Picture 6" descr="adf95adf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1632" y="467678"/>
            <a:ext cx="173355" cy="17335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19725" y="2650808"/>
            <a:ext cx="2876550" cy="421005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3223260"/>
            <a:ext cx="11247120" cy="624840"/>
          </a:xfrm>
          <a:prstGeom prst="roundRect">
            <a:avLst>
              <a:gd name="adj" fmla="val 22042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36370" y="3369945"/>
            <a:ext cx="343852" cy="34385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3971925"/>
            <a:ext cx="11247120" cy="624840"/>
          </a:xfrm>
          <a:prstGeom prst="roundRect">
            <a:avLst>
              <a:gd name="adj" fmla="val 22042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36370" y="4118610"/>
            <a:ext cx="343852" cy="34385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05425" y="2650808"/>
            <a:ext cx="3105150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奨学金と、順位の決まり方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6370" y="3369945"/>
            <a:ext cx="572452" cy="4010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32622" y="3356610"/>
            <a:ext cx="10575608" cy="3409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36"/>
              </a:lnSpc>
            </a:pPr>
            <a:r>
              <a:rPr sz="135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「奨学金・支援団体の力で進学」は</a:t>
            </a:r>
            <a:r>
              <a:rPr sz="1355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貸与型（総額48万）</a:t>
            </a:r>
            <a:r>
              <a:rPr sz="135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。働くたびに−6万ずつ返し続けます。</a:t>
            </a:r>
            <a:r>
              <a:rPr sz="1355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25歳では返し終わりません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6370" y="4118610"/>
            <a:ext cx="572452" cy="4010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32622" y="4105275"/>
            <a:ext cx="10575608" cy="3409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36"/>
              </a:lnSpc>
            </a:pPr>
            <a:r>
              <a:rPr sz="135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順位を決めるのは、お金ではなく</a:t>
            </a:r>
            <a:r>
              <a:rPr sz="1355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♥ハッピーの数</a:t>
            </a:r>
            <a:r>
              <a:rPr sz="135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＝人生の選択肢を多く持ち、</a:t>
            </a:r>
            <a:r>
              <a:rPr sz="1355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自分の意思で選べた回数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615" y="4748212"/>
            <a:ext cx="4635818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2"/>
              </a:lnSpc>
            </a:pPr>
            <a:r>
              <a:rPr sz="108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おかねと★まなびは、♥を得るための「カギ」。目的ではなく手段です</a:t>
            </a:r>
          </a:p>
        </p:txBody>
      </p:sp>
      <p:pic>
        <p:nvPicPr>
          <p:cNvPr id="13" name="Picture 12" descr="23e5ec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418" y="2774632"/>
            <a:ext cx="173355" cy="17335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75032" y="2202180"/>
            <a:ext cx="1765935" cy="421005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370070" y="4096702"/>
            <a:ext cx="1019175" cy="370522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5448" y="4096702"/>
            <a:ext cx="1019175" cy="37052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600825" y="4096702"/>
            <a:ext cx="753428" cy="37052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451408" y="4096702"/>
            <a:ext cx="779145" cy="37052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326755" y="4096702"/>
            <a:ext cx="1019175" cy="37052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524250" y="4618672"/>
            <a:ext cx="2596515" cy="38385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216015" y="4618672"/>
            <a:ext cx="1873568" cy="38385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8185785" y="4618672"/>
            <a:ext cx="2005965" cy="38385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860732" y="2202180"/>
            <a:ext cx="1994535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プレイタイム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4485" y="2774632"/>
            <a:ext cx="2906078" cy="1227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218"/>
              </a:lnSpc>
            </a:pPr>
            <a:r>
              <a:rPr sz="92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5770" y="4096702"/>
            <a:ext cx="1247775" cy="427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92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スタート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1148" y="4096702"/>
            <a:ext cx="1247775" cy="427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92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一時停止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525" y="4096702"/>
            <a:ext cx="982028" cy="427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92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−1分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7108" y="4096702"/>
            <a:ext cx="1007745" cy="427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92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＋1分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2455" y="4096702"/>
            <a:ext cx="1247775" cy="427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92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リセット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9950" y="4618672"/>
            <a:ext cx="2825115" cy="4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49"/>
              </a:lnSpc>
            </a:pPr>
            <a:r>
              <a:rPr sz="113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家庭カードは最後まで自分だけ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1715" y="4618672"/>
            <a:ext cx="2102168" cy="4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49"/>
              </a:lnSpc>
            </a:pPr>
            <a:r>
              <a:rPr sz="113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困ったら手を挙げる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1485" y="4618672"/>
            <a:ext cx="2234565" cy="441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49"/>
              </a:lnSpc>
            </a:pPr>
            <a:r>
              <a:rPr sz="113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全員25歳ゴールで終了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5568" y="5209222"/>
            <a:ext cx="824865" cy="2924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4"/>
              </a:lnSpc>
            </a:pPr>
            <a:r>
              <a:rPr sz="1030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pic>
        <p:nvPicPr>
          <p:cNvPr id="22" name="Picture 21" descr="092aaf4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725" y="2326005"/>
            <a:ext cx="173355" cy="173355"/>
          </a:xfrm>
          <a:prstGeom prst="rect">
            <a:avLst/>
          </a:prstGeom>
        </p:spPr>
      </p:pic>
      <p:pic>
        <p:nvPicPr>
          <p:cNvPr id="23" name="Picture 22" descr="2093fb5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4733925"/>
            <a:ext cx="151448" cy="151448"/>
          </a:xfrm>
          <a:prstGeom prst="rect">
            <a:avLst/>
          </a:prstGeom>
        </p:spPr>
      </p:pic>
      <p:pic>
        <p:nvPicPr>
          <p:cNvPr id="24" name="Picture 23" descr="25c5ca3a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5085" y="4733925"/>
            <a:ext cx="151448" cy="151448"/>
          </a:xfrm>
          <a:prstGeom prst="rect">
            <a:avLst/>
          </a:prstGeom>
        </p:spPr>
      </p:pic>
      <p:pic>
        <p:nvPicPr>
          <p:cNvPr id="25" name="Picture 24" descr="4d8d3861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4855" y="4733925"/>
            <a:ext cx="151448" cy="15144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19725" y="343852"/>
            <a:ext cx="2876550" cy="421005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371272"/>
            <a:ext cx="4142422" cy="930592"/>
          </a:xfrm>
          <a:prstGeom prst="roundRect">
            <a:avLst>
              <a:gd name="adj" fmla="val 1184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87265" y="6371272"/>
            <a:ext cx="4142422" cy="930592"/>
          </a:xfrm>
          <a:prstGeom prst="roundRect">
            <a:avLst>
              <a:gd name="adj" fmla="val 1184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24938" y="6371272"/>
            <a:ext cx="4142422" cy="930592"/>
          </a:xfrm>
          <a:prstGeom prst="roundRect">
            <a:avLst>
              <a:gd name="adj" fmla="val 1184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322" y="917258"/>
            <a:ext cx="8555355" cy="53435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5425" y="343852"/>
            <a:ext cx="3105150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まず、結果を全員で見ます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325" y="6456045"/>
            <a:ext cx="4076700" cy="2695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0"/>
              </a:lnSpc>
            </a:pPr>
            <a:r>
              <a:rPr sz="119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順位は♥の数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3950" y="6456045"/>
            <a:ext cx="4076700" cy="2695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0"/>
              </a:lnSpc>
            </a:pPr>
            <a:r>
              <a:rPr sz="119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家庭カードが公開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72575" y="6456045"/>
            <a:ext cx="4076700" cy="2695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0"/>
              </a:lnSpc>
            </a:pPr>
            <a:r>
              <a:rPr sz="119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奨学金の残り</a:t>
            </a:r>
          </a:p>
        </p:txBody>
      </p:sp>
      <p:pic>
        <p:nvPicPr>
          <p:cNvPr id="11" name="Picture 10" descr="8ece8238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6418" y="467678"/>
            <a:ext cx="173355" cy="173355"/>
          </a:xfrm>
          <a:prstGeom prst="rect">
            <a:avLst/>
          </a:prstGeom>
        </p:spPr>
      </p:pic>
      <p:pic>
        <p:nvPicPr>
          <p:cNvPr id="12" name="Picture 11" descr="eea51cc2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25" y="6482715"/>
            <a:ext cx="159068" cy="159068"/>
          </a:xfrm>
          <a:prstGeom prst="rect">
            <a:avLst/>
          </a:prstGeom>
        </p:spPr>
      </p:pic>
      <p:pic>
        <p:nvPicPr>
          <p:cNvPr id="13" name="Picture 12" descr="a33551a2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3950" y="6482715"/>
            <a:ext cx="159068" cy="159068"/>
          </a:xfrm>
          <a:prstGeom prst="rect">
            <a:avLst/>
          </a:prstGeom>
        </p:spPr>
      </p:pic>
      <p:pic>
        <p:nvPicPr>
          <p:cNvPr id="14" name="Picture 13" descr="5baef69d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2575" y="6482715"/>
            <a:ext cx="159068" cy="15906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19725" y="343852"/>
            <a:ext cx="2876550" cy="421005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275648" y="6094095"/>
            <a:ext cx="439197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57962" y="6833235"/>
            <a:ext cx="179641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33888" y="7201852"/>
            <a:ext cx="245173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917258"/>
            <a:ext cx="7680008" cy="47977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5425" y="343852"/>
            <a:ext cx="3105150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誰が、どの扉を選んだのか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782" y="5824538"/>
            <a:ext cx="8813482" cy="15344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09"/>
              </a:lnSpc>
            </a:pP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誰のネタバラシでも、自分の画面から開けます。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19年間の扉が全部ならびます。</a:t>
            </a:r>
            <a:r>
              <a:rPr sz="1572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えらんだ</a:t>
            </a:r>
            <a:r>
              <a:rPr sz="1572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開けられた</a:t>
            </a:r>
            <a:r>
              <a:rPr sz="1572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カギ不足</a:t>
            </a:r>
            <a:r>
              <a:rPr sz="1572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見えてなかった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紫の行が、ゲーム中「？？？」だったもの。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本当は何だったのか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が、ここで初めて分かります。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まず、自分の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「見えていなかった ◯枚」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を声に出して読み上げてみてください。</a:t>
            </a:r>
          </a:p>
        </p:txBody>
      </p:sp>
      <p:pic>
        <p:nvPicPr>
          <p:cNvPr id="9" name="Picture 8" descr="96066573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6418" y="467678"/>
            <a:ext cx="173355" cy="173355"/>
          </a:xfrm>
          <a:prstGeom prst="rect">
            <a:avLst/>
          </a:prstGeom>
        </p:spPr>
      </p:pic>
      <p:pic>
        <p:nvPicPr>
          <p:cNvPr id="10" name="Picture 9" descr="dedbf7a2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8602" y="6282690"/>
            <a:ext cx="209550" cy="209550"/>
          </a:xfrm>
          <a:prstGeom prst="rect">
            <a:avLst/>
          </a:prstGeom>
        </p:spPr>
      </p:pic>
      <p:pic>
        <p:nvPicPr>
          <p:cNvPr id="11" name="Picture 10" descr="1f2a15ff6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2570" y="6282690"/>
            <a:ext cx="209550" cy="209550"/>
          </a:xfrm>
          <a:prstGeom prst="rect">
            <a:avLst/>
          </a:prstGeom>
        </p:spPr>
      </p:pic>
      <p:pic>
        <p:nvPicPr>
          <p:cNvPr id="12" name="Picture 11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6562" y="6282690"/>
            <a:ext cx="209550" cy="209550"/>
          </a:xfrm>
          <a:prstGeom prst="rect">
            <a:avLst/>
          </a:prstGeom>
        </p:spPr>
      </p:pic>
      <p:pic>
        <p:nvPicPr>
          <p:cNvPr id="13" name="Picture 12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9578" y="6282690"/>
            <a:ext cx="209550" cy="2095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5080" y="2617470"/>
            <a:ext cx="1006792" cy="40767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240780" y="2617470"/>
            <a:ext cx="1235392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39428" y="3175635"/>
            <a:ext cx="7637145" cy="1511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817"/>
              </a:lnSpc>
            </a:pP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結果画面で、</a:t>
            </a:r>
            <a:r>
              <a:rPr sz="2385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★の数が近い人</a:t>
            </a: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を2人さがしてください。</a:t>
            </a: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おかねの増え方は、同じでしたか？</a:t>
            </a: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それは本人の</a:t>
            </a:r>
            <a:r>
              <a:rPr sz="2385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努力のちがい</a:t>
            </a: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だろうか？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80522" y="4781550"/>
            <a:ext cx="5355908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2"/>
              </a:lnSpc>
            </a:pPr>
            <a:r>
              <a:rPr sz="108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基本給は20万と10万、★1つは10万と5万。どちらも生まれた場所で決まっていた</a:t>
            </a:r>
          </a:p>
        </p:txBody>
      </p:sp>
      <p:pic>
        <p:nvPicPr>
          <p:cNvPr id="6" name="Picture 5" descr="49c8b010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822" y="4832985"/>
            <a:ext cx="144780" cy="1447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2222" y="2617470"/>
            <a:ext cx="1012508" cy="40767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237922" y="2617470"/>
            <a:ext cx="124110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008" y="3175635"/>
            <a:ext cx="7500938" cy="1511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817"/>
              </a:lnSpc>
            </a:pP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自分のカードの</a:t>
            </a:r>
            <a:r>
              <a:rPr sz="2385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「見えていなかった ◯」</a:t>
            </a: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</a:t>
            </a: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読み上げてください。</a:t>
            </a: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チームで数字がちがいます。</a:t>
            </a:r>
            <a:r>
              <a:rPr sz="2385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何が</a:t>
            </a: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その差をつくった？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28285" y="4781550"/>
            <a:ext cx="3058478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2"/>
              </a:lnSpc>
            </a:pPr>
            <a:r>
              <a:rPr sz="108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結果画面の帯グラフ。紫の部分の数字です</a:t>
            </a:r>
          </a:p>
        </p:txBody>
      </p:sp>
      <p:pic>
        <p:nvPicPr>
          <p:cNvPr id="6" name="Picture 5" descr="d07e4653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2585" y="4832985"/>
            <a:ext cx="144780" cy="1447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49365" y="2617470"/>
            <a:ext cx="1017270" cy="40767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235065" y="2617470"/>
            <a:ext cx="1245870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10902" y="3175635"/>
            <a:ext cx="6894195" cy="1511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817"/>
              </a:lnSpc>
            </a:pP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ウガンダの遺児の家庭だった人のネタバラシを、</a:t>
            </a:r>
            <a:r>
              <a:rPr sz="2385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全員が自分の画面で</a:t>
            </a: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開いてください。</a:t>
            </a: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その人には、何が</a:t>
            </a:r>
            <a:r>
              <a:rPr sz="2385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「見えて」</a:t>
            </a: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4781550"/>
            <a:ext cx="429863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2"/>
              </a:lnSpc>
            </a:pPr>
            <a:r>
              <a:rPr sz="108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本人に見せてもらう必要はありません。誰のぶんでも開けます</a:t>
            </a:r>
          </a:p>
        </p:txBody>
      </p:sp>
      <p:pic>
        <p:nvPicPr>
          <p:cNvPr id="6" name="Picture 5" descr="bb3a5bc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60" y="4832985"/>
            <a:ext cx="144780" cy="1447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48412" y="2617470"/>
            <a:ext cx="1019175" cy="40767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234112" y="2617470"/>
            <a:ext cx="1247775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2350" y="3175635"/>
            <a:ext cx="6591300" cy="1511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817"/>
              </a:lnSpc>
            </a:pP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今日あなたが持ってきたもの——</a:t>
            </a: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スマホ、無料の教科書、給食。</a:t>
            </a: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それは、</a:t>
            </a:r>
            <a:r>
              <a:rPr sz="2385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どの家庭カードの世界</a:t>
            </a: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のものだった？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01640" y="4781550"/>
            <a:ext cx="2711768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2"/>
              </a:lnSpc>
            </a:pPr>
            <a:r>
              <a:rPr sz="108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「3つの世界の朝」を思い出しながら</a:t>
            </a:r>
          </a:p>
        </p:txBody>
      </p:sp>
      <p:pic>
        <p:nvPicPr>
          <p:cNvPr id="6" name="Picture 5" descr="100c481a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5940" y="4832985"/>
            <a:ext cx="144780" cy="1447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0318" y="2617470"/>
            <a:ext cx="1015365" cy="40767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236018" y="2617470"/>
            <a:ext cx="1243965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68140" y="3175635"/>
            <a:ext cx="5379720" cy="1511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817"/>
              </a:lnSpc>
            </a:pP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日本にいる私たちが、</a:t>
            </a: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世界の遺児にわたせる</a:t>
            </a:r>
            <a:r>
              <a:rPr sz="2385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「カギ」</a:t>
            </a: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って、</a:t>
            </a:r>
            <a:r>
              <a:rPr sz="238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何だろう？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4781550"/>
            <a:ext cx="429863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2"/>
              </a:lnSpc>
            </a:pPr>
            <a:r>
              <a:rPr sz="108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正解はありません。話したくないことは話さなくて大丈夫です</a:t>
            </a:r>
          </a:p>
        </p:txBody>
      </p:sp>
      <p:pic>
        <p:nvPicPr>
          <p:cNvPr id="6" name="Picture 5" descr="9be6349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60" y="4832985"/>
            <a:ext cx="144780" cy="1447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90248" y="1839278"/>
            <a:ext cx="2136458" cy="421005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672840" y="3643312"/>
            <a:ext cx="1430655" cy="904875"/>
          </a:xfrm>
          <a:prstGeom prst="roundRect">
            <a:avLst>
              <a:gd name="adj" fmla="val 1522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530215" y="3643312"/>
            <a:ext cx="2166938" cy="904875"/>
          </a:xfrm>
          <a:prstGeom prst="roundRect">
            <a:avLst>
              <a:gd name="adj" fmla="val 1522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123872" y="3643312"/>
            <a:ext cx="1919288" cy="904875"/>
          </a:xfrm>
          <a:prstGeom prst="roundRect">
            <a:avLst>
              <a:gd name="adj" fmla="val 1522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362450" y="4968240"/>
            <a:ext cx="4991100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58852" y="5337810"/>
            <a:ext cx="239553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5948" y="1839278"/>
            <a:ext cx="2365058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ゲームから現実へ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6788" y="2411730"/>
            <a:ext cx="4161472" cy="11363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51"/>
              </a:lnSpc>
            </a:pPr>
            <a:r>
              <a:rPr sz="30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生まれた場所の差は、</a:t>
            </a:r>
            <a:r>
              <a:rPr sz="30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連鎖していく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4758" y="4176712"/>
            <a:ext cx="1226820" cy="280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6"/>
              </a:lnSpc>
            </a:pPr>
            <a:r>
              <a:rPr sz="976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初期資金・基本給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5398" y="3643312"/>
            <a:ext cx="462915" cy="962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18"/>
              </a:lnSpc>
            </a:pPr>
            <a:r>
              <a:rPr sz="1843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2132" y="4176712"/>
            <a:ext cx="1963102" cy="280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6"/>
              </a:lnSpc>
            </a:pPr>
            <a:r>
              <a:rPr sz="976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知っている支援・出会える情報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9055" y="3643312"/>
            <a:ext cx="462915" cy="962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18"/>
              </a:lnSpc>
            </a:pPr>
            <a:r>
              <a:rPr sz="1843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5790" y="4176712"/>
            <a:ext cx="1715452" cy="280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6"/>
              </a:lnSpc>
            </a:pPr>
            <a:r>
              <a:rPr sz="976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同じ★でも、かせぎが違う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9015" y="4698682"/>
            <a:ext cx="6617018" cy="11649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09"/>
              </a:lnSpc>
            </a:pP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学べば報われる、は、場が用意されている人の話です。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そしてその差は、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次の世代の「生まれの差」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へ——。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ゲームで見た「？？？」も「カギ不足」も、いまの世界に実在します。</a:t>
            </a:r>
          </a:p>
        </p:txBody>
      </p:sp>
      <p:pic>
        <p:nvPicPr>
          <p:cNvPr id="16" name="Picture 15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5988" y="1963102"/>
            <a:ext cx="173355" cy="17335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12118" y="1797368"/>
            <a:ext cx="2691765" cy="421005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2369820"/>
            <a:ext cx="11247120" cy="624840"/>
          </a:xfrm>
          <a:prstGeom prst="roundRect">
            <a:avLst>
              <a:gd name="adj" fmla="val 22042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36370" y="2516505"/>
            <a:ext cx="343852" cy="34385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3118485"/>
            <a:ext cx="11247120" cy="624840"/>
          </a:xfrm>
          <a:prstGeom prst="roundRect">
            <a:avLst>
              <a:gd name="adj" fmla="val 22042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36370" y="3265170"/>
            <a:ext cx="343852" cy="34385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234440" y="3867150"/>
            <a:ext cx="11247120" cy="835342"/>
          </a:xfrm>
          <a:prstGeom prst="roundRect">
            <a:avLst>
              <a:gd name="adj" fmla="val 1648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436370" y="4013835"/>
            <a:ext cx="343852" cy="34385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234440" y="4825365"/>
            <a:ext cx="11247120" cy="624840"/>
          </a:xfrm>
          <a:prstGeom prst="roundRect">
            <a:avLst>
              <a:gd name="adj" fmla="val 22042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436370" y="4972050"/>
            <a:ext cx="343852" cy="34385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397818" y="1797368"/>
            <a:ext cx="2920365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だから、「支援」がある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6370" y="2516505"/>
            <a:ext cx="572452" cy="4010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2622" y="2503170"/>
            <a:ext cx="10575608" cy="3409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36"/>
              </a:lnSpc>
            </a:pPr>
            <a:r>
              <a:rPr sz="135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この連鎖は、</a:t>
            </a:r>
            <a:r>
              <a:rPr sz="1355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本人の努力だけでは断ち切れない</a:t>
            </a:r>
            <a:r>
              <a:rPr sz="135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。だから世界には、遺児を支える仕組みと人がいる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6370" y="3265170"/>
            <a:ext cx="572452" cy="4010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32622" y="3251835"/>
            <a:ext cx="10575608" cy="3409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36"/>
              </a:lnSpc>
            </a:pPr>
            <a:r>
              <a:rPr sz="135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あしなが育英会は</a:t>
            </a:r>
            <a:r>
              <a:rPr sz="1355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「あしながウガンダ」</a:t>
            </a:r>
            <a:r>
              <a:rPr sz="135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で、現地の遺児の教育を実際に支えている——ゲームに出てきた支援団体のモデル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36370" y="4013835"/>
            <a:ext cx="572452" cy="4010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2622" y="4000500"/>
            <a:ext cx="10575608" cy="625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36"/>
              </a:lnSpc>
            </a:pPr>
            <a:r>
              <a:rPr sz="1355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AAI</a:t>
            </a:r>
            <a:r>
              <a:rPr sz="135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は、アフリカの遺児を海外の大学へ送り出す奨学金。カギはお金ではなく、まなびと</a:t>
            </a:r>
            <a:r>
              <a:rPr sz="1355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「志」</a:t>
            </a:r>
            <a:r>
              <a:rPr sz="135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——祖国に貢献するリーダーを育てる「約束」の仕組み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6370" y="4972050"/>
            <a:ext cx="572452" cy="4010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32622" y="4958715"/>
            <a:ext cx="10575608" cy="3409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36"/>
              </a:lnSpc>
            </a:pPr>
            <a:r>
              <a:rPr sz="135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そして、その入り口に立っているのが——</a:t>
            </a:r>
            <a:r>
              <a:rPr sz="1355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いま街頭に立っている、みなさんです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4648" y="5601652"/>
            <a:ext cx="7927658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2"/>
              </a:lnSpc>
            </a:pPr>
            <a:r>
              <a:rPr sz="108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ゲームでAAIを選んだ人は、お金を1円も払っていません。25歳のいま、その人がどこで何をしていたか、読んでみてください</a:t>
            </a:r>
          </a:p>
        </p:txBody>
      </p:sp>
      <p:pic>
        <p:nvPicPr>
          <p:cNvPr id="21" name="Picture 20" descr="1b2e1edd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810" y="1921192"/>
            <a:ext cx="173355" cy="17335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04510" y="2551748"/>
            <a:ext cx="2506028" cy="421005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59780" y="4994910"/>
            <a:ext cx="998220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90210" y="2551748"/>
            <a:ext cx="2734628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ここからは、検証です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1905" y="3124200"/>
            <a:ext cx="6092190" cy="11363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51"/>
              </a:lnSpc>
            </a:pPr>
            <a:r>
              <a:rPr sz="30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今度は</a:t>
            </a:r>
            <a:r>
              <a:rPr sz="30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「届ける側」</a:t>
            </a:r>
            <a:r>
              <a:rPr sz="30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として、</a:t>
            </a:r>
            <a:r>
              <a:rPr sz="30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いまの75分を振り返ってください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40" y="4355782"/>
            <a:ext cx="6217920" cy="796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09"/>
              </a:lnSpc>
            </a:pP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このゲームは、まだ完成していません。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今日みなさんが感じた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引っかかり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が、そのまま改善点になります。</a:t>
            </a:r>
          </a:p>
        </p:txBody>
      </p:sp>
      <p:pic>
        <p:nvPicPr>
          <p:cNvPr id="7" name="Picture 6" descr="867d447a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202" y="2675572"/>
            <a:ext cx="173355" cy="17335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64418" y="2313622"/>
            <a:ext cx="3987165" cy="421005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371600" y="2886075"/>
            <a:ext cx="5431155" cy="722948"/>
          </a:xfrm>
          <a:prstGeom prst="roundRect">
            <a:avLst>
              <a:gd name="adj" fmla="val 171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523048" y="2989898"/>
            <a:ext cx="516255" cy="516255"/>
          </a:xfrm>
          <a:prstGeom prst="roundRect">
            <a:avLst>
              <a:gd name="adj" fmla="val 18675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913245" y="2886075"/>
            <a:ext cx="5431155" cy="722948"/>
          </a:xfrm>
          <a:prstGeom prst="roundRect">
            <a:avLst>
              <a:gd name="adj" fmla="val 171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064692" y="2989898"/>
            <a:ext cx="516255" cy="516255"/>
          </a:xfrm>
          <a:prstGeom prst="roundRect">
            <a:avLst>
              <a:gd name="adj" fmla="val 18675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371600" y="3719512"/>
            <a:ext cx="5431155" cy="722948"/>
          </a:xfrm>
          <a:prstGeom prst="roundRect">
            <a:avLst>
              <a:gd name="adj" fmla="val 171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523048" y="3822382"/>
            <a:ext cx="516255" cy="516255"/>
          </a:xfrm>
          <a:prstGeom prst="roundRect">
            <a:avLst>
              <a:gd name="adj" fmla="val 18675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913245" y="3719512"/>
            <a:ext cx="5431155" cy="722948"/>
          </a:xfrm>
          <a:prstGeom prst="roundRect">
            <a:avLst>
              <a:gd name="adj" fmla="val 171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064692" y="3822382"/>
            <a:ext cx="516255" cy="516255"/>
          </a:xfrm>
          <a:prstGeom prst="roundRect">
            <a:avLst>
              <a:gd name="adj" fmla="val 18675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160645" y="5233035"/>
            <a:ext cx="319468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0118" y="2313622"/>
            <a:ext cx="4215765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気になるところを、全部出してください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9792" y="3110865"/>
            <a:ext cx="3245168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24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時間</a:t>
            </a:r>
            <a:r>
              <a:rPr sz="100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25分で終わった？ 長すぎた・短すぎたのはどこ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1438" y="3110865"/>
            <a:ext cx="3790950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24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つまずき</a:t>
            </a:r>
            <a:r>
              <a:rPr sz="100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ルールで分からなかったこと、操作で迷ったところ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9792" y="3943350"/>
            <a:ext cx="3219450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24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表現</a:t>
            </a:r>
            <a:r>
              <a:rPr sz="100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「この言い方は違う」「強すぎる／弱すぎる」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1438" y="3943350"/>
            <a:ext cx="3123248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24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届け方</a:t>
            </a:r>
            <a:r>
              <a:rPr sz="100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高校生に届けるなら、何を削り、何を足す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48150" y="4593908"/>
            <a:ext cx="5219700" cy="796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09"/>
              </a:lnSpc>
            </a:pP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数字のバランス、扉の選択肢、エンディングの文章——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「ここは違うと思う」を、遠慮なく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</p:txBody>
      </p:sp>
      <p:pic>
        <p:nvPicPr>
          <p:cNvPr id="18" name="Picture 17" descr="b7c36b6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110" y="2437448"/>
            <a:ext cx="173355" cy="173355"/>
          </a:xfrm>
          <a:prstGeom prst="rect">
            <a:avLst/>
          </a:prstGeom>
        </p:spPr>
      </p:pic>
      <p:pic>
        <p:nvPicPr>
          <p:cNvPr id="19" name="Picture 18" descr="ad04ca6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4018" y="3130868"/>
            <a:ext cx="234315" cy="234315"/>
          </a:xfrm>
          <a:prstGeom prst="rect">
            <a:avLst/>
          </a:prstGeom>
        </p:spPr>
      </p:pic>
      <p:pic>
        <p:nvPicPr>
          <p:cNvPr id="20" name="Picture 19" descr="f5603e6f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5662" y="3130868"/>
            <a:ext cx="234315" cy="234315"/>
          </a:xfrm>
          <a:prstGeom prst="rect">
            <a:avLst/>
          </a:prstGeom>
        </p:spPr>
      </p:pic>
      <p:pic>
        <p:nvPicPr>
          <p:cNvPr id="21" name="Picture 20" descr="374ef3bd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4018" y="3964305"/>
            <a:ext cx="234315" cy="234315"/>
          </a:xfrm>
          <a:prstGeom prst="rect">
            <a:avLst/>
          </a:prstGeom>
        </p:spPr>
      </p:pic>
      <p:pic>
        <p:nvPicPr>
          <p:cNvPr id="22" name="Picture 21" descr="325205dc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5662" y="3964305"/>
            <a:ext cx="234315" cy="23431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41595" y="2366962"/>
            <a:ext cx="3431858" cy="421005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64205" y="5179695"/>
            <a:ext cx="459200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7295" y="2366962"/>
            <a:ext cx="3660458" cy="47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2"/>
              </a:lnSpc>
            </a:pPr>
            <a:r>
              <a:rPr sz="1301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最後に、感想を聞かせてください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4358" y="2940368"/>
            <a:ext cx="4948238" cy="11363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51"/>
              </a:lnSpc>
            </a:pPr>
            <a:r>
              <a:rPr sz="30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うまく言葉にならなくても</a:t>
            </a:r>
            <a:r>
              <a:rPr sz="30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かまいません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9905" y="4170998"/>
            <a:ext cx="7615238" cy="11649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09"/>
              </a:lnSpc>
            </a:pP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今日いちばん心に残った場面。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自分のカードを見たときのこと、他の人のカードを知ったときのこと。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街頭に立つときの言葉が、ひとつでも変わったなら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——それを聞かせてください。</a:t>
            </a:r>
          </a:p>
        </p:txBody>
      </p:sp>
      <p:pic>
        <p:nvPicPr>
          <p:cNvPr id="7" name="Picture 6" descr="8f9f87c3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8288" y="2490788"/>
            <a:ext cx="173355" cy="17335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10325" y="2443162"/>
            <a:ext cx="895350" cy="1102042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513195" y="2546032"/>
            <a:ext cx="688658" cy="895350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71010" y="3695700"/>
            <a:ext cx="5173980" cy="674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858"/>
              </a:lnSpc>
            </a:pPr>
            <a:r>
              <a:rPr sz="347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47248" y="4464368"/>
            <a:ext cx="4421505" cy="796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09"/>
              </a:lnSpc>
            </a:pP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あなたの前にも、世界のどこかの子の前にも、</a:t>
            </a:r>
            <a:r>
              <a:rPr sz="1572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まだ見ぬトビラがたくさんある。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