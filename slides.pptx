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3716000" cy="77247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タイトル</a:t>
            </a:r>
          </a:p>
          <a:p/>
          <a:p>
            <a:r>
              <a:t>【開場中〜開始まで出しておく待機画面】</a:t>
            </a:r>
          </a:p>
          <a:p/>
          <a:p>
            <a:r>
              <a:t>こんにちは。今日はみなさんに、あるゲームを遊んでもらいます。</a:t>
            </a:r>
          </a:p>
          <a:p>
            <a:r>
              <a:t>「トビラ せかい版」。世界のどこかに生まれて、6歳から25歳までの19年間を歩く人生ゲームです。</a:t>
            </a:r>
          </a:p>
          <a:p>
            <a:r>
              <a:t>3〜4人のチームで、ひとり1台の端末を使います。プレイ時間は25分。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 今日の流れ（90分）</a:t>
            </a:r>
          </a:p>
          <a:p/>
          <a:p>
            <a:r>
              <a:t>流れです。まず12分で、このゲームが何を体験するものかを説明します。</a:t>
            </a:r>
          </a:p>
          <a:p>
            <a:r>
              <a:t>ルール説明が11分、プレイが25分。そのあと27分かけて全員で振り返ります。</a:t>
            </a:r>
          </a:p>
          <a:p>
            <a:r>
              <a:t>最後の15分は、みなさんに「つくる側」として意見をもらう時間です。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 3つの世界の「朝」</a:t>
            </a:r>
          </a:p>
          <a:p/>
          <a:p>
            <a:r>
              <a:t>まず、3つの世界の、朝の風景から見てください。</a:t>
            </a:r>
          </a:p>
          <a:p/>
          <a:p>
            <a:r>
              <a:t>欧米。スクールバスで10分。朝食はシリアルとオレンジジュース。</a:t>
            </a:r>
          </a:p>
          <a:p>
            <a:r>
              <a:t>日本。7時に起きて電車で20分。コンビニに寄る余裕もある。</a:t>
            </a:r>
          </a:p>
          <a:p>
            <a:r>
              <a:t>ウガンダ。5時起き。水くみに1時間、畑を手伝ってから、5km歩いて学校へ。</a:t>
            </a:r>
          </a:p>
          <a:p/>
          <a:p>
            <a:r>
              <a:t>同じ「学校に行く」でも、そこに至るまでが違う。</a:t>
            </a:r>
          </a:p>
          <a:p>
            <a:r>
              <a:t>そしてこの差が、そのままゲームの数字になっています。</a:t>
            </a:r>
          </a:p>
          <a:p/>
          <a:p>
            <a:r>
              <a:t>【ここが掴み。数字（初期資金・基本給）はまだ言わない——スライド5で見せる】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 このゲームで起きること</a:t>
            </a:r>
          </a:p>
          <a:p/>
          <a:p>
            <a:r>
              <a:t>このゲームで起きるのは、これだけです。</a:t>
            </a:r>
          </a:p>
          <a:p/>
          <a:p>
            <a:r>
              <a:t>同じ盤面、同じサイコロ、同じルール。違うのは、生まれた場所だけ。</a:t>
            </a:r>
          </a:p>
          <a:p/>
          <a:p>
            <a:r>
              <a:t>説明ではなく、自分の手番でそれが起きます。</a:t>
            </a:r>
          </a:p>
          <a:p>
            <a:r>
              <a:t>その差が結果にどう出るかを、25分で一度通しておく。</a:t>
            </a:r>
          </a:p>
          <a:p/>
          <a:p>
            <a:r>
              <a:t>【学生募金の学生が相手なので、ここは正面から言ってよい。</a:t>
            </a:r>
          </a:p>
          <a:p>
            <a:r>
              <a:t>　ただし「努力すれば報われるが、どこでも同じではない」という結論は言わないこと——</a:t>
            </a:r>
          </a:p>
          <a:p>
            <a:r>
              <a:t>　振り返りの問い1がそれを聞く問いなので、ここで答えを配ると確認作業になる】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6つの家庭カード</a:t>
            </a:r>
          </a:p>
          <a:p/>
          <a:p>
            <a:r>
              <a:t>ゲームが始まると、自分の画面にだけカードが1枚配られます。この6種類のどれかです。</a:t>
            </a:r>
          </a:p>
          <a:p>
            <a:r>
              <a:t>ふつうは自分の1枚しか見られませんが、今日は先に6枚とも開けて見ていきます。</a:t>
            </a:r>
          </a:p>
          <a:p/>
          <a:p>
            <a:r>
              <a:t>カードに出るのは、物語と、いまの持ちものと、とくいだけ。</a:t>
            </a:r>
          </a:p>
          <a:p>
            <a:r>
              <a:t>下に書いた基本給と、★1つがいくらになるかは、画面のどこにも出ません。</a:t>
            </a:r>
          </a:p>
          <a:p>
            <a:r>
              <a:t>表に出ないまま、19年間ずっと効き続けます。</a:t>
            </a:r>
          </a:p>
          <a:p/>
          <a:p>
            <a:r>
              <a:t>見てほしいのは下の2枚です。おかねも基本給もまったく同じ。</a:t>
            </a:r>
          </a:p>
          <a:p>
            <a:r>
              <a:t>違うのは、支援を知っているかどうかだけ。</a:t>
            </a:r>
          </a:p>
          <a:p/>
          <a:p>
            <a:r>
              <a:t>【1枚ずつ読み上げない。下段の遺児2枚だけ指さして対比させる】</a:t>
            </a:r>
          </a:p>
          <a:p>
            <a:r>
              <a:t>【⚠️ カードから「基本給」「仕送り」の表示が外れた（2026-09-14 のゲーム更新 e02a3d7）。</a:t>
            </a:r>
          </a:p>
          <a:p>
            <a:r>
              <a:t>　数字を出すのはこのスライドと、スライド13だけ。 キャプションを必ず読み上げること】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6. 今日いちばん見てほしいこと</a:t>
            </a:r>
          </a:p>
          <a:p/>
          <a:p>
            <a:r>
              <a:t>だから、今日いちばん見てほしいのはこれです。</a:t>
            </a:r>
          </a:p>
          <a:p/>
          <a:p>
            <a:r>
              <a:t>カギが足りずに開けられないのと、扉があることすら知らないのは、まったく違う。</a:t>
            </a:r>
          </a:p>
          <a:p/>
          <a:p>
            <a:r>
              <a:t>どのチームにも、ウガンダの遺児の家庭が必ず1人入ります。</a:t>
            </a:r>
          </a:p>
          <a:p>
            <a:r>
              <a:t>その人に何が見えていて、何が見えていなかったか——ゲームが終わったら、全員で答え合わせをします。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まず、ゲームに入る</a:t>
            </a:r>
          </a:p>
          <a:p/>
          <a:p>
            <a:r>
              <a:t>チームに分かれてください。3〜4人で1チーム。近くの人と組んで構いません。</a:t>
            </a:r>
          </a:p>
          <a:p>
            <a:r>
              <a:t>チームの中で進行役を1人決めてください。ルームを作成する係です。</a:t>
            </a:r>
          </a:p>
          <a:p/>
          <a:p>
            <a:r>
              <a:t>進行役だけ、名前を入れて「ルームをつくる」。すると6文字のあいことばが出ます。</a:t>
            </a:r>
          </a:p>
          <a:p>
            <a:r>
              <a:t>それをチームに口で伝えて、ほかの人は名前とあいことばを入れて「ルームに参加」。</a:t>
            </a:r>
          </a:p>
          <a:p/>
          <a:p>
            <a:r>
              <a:t>進行役の画面にチーム全員がそろったら、まだ「ゲーム開始」は押さないでください。</a:t>
            </a:r>
          </a:p>
          <a:p>
            <a:r>
              <a:t>ルールを説明してから、一斉に始めます。</a:t>
            </a:r>
          </a:p>
          <a:p/>
          <a:p>
            <a:r>
              <a:t>ひとつだけ。進行役の画面に⚠️のついたチェックボックスがあります。今日は触らないでください。</a:t>
            </a:r>
          </a:p>
          <a:p/>
          <a:p>
            <a:r>
              <a:t>【「まだ押さない」は強めに。押されるとカードが配られて説明を聞かなくなる】</a:t>
            </a:r>
          </a:p>
          <a:p>
            <a:r>
              <a:t>【チェックボックス＝死別・干ばつイベント。この会では必ずOFF】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URL と、2つの約束</a:t>
            </a:r>
          </a:p>
          <a:p/>
          <a:p>
            <a:r>
              <a:t>このURL、またはQRコードに、全員アクセスしてください。</a:t>
            </a:r>
          </a:p>
          <a:p/>
          <a:p>
            <a:r>
              <a:t>遊ぶ前に2つだけ。家庭カードは自分の画面にしか出ません。人に見せない、隣をのぞかない。</a:t>
            </a:r>
          </a:p>
          <a:p>
            <a:r>
              <a:t>さっき6枚とも見せましたが、誰にどれが配られたかは、最後まで秘密です。</a:t>
            </a:r>
          </a:p>
          <a:p>
            <a:r>
              <a:t>それから、接続が切れても同じページを開き直せば戻れます。ただし開始後の途中参加はできません。</a:t>
            </a:r>
          </a:p>
          <a:p/>
          <a:p>
            <a:r>
              <a:t>【いちばん時間が溶けるところ。3分は見ておく。スタッフは各テーブルを回る】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盤面</a:t>
            </a:r>
          </a:p>
          <a:p/>
          <a:p>
            <a:r>
              <a:t>盤面は24マス。6歳から25歳までの19年間です。</a:t>
            </a:r>
          </a:p>
          <a:p/>
          <a:p>
            <a:r>
              <a:t>15歳まではサイコロを使いません。「一歩すすむ」で1マスずつ。人生の土台をつくる期間です。</a:t>
            </a:r>
          </a:p>
          <a:p>
            <a:r>
              <a:t>15歳の「進学のトビラ」からサイコロが始まります。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10. ゲームの流れ</a:t>
            </a:r>
          </a:p>
          <a:p/>
          <a:p>
            <a:r>
              <a:t>ここで一度、全体の形を見ておきます。くりかえすのは、この4つだけです。</a:t>
            </a:r>
          </a:p>
          <a:p/>
          <a:p>
            <a:r>
              <a:t>サイコロを転がす。止まったマスで、できごとが起きる。おかねと★まなびが動く。</a:t>
            </a:r>
          </a:p>
          <a:p>
            <a:r>
              <a:t>それを25歳まで続けて、ゴールしたときの♥ハッピーで順位が決まります。</a:t>
            </a:r>
          </a:p>
          <a:p/>
          <a:p>
            <a:r>
              <a:t>おかねも★まなびも、それ自体は順位になりません。</a:t>
            </a:r>
          </a:p>
          <a:p>
            <a:r>
              <a:t>何のためにためるのかは、あとで話します。</a:t>
            </a:r>
          </a:p>
          <a:p/>
          <a:p>
            <a:r>
              <a:t>【この1枚で形を見せておくと、次の「マスの種類」と「トビラ」が速くなる。</a:t>
            </a:r>
          </a:p>
          <a:p>
            <a:r>
              <a:t>　盤面（9枚目）とマスの種類（11枚目）は、ここで駆け足にしてよい】</a:t>
            </a:r>
          </a:p>
          <a:p>
            <a:r>
              <a:t>【♥が何かはここでは説明しない。14枚目で定義する】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11. マスの種類</a:t>
            </a:r>
          </a:p>
          <a:p/>
          <a:p>
            <a:r>
              <a:t>マスは6種類。</a:t>
            </a:r>
          </a:p>
          <a:p>
            <a:r>
              <a:t>おしごとは収入。しゅっぴは支出。できごとはカードを1枚引く。まなびは自分への投資、0円でも学べます。</a:t>
            </a:r>
          </a:p>
          <a:p>
            <a:r>
              <a:t>ピンクのトビラが人生の分岐点。19年間で6枚に出会います。</a:t>
            </a:r>
          </a:p>
          <a:p>
            <a:r>
              <a:t>緑のはなしあいは22歳にひとつだけ。ゲームを止めて、チームで話すマスです。数字は変わりません。</a:t>
            </a:r>
          </a:p>
          <a:p/>
          <a:p>
            <a:r>
              <a:t>どのマスも、止まったら画面が出て、OKを押すと次の人の番になります。</a:t>
            </a:r>
          </a:p>
          <a:p/>
          <a:p>
            <a:r>
              <a:t>画面の右上に、「進行」「音」「あそびかた」「じぶんのカード」のボタンがあります。</a:t>
            </a:r>
          </a:p>
          <a:p>
            <a:r>
              <a:t>音が出ます。うるさければ「音」で切ってください。</a:t>
            </a:r>
          </a:p>
          <a:p>
            <a:r>
              <a:t>ルールを忘れたら「あそびかた」、自分のカードを見返すときは「じぶんのカード」です。</a:t>
            </a:r>
          </a:p>
          <a:p/>
          <a:p>
            <a:r>
              <a:t>【「進行」は進行役だけに出る。手番とばしや参加者を外す操作なので、参加者には説明しなくてよい】</a:t>
            </a:r>
          </a:p>
          <a:p>
            <a:r>
              <a:t>【はなしあいは、いちばんにそこへ着いた人だけが止まる。止まらないチームが出るので、</a:t>
            </a:r>
          </a:p>
          <a:p>
            <a:r>
              <a:t>　プレイ中に全体が22歳あたりに来たら、進行役が一度声をかけて手を止めさせると確実】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12. トビラとカギ ★ここが核心</a:t>
            </a:r>
          </a:p>
          <a:p/>
          <a:p>
            <a:r>
              <a:t>ここがこのゲームの核心です。トビラでは道を選びます。画面を見てください。</a:t>
            </a:r>
          </a:p>
          <a:p/>
          <a:p>
            <a:r>
              <a:t>まず左。選択肢には名前しか出ません。 どれにカギがいくつ必要かは、ここでは分かりません。</a:t>
            </a:r>
          </a:p>
          <a:p/>
          <a:p>
            <a:r>
              <a:t>ひとつ選ぶと、右の確認画面になります。</a:t>
            </a:r>
          </a:p>
          <a:p>
            <a:r>
              <a:t>ここではじめてカギが出て、足りていれば開く。足りなければ——</a:t>
            </a:r>
          </a:p>
          <a:p>
            <a:r>
              <a:t>「カギが足りない……このトビラは開かなかった」と出て、ほかのトビラを選び直すことになります。</a:t>
            </a:r>
          </a:p>
          <a:p/>
          <a:p>
            <a:r>
              <a:t>カギの要らない道は、いつでも必ず選べます。詰むことはありません。</a:t>
            </a:r>
          </a:p>
          <a:p/>
          <a:p>
            <a:r>
              <a:t>そしてもうひとつ。？？？。これはそもそも中身が見えない。</a:t>
            </a:r>
          </a:p>
          <a:p>
            <a:r>
              <a:t>名前も分からないので、選ぶことすらできません。</a:t>
            </a:r>
          </a:p>
          <a:p/>
          <a:p>
            <a:r>
              <a:t>つまり——開けてみるまで、開くかどうか分からない。 これを覚えておいてください。</a:t>
            </a:r>
          </a:p>
          <a:p/>
          <a:p>
            <a:r>
              <a:t>【？？？が「なぜ見えないのか」はここでは説明しない。結果発表の種明かしが弱くなる】</a:t>
            </a:r>
          </a:p>
          <a:p>
            <a:r>
              <a:t>【⚠️ トビラの選び方が2段階になった（2026-09-14 のゲーム更新）。</a:t>
            </a:r>
          </a:p>
          <a:p>
            <a:r>
              <a:t>　以前のように一覧で🔒が見えることはもうない。「選んでから分かる」が新しい体験の芯】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13. 同じ★でも、入るお金がちがう</a:t>
            </a:r>
          </a:p>
          <a:p/>
          <a:p>
            <a:r>
              <a:t>おしごとのマスに止まると、この画面が出ます。計算はしなくていい——ゲームが自動で足します。</a:t>
            </a:r>
          </a:p>
          <a:p/>
          <a:p>
            <a:r>
              <a:t>見てほしいのは、入る金額が人によって違うことです。</a:t>
            </a:r>
          </a:p>
          <a:p>
            <a:r>
              <a:t>日本や欧米で育つと、★1つが10万。ウガンダで育つと、★1つは5万。</a:t>
            </a:r>
          </a:p>
          <a:p>
            <a:r>
              <a:t>はたらきはじめの基本給も、20万と10万で違います。</a:t>
            </a:r>
          </a:p>
          <a:p/>
          <a:p>
            <a:r>
              <a:t>この2つは生まれた場所で決まっていて、カードにも盤面にも出てきません。</a:t>
            </a:r>
          </a:p>
          <a:p>
            <a:r>
              <a:t>同じマスに止まって、同じ★を持っていても、入るお金は違う。</a:t>
            </a:r>
          </a:p>
          <a:p/>
          <a:p>
            <a:r>
              <a:t>【⚠️ おしごとのマスは飛びこされやすく、35%の人は一度も止まらない（README「この副作用は承知のうえ」）。</a:t>
            </a:r>
          </a:p>
          <a:p>
            <a:r>
              <a:t>　しかも 2026-09-14 にカードからも基本給が消えたので、このスライドとスライド5が唯一の情報源。</a:t>
            </a:r>
          </a:p>
          <a:p>
            <a:r>
              <a:t>　この1枚は飛ばさない】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14. 奨学金と、順位</a:t>
            </a:r>
          </a:p>
          <a:p/>
          <a:p>
            <a:r>
              <a:t>お金が足りないとき、奨学金という道があります。総額48万の貸与型。</a:t>
            </a:r>
          </a:p>
          <a:p>
            <a:r>
              <a:t>働くたびに6万ずつ返します。ただし——25歳では返し終わりません。</a:t>
            </a:r>
          </a:p>
          <a:p/>
          <a:p>
            <a:r>
              <a:t>最後に順位の話。順位を決めるのは、お金ではなく♥ハッピーの数です。</a:t>
            </a:r>
          </a:p>
          <a:p>
            <a:r>
              <a:t>♥とは——人生の選択肢を多く持ち、自分の意思で選べた回数のこと。</a:t>
            </a:r>
          </a:p>
          <a:p>
            <a:r>
              <a:t>おかねと★まなびは、そのための「カギ」。目的ではなく手段です。</a:t>
            </a:r>
          </a:p>
          <a:p/>
          <a:p>
            <a:r>
              <a:t>【⚠️「支援を知っている人は返済不要の奨学金に出会える」は言わないこと。</a:t>
            </a:r>
          </a:p>
          <a:p>
            <a:r>
              <a:t>　人によって見えている選択肢がちがうことを事前に明かすと、種明かしと問い3が弱くなる】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15. プレイタイム</a:t>
            </a:r>
          </a:p>
          <a:p/>
          <a:p>
            <a:r>
              <a:t>では始めましょう。進行役の人、「ゲーム開始」を押してください。</a:t>
            </a:r>
          </a:p>
          <a:p>
            <a:r>
              <a:t>カードが配られたら、まず自分のカードをよく読んでください。2〜3分とります。</a:t>
            </a:r>
          </a:p>
          <a:p/>
          <a:p>
            <a:r>
              <a:t>【スライドの「スタート」でタイマー開始。25分】</a:t>
            </a:r>
          </a:p>
          <a:p>
            <a:r>
              <a:t>【スタッフは会場を回り、次を見る：】</a:t>
            </a:r>
          </a:p>
          <a:p>
            <a:r>
              <a:t>- カードが配られたか／ひとりだけ入れていないチームがないか</a:t>
            </a:r>
          </a:p>
          <a:p>
            <a:r>
              <a:t>- OKの押し忘れで止まっていないか（自分の番なのにサイコロが押せない＝前の人のOK待ち）</a:t>
            </a:r>
          </a:p>
          <a:p>
            <a:r>
              <a:t>- ウガンダの遺児カードを引いた人の様子</a:t>
            </a:r>
          </a:p>
          <a:p>
            <a:r>
              <a:t>- 全体が22歳あたりに来たら、「はなしあい」で一度手を止めるよう声をかける</a:t>
            </a:r>
          </a:p>
          <a:p>
            <a:r>
              <a:t>- 早く終わったチーム → 結果画面の「ネタバラシ」「19年間のトビラ一覧」を先に見てもらう</a:t>
            </a:r>
          </a:p>
          <a:p>
            <a:r>
              <a:t>- 遅れているチーム → 残り5分で声をかけ、サイコロを速く回してもらう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16. 結果を全員で見る（3分）</a:t>
            </a:r>
          </a:p>
          <a:p/>
          <a:p>
            <a:r>
              <a:t>全員ゴールしましたね。まず結果画面を見ていきます。</a:t>
            </a:r>
          </a:p>
          <a:p/>
          <a:p>
            <a:r>
              <a:t>順位は♥の数。同数なら残ったお金です。</a:t>
            </a:r>
          </a:p>
          <a:p>
            <a:r>
              <a:t>そして家庭カードが公開されます。誰がどこに生まれていたのかが、ここで分かります。</a:t>
            </a:r>
          </a:p>
          <a:p>
            <a:r>
              <a:t>「25歳のいま」——それぞれのエンディングを、声に出して読んでみてください。</a:t>
            </a:r>
          </a:p>
          <a:p/>
          <a:p>
            <a:r>
              <a:t>奨学金を借りた人は「まだ◯◯万のこっている」と出ているはずです。ゴールは、終わりではなかった。</a:t>
            </a:r>
          </a:p>
          <a:p/>
          <a:p>
            <a:r>
              <a:t>【順位発表は1分で流していい。エンディングの読み上げに時間を使わせる】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17. 誰が、どの扉を選んだのか（7分）</a:t>
            </a:r>
          </a:p>
          <a:p/>
          <a:p>
            <a:r>
              <a:t>次が、このゲームの本体です。</a:t>
            </a:r>
          </a:p>
          <a:p>
            <a:r>
              <a:t>誰のネタバラシでも、自分の画面から開けます。 人に見せてもらう必要はありません。</a:t>
            </a:r>
          </a:p>
          <a:p>
            <a:r>
              <a:t>まず自分のぶんを開いてください。19年間に出会った扉が、全部ならびます。</a:t>
            </a:r>
          </a:p>
          <a:p/>
          <a:p>
            <a:r>
              <a:t>えらんだもの、開けられたもの、カギが足りなかったもの——そして、</a:t>
            </a:r>
          </a:p>
          <a:p>
            <a:r>
              <a:t>紫の行。これがゲーム中「？？？」だったものです。</a:t>
            </a:r>
          </a:p>
          <a:p>
            <a:r>
              <a:t>本当は何だったのかが、ここで初めて分かります。</a:t>
            </a:r>
          </a:p>
          <a:p/>
          <a:p>
            <a:r>
              <a:t>結果画面に戻ると、ひとりずつ「見えていなかった ◯」という数字が出ています。</a:t>
            </a:r>
          </a:p>
          <a:p>
            <a:r>
              <a:t>自分の数字を、声に出して読み上げてみてください。</a:t>
            </a:r>
          </a:p>
          <a:p/>
          <a:p>
            <a:r>
              <a:t>【ここに時間をいちばん使う。「見えていなかった◯枚」を全員が声に出すと、次の問い2がそのまま立つ】</a:t>
            </a:r>
          </a:p>
          <a:p>
            <a:r>
              <a:t>【「誰のぶんでも開ける」を必ず言うこと。 言わないと参加者は自分のぶんしか見ない】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18. 問い1 — かせぎの差</a:t>
            </a:r>
          </a:p>
          <a:p/>
          <a:p>
            <a:r>
              <a:t>ここから5つ、問いを出します。正解はありません。話したくないことは話さなくて大丈夫です。</a:t>
            </a:r>
          </a:p>
          <a:p/>
          <a:p>
            <a:r>
              <a:t>ひとつめ。結果画面で、★の数が近い人を2人さがしてください。</a:t>
            </a:r>
          </a:p>
          <a:p>
            <a:r>
              <a:t>おかねの増え方は、同じでしたか？</a:t>
            </a:r>
          </a:p>
          <a:p>
            <a:r>
              <a:t>それは、本人の努力のちがいだろうか？</a:t>
            </a:r>
          </a:p>
          <a:p/>
          <a:p>
            <a:r>
              <a:t>【1問あたり3分弱。時間が押していたら問い4から削る。問い2と問い3は残す】</a:t>
            </a:r>
          </a:p>
          <a:p>
            <a:r>
              <a:t>【引き出したい答え：基本給も★1つの値も生まれた場所で決まっていた。本人にはどうしようもなかった】</a:t>
            </a:r>
          </a:p>
          <a:p>
            <a:r>
              <a:t>【⚠️ 数字はスライド5と12にしかない。基本給20万と10万、★1つ10万と5万を口頭で添えること。</a:t>
            </a:r>
          </a:p>
          <a:p>
            <a:r>
              <a:t>　「家庭カードを思い出して」は言わない——2026-09-14 にカードから消えている】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19. 問い2 — 見えなかったトビラ</a:t>
            </a:r>
          </a:p>
          <a:p/>
          <a:p>
            <a:r>
              <a:t>自分のカードの「見えていなかった ◯」を読み上げてください。</a:t>
            </a:r>
          </a:p>
          <a:p>
            <a:r>
              <a:t>チームで数字がちがいます。何がその差をつくったのでしょう。</a:t>
            </a:r>
          </a:p>
          <a:p/>
          <a:p>
            <a:r>
              <a:t>【結果画面の帯グラフ、紫の部分の数字。全員が自分の画面で読める】</a:t>
            </a:r>
          </a:p>
          <a:p>
            <a:r>
              <a:t>【めぐまれた家庭にも見えなかった扉（支え合い系）がある。「見えない＝かわいそう」で終わらせない】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20. 問い3 — 遺児の子に見えていたもの</a:t>
            </a:r>
          </a:p>
          <a:p/>
          <a:p>
            <a:r>
              <a:t>ウガンダの遺児の家庭だった人のネタバラシを、全員が自分の画面で開いてください。</a:t>
            </a:r>
          </a:p>
          <a:p>
            <a:r>
              <a:t>その人には、何が「見えて」いましたか。それは、なぜでしょう。</a:t>
            </a:r>
          </a:p>
          <a:p/>
          <a:p>
            <a:r>
              <a:t>【答えの芯：支援と出会えた遺児には、奨学金・支援の扉がすべて見えていた。「出会い」自体が力になる】</a:t>
            </a:r>
          </a:p>
          <a:p>
            <a:r>
              <a:t>【本人に手を挙げてもらう必要はない。 全員が自分の端末で開く。当事者の負担を増やさないこと】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21. 問い4 — 今日持ってきたもの</a:t>
            </a:r>
          </a:p>
          <a:p/>
          <a:p>
            <a:r>
              <a:t>今日あなたが持ってきたもの——スマホ、無料の教科書、給食。</a:t>
            </a:r>
          </a:p>
          <a:p>
            <a:r>
              <a:t>それは、どの家庭カードの世界のものだったでしょうか。</a:t>
            </a:r>
          </a:p>
          <a:p/>
          <a:p>
            <a:r>
              <a:t>【導入の「3つの世界の朝」に戻る問い。自分の日常がどのカードの上にあるか】</a:t>
            </a:r>
          </a:p>
          <a:p>
            <a:r>
              <a:t>【時間が押していたら、ここを削る】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22. 問い5 — わたせるカギ</a:t>
            </a:r>
          </a:p>
          <a:p/>
          <a:p>
            <a:r>
              <a:t>最後です。日本にいる私たちが、世界の遺児にわたせる「カギ」って、何だと思いますか。</a:t>
            </a:r>
          </a:p>
          <a:p/>
          <a:p>
            <a:r>
              <a:t>【ここは答えを用意しない。次の2枚が、そのまま答えの一部になる】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23. ゲームから現実へ</a:t>
            </a:r>
          </a:p>
          <a:p/>
          <a:p>
            <a:r>
              <a:t>ゲームで起きていたことを並べます。</a:t>
            </a:r>
          </a:p>
          <a:p>
            <a:r>
              <a:t>生まれの差——初期資金と基本給が違った。</a:t>
            </a:r>
          </a:p>
          <a:p>
            <a:r>
              <a:t>それが見える世界の差になった——知っている支援、出会える情報が違った。</a:t>
            </a:r>
          </a:p>
          <a:p>
            <a:r>
              <a:t>そして実る場の差——同じ★を持っていても、かせぎが違った。</a:t>
            </a:r>
          </a:p>
          <a:p/>
          <a:p>
            <a:r>
              <a:t>学べば報われる、は、場が用意されている人の話です。</a:t>
            </a:r>
          </a:p>
          <a:p/>
          <a:p>
            <a:r>
              <a:t>この差は、次の世代の「生まれの差」になっていきます。</a:t>
            </a:r>
          </a:p>
          <a:p>
            <a:r>
              <a:t>ゲームで見た「？？？」も「カギ不足」も、いまの世界に実在します。</a:t>
            </a:r>
          </a:p>
          <a:p/>
          <a:p>
            <a:r>
              <a:t>【太字の一文が、旧問い2の中身。問いにせず、ここで言い切る】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24. だから、「支援」がある</a:t>
            </a:r>
          </a:p>
          <a:p/>
          <a:p>
            <a:r>
              <a:t>この連鎖は、本人の努力だけでは断ち切れません。だから世界には、遺児を支える仕組みと人がいます。</a:t>
            </a:r>
          </a:p>
          <a:p/>
          <a:p>
            <a:r>
              <a:t>あしなが育英会は「あしながウガンダ」で、現地の遺児の教育を実際に支えています。</a:t>
            </a:r>
          </a:p>
          <a:p>
            <a:r>
              <a:t>ゲームに出てきた「支援団体」のモデルは、これです。</a:t>
            </a:r>
          </a:p>
          <a:p/>
          <a:p>
            <a:r>
              <a:t>そしてAAI。アフリカの遺児を海外の大学へ送り出す奨学金です。</a:t>
            </a:r>
          </a:p>
          <a:p>
            <a:r>
              <a:t>カギはお金ではなく、まなびと——「志」。祖国に貢献するリーダーを育てる「約束」の仕組みです。</a:t>
            </a:r>
          </a:p>
          <a:p/>
          <a:p>
            <a:r>
              <a:t>ゲームでAAIを選んだ人は、お金を1円も払っていません。</a:t>
            </a:r>
          </a:p>
          <a:p>
            <a:r>
              <a:t>かわりに「志」の約束がついていました。25歳のいま、その人がどこで何をしていたか、読んでみてください。</a:t>
            </a:r>
          </a:p>
          <a:p/>
          <a:p>
            <a:r>
              <a:t>そして、その入り口に立っているのが——いま街頭に立っている、みなさんです。</a:t>
            </a:r>
          </a:p>
          <a:p/>
          <a:p>
            <a:r>
              <a:t>【ここで初めてAAIの「志の約束」を明かす。事前に言わないこと】</a:t>
            </a:r>
          </a:p>
          <a:p>
            <a:r>
              <a:t>【AAIを選んだ人がいれば「25歳のいま」を読み上げてもらう。いなくても成立する】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25. ここからは、検証です</a:t>
            </a:r>
          </a:p>
          <a:p/>
          <a:p>
            <a:r>
              <a:t>……で、ここからが本題です。</a:t>
            </a:r>
          </a:p>
          <a:p>
            <a:r>
              <a:t>このゲーム、まだ完成していません。今日はみなさんにテストプレイをしてもらいました。</a:t>
            </a:r>
          </a:p>
          <a:p>
            <a:r>
              <a:t>今度は「届ける側」として、いまの75分を振り返ってください。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26. 気になるところを、全部出してください</a:t>
            </a:r>
          </a:p>
          <a:p/>
          <a:p>
            <a:r>
              <a:t>4つの角度で聞かせてください。</a:t>
            </a:r>
          </a:p>
          <a:p>
            <a:r>
              <a:t>時間——25分で終わりましたか。長すぎた、短すぎたのはどこですか。</a:t>
            </a:r>
          </a:p>
          <a:p>
            <a:r>
              <a:t>つまずき——ルールで分からなかったこと、操作で迷ったところ。</a:t>
            </a:r>
          </a:p>
          <a:p>
            <a:r>
              <a:t>表現——「この言い方は違う」「強すぎる／弱すぎる」と感じたところ。</a:t>
            </a:r>
          </a:p>
          <a:p>
            <a:r>
              <a:t>届け方——これを高校生に届けるとしたら、何を削り、何を足しますか。</a:t>
            </a:r>
          </a:p>
          <a:p/>
          <a:p>
            <a:r>
              <a:t>それともうひとつ。今日は家庭カードを最初に6枚とも見せました。</a:t>
            </a:r>
          </a:p>
          <a:p>
            <a:r>
              <a:t>伏せたまま遊ぶと、結果発表の驚きは大きくなります。どちらがいいと思いますか。</a:t>
            </a:r>
          </a:p>
          <a:p/>
          <a:p>
            <a:r>
              <a:t>【チームで2分話してから全体で拾うと出やすい】</a:t>
            </a:r>
          </a:p>
          <a:p>
            <a:r>
              <a:t>【時間の実測は必ず記録する。「25分に収まるか」は未検証の最重要項目】</a:t>
            </a:r>
          </a:p>
          <a:p>
            <a:r>
              <a:t>【メモを取る係を決めておくこと。出た意見は README の「まだ決まっていないこと」に反映する】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27. 感想を聞かせてください</a:t>
            </a:r>
          </a:p>
          <a:p/>
          <a:p>
            <a:r>
              <a:t>最後に、感想を聞かせてください。うまく言葉にならなくてもかまいません。</a:t>
            </a:r>
          </a:p>
          <a:p/>
          <a:p>
            <a:r>
              <a:t>今日いちばん心に残った場面。自分のカードを見たときのこと、他の人のカードを知ったときのこと。</a:t>
            </a:r>
          </a:p>
          <a:p>
            <a:r>
              <a:t>街頭に立つときの言葉が、ひとつでも変わったなら——それを聞かせてください。</a:t>
            </a:r>
          </a:p>
          <a:p/>
          <a:p>
            <a:r>
              <a:t>【ここは問いを立てず、ざっくばらんに。手が挙がらなければ、スタッフが一人目を引き受ける】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28. ありがとうございました</a:t>
            </a:r>
          </a:p>
          <a:p/>
          <a:p>
            <a:r>
              <a:t>今日はありがとうございました。</a:t>
            </a:r>
          </a:p>
          <a:p>
            <a:r>
              <a:t>あなたの前にも、世界のどこかの子の前にも、まだ見ぬトビラがたくさんあります。</a:t>
            </a:r>
          </a:p>
          <a:p/>
          <a:p>
            <a:r>
              <a:t>## 会のあとにやること</a:t>
            </a:r>
          </a:p>
          <a:p/>
          <a:p>
            <a:r>
              <a:t>- [ ] 実測時間を README の「まだ決まっていないこと」に書く</a:t>
            </a:r>
          </a:p>
          <a:p>
            <a:r>
              <a:t>- [ ] 出た意見を分類（バグ／文言／バランス／進行）して、直すものを決める</a:t>
            </a:r>
          </a:p>
          <a:p>
            <a:r>
              <a:t>- [ ] 家庭カードを先に全部見せる構成でよかったか、学生の反応を記録する</a:t>
            </a:r>
          </a:p>
          <a:p>
            <a:r>
              <a:t>- [ ] 問いを5つに減らして27分で足りたかを記録する</a:t>
            </a:r>
          </a:p>
          <a:p>
            <a:r>
              <a:t>- [ ] ゲームの見た目を変えたら、slides/*.png を撮りなおす（手順は SLIDES_BRIEF.md）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3.png"/><Relationship Id="rId4" Type="http://schemas.openxmlformats.org/officeDocument/2006/relationships/image" Target="../media/image6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1.png"/><Relationship Id="rId6" Type="http://schemas.openxmlformats.org/officeDocument/2006/relationships/image" Target="../media/image27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8.png"/><Relationship Id="rId4" Type="http://schemas.openxmlformats.org/officeDocument/2006/relationships/image" Target="../media/image41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114550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230755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249102" y="5093018"/>
            <a:ext cx="172116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078855" y="5093018"/>
            <a:ext cx="18421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028622" y="5093018"/>
            <a:ext cx="143827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1940" y="3518535"/>
            <a:ext cx="5532120" cy="8782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463"/>
              </a:lnSpc>
            </a:pPr>
            <a:r>
              <a:rPr sz="461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 </a:t>
            </a:r>
            <a:r>
              <a:rPr sz="2308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せかい版 ショート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9850" y="4509135"/>
            <a:ext cx="8495348" cy="470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世界のどこかに生まれ、6歳から25歳までを歩く——お金と選択肢の人生ゲーム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3408" y="5093018"/>
            <a:ext cx="18526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1チーム 3〜4人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5093018"/>
            <a:ext cx="19735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ひとり1台の端末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2928" y="5093018"/>
            <a:ext cx="15697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プレイ25分</a:t>
            </a:r>
          </a:p>
        </p:txBody>
      </p:sp>
      <p:pic>
        <p:nvPicPr>
          <p:cNvPr id="12" name="Picture 11" descr="80d4f2f3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080" y="5222558"/>
            <a:ext cx="170498" cy="170498"/>
          </a:xfrm>
          <a:prstGeom prst="rect">
            <a:avLst/>
          </a:prstGeom>
        </p:spPr>
      </p:pic>
      <p:pic>
        <p:nvPicPr>
          <p:cNvPr id="13" name="Picture 12" descr="295a7d21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80" y="5222558"/>
            <a:ext cx="170498" cy="170498"/>
          </a:xfrm>
          <a:prstGeom prst="rect">
            <a:avLst/>
          </a:prstGeom>
        </p:spPr>
      </p:pic>
      <p:pic>
        <p:nvPicPr>
          <p:cNvPr id="14" name="Picture 13" descr="9920a104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5222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48312" y="1602105"/>
            <a:ext cx="261937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057400" y="224313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057400" y="2889885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057400" y="353568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2057400" y="4182428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057400" y="4828222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2057400" y="5474970"/>
            <a:ext cx="9601200" cy="561022"/>
          </a:xfrm>
          <a:prstGeom prst="roundRect">
            <a:avLst>
              <a:gd name="adj" fmla="val 220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765482" y="1602105"/>
            <a:ext cx="268890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今日の流れ（90分）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0718" y="234410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12分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4238" y="235743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導入 — このゲームは何を体験するものか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0718" y="2989898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11分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4238" y="300418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ルール説明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30718" y="363664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25分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238" y="3649980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0718" y="4282440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27分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4238" y="4295775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振り返り — 結果を全員で見る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0718" y="4928235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10分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4238" y="4942522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検証 — 気になるところの洗い出し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0718" y="5574982"/>
            <a:ext cx="1037272" cy="418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2843"/>
              </a:lnSpc>
            </a:pPr>
            <a:r>
              <a:rPr sz="1579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5分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4238" y="5588318"/>
            <a:ext cx="8361045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感想共有</a:t>
            </a:r>
          </a:p>
        </p:txBody>
      </p:sp>
      <p:pic>
        <p:nvPicPr>
          <p:cNvPr id="22" name="Picture 21" descr="f477ab9e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770" y="1741170"/>
            <a:ext cx="194310" cy="194310"/>
          </a:xfrm>
          <a:prstGeom prst="rect">
            <a:avLst/>
          </a:prstGeom>
        </p:spPr>
      </p:pic>
      <p:pic>
        <p:nvPicPr>
          <p:cNvPr id="23" name="Picture 22" descr="8f224c57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7535" y="2426970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7535" y="3072765"/>
            <a:ext cx="194310" cy="194310"/>
          </a:xfrm>
          <a:prstGeom prst="rect">
            <a:avLst/>
          </a:prstGeom>
        </p:spPr>
      </p:pic>
      <p:pic>
        <p:nvPicPr>
          <p:cNvPr id="25" name="Picture 24" descr="092aaf4ad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7535" y="3719512"/>
            <a:ext cx="194310" cy="194310"/>
          </a:xfrm>
          <a:prstGeom prst="rect">
            <a:avLst/>
          </a:prstGeom>
        </p:spPr>
      </p:pic>
      <p:pic>
        <p:nvPicPr>
          <p:cNvPr id="26" name="Picture 25" descr="98bec61da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7535" y="4365308"/>
            <a:ext cx="194310" cy="194310"/>
          </a:xfrm>
          <a:prstGeom prst="rect">
            <a:avLst/>
          </a:prstGeom>
        </p:spPr>
      </p:pic>
      <p:pic>
        <p:nvPicPr>
          <p:cNvPr id="27" name="Picture 26" descr="c2adc338a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7535" y="5012055"/>
            <a:ext cx="194310" cy="194310"/>
          </a:xfrm>
          <a:prstGeom prst="rect">
            <a:avLst/>
          </a:prstGeom>
        </p:spPr>
      </p:pic>
      <p:pic>
        <p:nvPicPr>
          <p:cNvPr id="28" name="Picture 27" descr="432e7fc9e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37535" y="56578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87302" y="1963102"/>
            <a:ext cx="354139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960120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144905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953952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138738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46832" y="2604135"/>
            <a:ext cx="3808095" cy="2073592"/>
          </a:xfrm>
          <a:prstGeom prst="roundRect">
            <a:avLst>
              <a:gd name="adj" fmla="val 818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9132570" y="3873818"/>
            <a:ext cx="3438525" cy="603885"/>
          </a:xfrm>
          <a:prstGeom prst="rect">
            <a:avLst/>
          </a:prstGeom>
          <a:noFill/>
          <a:ln w="19050">
            <a:solidFill>
              <a:srgbClr val="E3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298882" y="5569267"/>
            <a:ext cx="134302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4472" y="1963102"/>
            <a:ext cx="360997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まず、3つの世界の「朝」から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6368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C4703E"/>
                </a:solidFill>
                <a:latin typeface="Zen Maru Gothic"/>
                <a:ea typeface="Zen Maru Gothic"/>
                <a:cs typeface="Zen Maru Gothic"/>
              </a:rPr>
              <a:t>欧米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4905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スクールバスで10分。朝食はシリアルとオレンジジュース。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4905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学校に行くのは「当たり前」。図書館もネットも、ぜんぶそろっている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0200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日本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738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7時に起きて、電車で20分。コンビニに寄る余裕もある。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738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教科書は無料、学校には給食。「支援」も「奨学金」も、自分には関係ない言葉だった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4032" y="2805112"/>
            <a:ext cx="3509962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5FA882"/>
                </a:solidFill>
                <a:latin typeface="Zen Maru Gothic"/>
                <a:ea typeface="Zen Maru Gothic"/>
                <a:cs typeface="Zen Maru Gothic"/>
              </a:rPr>
              <a:t>ウガンダ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570" y="3230880"/>
            <a:ext cx="3781425" cy="607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8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5時起き。水くみに1時間、畑を手伝ってから、5km歩いて学校へ。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570" y="3873818"/>
            <a:ext cx="3781425" cy="6610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学費を払う月はたいへんだ。でも困ったときは、村のみんなが助けてくれる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8595" y="4848225"/>
            <a:ext cx="571785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同じ「学校に行く」でも、そこに至るまでが違う。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この差が、そのまま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ゲームの数字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になっています。</a:t>
            </a:r>
          </a:p>
        </p:txBody>
      </p:sp>
      <p:pic>
        <p:nvPicPr>
          <p:cNvPr id="21" name="Picture 20" descr="c4554495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760" y="2101215"/>
            <a:ext cx="194310" cy="194310"/>
          </a:xfrm>
          <a:prstGeom prst="rect">
            <a:avLst/>
          </a:prstGeom>
        </p:spPr>
      </p:pic>
      <p:pic>
        <p:nvPicPr>
          <p:cNvPr id="22" name="Picture 21" descr="fb498d6d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905" y="2874645"/>
            <a:ext cx="194310" cy="194310"/>
          </a:xfrm>
          <a:prstGeom prst="rect">
            <a:avLst/>
          </a:prstGeom>
        </p:spPr>
      </p:pic>
      <p:pic>
        <p:nvPicPr>
          <p:cNvPr id="23" name="Picture 22" descr="db1c31d8e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738" y="2874645"/>
            <a:ext cx="194310" cy="194310"/>
          </a:xfrm>
          <a:prstGeom prst="rect">
            <a:avLst/>
          </a:prstGeom>
        </p:spPr>
      </p:pic>
      <p:pic>
        <p:nvPicPr>
          <p:cNvPr id="24" name="Picture 23" descr="a2400800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2570" y="287464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92309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530918" y="3944302"/>
            <a:ext cx="6655118" cy="1323975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67362" y="1923098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このゲームで起きること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06040" y="2565082"/>
            <a:ext cx="850392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同じ盤面、同じサイコロ、同じルール。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違うのは、生まれた場所だけ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5168" y="3944302"/>
            <a:ext cx="7226618" cy="1381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説明ではなく、</a:t>
            </a: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自分の手番で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それが起きる。</a:t>
            </a:r>
          </a:p>
          <a:p>
            <a:pPr algn="ctr">
              <a:lnSpc>
                <a:spcPts val="3389"/>
              </a:lnSpc>
            </a:pP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その差が結果にどう出るかを、</a:t>
            </a:r>
            <a:r>
              <a:rPr sz="1883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25分で一度通しておく</a:t>
            </a:r>
            <a:r>
              <a:rPr sz="188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6082" y="5436870"/>
            <a:ext cx="782383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街頭で「世界の遺児に教育を」と言うとき、その一言の後ろにある現実を、自分の手で確かめる時間です</a:t>
            </a:r>
          </a:p>
        </p:txBody>
      </p:sp>
      <p:pic>
        <p:nvPicPr>
          <p:cNvPr id="8" name="Picture 7" descr="23d5e6b3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50" y="20621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8705" y="385762"/>
            <a:ext cx="3959542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51208" y="6732270"/>
            <a:ext cx="313277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90950" y="7146608"/>
            <a:ext cx="50158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m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047" y="1027748"/>
            <a:ext cx="2989675" cy="2262188"/>
          </a:xfrm>
          <a:prstGeom prst="rect">
            <a:avLst/>
          </a:prstGeom>
        </p:spPr>
      </p:pic>
      <p:pic>
        <p:nvPicPr>
          <p:cNvPr id="6" name="Picture 5" descr="fam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3162" y="1027748"/>
            <a:ext cx="2989675" cy="2262188"/>
          </a:xfrm>
          <a:prstGeom prst="rect">
            <a:avLst/>
          </a:prstGeom>
        </p:spPr>
      </p:pic>
      <p:pic>
        <p:nvPicPr>
          <p:cNvPr id="7" name="Picture 6" descr="fam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2277" y="1027748"/>
            <a:ext cx="2989675" cy="2262188"/>
          </a:xfrm>
          <a:prstGeom prst="rect">
            <a:avLst/>
          </a:prstGeom>
        </p:spPr>
      </p:pic>
      <p:pic>
        <p:nvPicPr>
          <p:cNvPr id="8" name="Picture 7" descr="fam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047" y="3703320"/>
            <a:ext cx="2989675" cy="2262188"/>
          </a:xfrm>
          <a:prstGeom prst="rect">
            <a:avLst/>
          </a:prstGeom>
        </p:spPr>
      </p:pic>
      <p:pic>
        <p:nvPicPr>
          <p:cNvPr id="9" name="Picture 8" descr="fam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2" y="3703320"/>
            <a:ext cx="2989675" cy="2262188"/>
          </a:xfrm>
          <a:prstGeom prst="rect">
            <a:avLst/>
          </a:prstGeom>
        </p:spPr>
      </p:pic>
      <p:pic>
        <p:nvPicPr>
          <p:cNvPr id="10" name="Picture 9" descr="fam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2277" y="3703320"/>
            <a:ext cx="2989675" cy="2262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5875" y="385762"/>
            <a:ext cx="40281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配られる家庭カードは、この6種類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775" y="3343275"/>
            <a:ext cx="328326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欧米：はじめ150万／基本給20万／★1つ＝10万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7795" y="3343275"/>
            <a:ext cx="3280410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日本：はじめ120万／基本給20万／★1つ＝10万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03068" y="3343275"/>
            <a:ext cx="3808095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ウガンダ駐在：はじめ150万／基本給20万／★1つ＝10万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73" y="6019800"/>
            <a:ext cx="408717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ウガンダ・両親あり：はじめ40万／基本給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2022" y="6019800"/>
            <a:ext cx="4212908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支援と出会えた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：はじめ20万／基本給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10万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／★1つ＝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5万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6882" y="6019800"/>
            <a:ext cx="3719512" cy="2933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58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遺児・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まだ出会えていない</a:t>
            </a: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：数字は左とまったく同じ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6012" y="6424612"/>
            <a:ext cx="894302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カードに出るのは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物語・いまの持ちもの・とくい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だけ。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下に書いた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基本給と★1つの値は、画面のどこにも出ないまま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ずっと効き続けます。</a:t>
            </a:r>
          </a:p>
        </p:txBody>
      </p:sp>
      <p:pic>
        <p:nvPicPr>
          <p:cNvPr id="19" name="Picture 18" descr="6fdef56e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016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42548" y="1885950"/>
            <a:ext cx="342995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580698" y="4818698"/>
            <a:ext cx="322516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59718" y="1885950"/>
            <a:ext cx="349853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今日いちばん見てほしいこと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7048" y="2526982"/>
            <a:ext cx="7622858" cy="1871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カギが足りずに開けられないのと、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扉があることすら知らない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まったく違う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05200" y="4511040"/>
            <a:ext cx="670560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どのチームにも、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ウガンダの遺児の家庭が必ず1人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入ります。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その人に何が見えていて、何が見えていなかったか——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ゲームが終わったら、全員で答え合わせをします。</a:t>
            </a:r>
          </a:p>
        </p:txBody>
      </p:sp>
      <p:pic>
        <p:nvPicPr>
          <p:cNvPr id="7" name="Picture 6" descr="aa7a0066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005" y="202406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57838" y="385762"/>
            <a:ext cx="260127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lobb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1676" y="1027748"/>
            <a:ext cx="8232648" cy="5145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75008" y="385762"/>
            <a:ext cx="266985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まず、ゲームに入る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2945" y="6657022"/>
            <a:ext cx="4166235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3〜4人で1チーム。その中で「ルームをつくる」係を1人決める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1. チームと進行役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5380" y="6657022"/>
            <a:ext cx="4123372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進行役の画面に6文字が出る。チームに口で伝え、ほかの人は「ルームに参加」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2. あいことばを配る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6862" y="6657022"/>
            <a:ext cx="40909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全員そろっても「ゲーム開始」はまだ押さない。⚠️のチェックボックスは触らない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3. そろったら止める</a:t>
            </a:r>
          </a:p>
        </p:txBody>
      </p:sp>
      <p:pic>
        <p:nvPicPr>
          <p:cNvPr id="14" name="Picture 13" descr="ea481504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295" y="524828"/>
            <a:ext cx="194310" cy="194310"/>
          </a:xfrm>
          <a:prstGeom prst="rect">
            <a:avLst/>
          </a:prstGeom>
        </p:spPr>
      </p:pic>
      <p:pic>
        <p:nvPicPr>
          <p:cNvPr id="15" name="Picture 14" descr="b21aaf87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16" name="Picture 15" descr="5b29d22d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17" name="Picture 16" descr="dadcd76f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32032" y="2009775"/>
            <a:ext cx="40528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477702" y="2651760"/>
            <a:ext cx="1851660" cy="185166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598920" y="3029902"/>
            <a:ext cx="2638425" cy="769620"/>
          </a:xfrm>
          <a:prstGeom prst="roundRect">
            <a:avLst>
              <a:gd name="adj" fmla="val 2004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645920" y="4672965"/>
            <a:ext cx="5157788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912292" y="4672965"/>
            <a:ext cx="5157788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49202" y="2009775"/>
            <a:ext cx="41214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全員、ここにアクセスしてください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5355" y="3346132"/>
            <a:ext cx="1317308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QRコードを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70120" y="3595688"/>
            <a:ext cx="1265872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ここに貼る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3170" y="3029902"/>
            <a:ext cx="3209925" cy="826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389"/>
              </a:lnSpc>
            </a:pPr>
            <a:r>
              <a:rPr sz="188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3170" y="3860482"/>
            <a:ext cx="320992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つながらない場合は手を挙げてください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225" y="5033010"/>
            <a:ext cx="505110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人に見せない、隣をのぞかない。誰にどれが配られたかは最後まで秘密です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7875" y="4757738"/>
            <a:ext cx="494538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カードは自分の画面だけ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5645" y="5033010"/>
            <a:ext cx="505110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同じページを開き直せば復帰できます。ただし開始後の途中参加はできません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3295" y="4757738"/>
            <a:ext cx="4945380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切れても戻れます</a:t>
            </a:r>
          </a:p>
        </p:txBody>
      </p:sp>
      <p:pic>
        <p:nvPicPr>
          <p:cNvPr id="16" name="Picture 15" descr="995d0a3b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490" y="2148840"/>
            <a:ext cx="194310" cy="194310"/>
          </a:xfrm>
          <a:prstGeom prst="rect">
            <a:avLst/>
          </a:prstGeom>
        </p:spPr>
      </p:pic>
      <p:pic>
        <p:nvPicPr>
          <p:cNvPr id="17" name="Picture 16" descr="a3e3bfe9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225" y="4787265"/>
            <a:ext cx="178118" cy="178118"/>
          </a:xfrm>
          <a:prstGeom prst="rect">
            <a:avLst/>
          </a:prstGeom>
        </p:spPr>
      </p:pic>
      <p:pic>
        <p:nvPicPr>
          <p:cNvPr id="18" name="Picture 17" descr="1f11ed96e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5645" y="4787265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72050" y="385762"/>
            <a:ext cx="377190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126480" y="6732270"/>
            <a:ext cx="98774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425" y="1027807"/>
            <a:ext cx="8438198" cy="5273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89220" y="385762"/>
            <a:ext cx="384048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盤面は24マス・6歳から25歳まで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83255" y="6424612"/>
            <a:ext cx="735044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15歳まではサイコロなしで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1マスずつ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——人生の土台をつくる期間。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15歳の進学のトビラからサイコロが始まります。</a:t>
            </a:r>
          </a:p>
        </p:txBody>
      </p:sp>
      <p:pic>
        <p:nvPicPr>
          <p:cNvPr id="7" name="Picture 6" descr="092aaf4a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3508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45970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11480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744278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078028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10410825" y="3462338"/>
            <a:ext cx="2893695" cy="113157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410325" y="5072062"/>
            <a:ext cx="290893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40955" y="5485448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5522" y="2045970"/>
            <a:ext cx="2046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ゲームの流れ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7648" y="2687955"/>
            <a:ext cx="5641658" cy="6619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くりかえすのは、</a:t>
            </a:r>
            <a:r>
              <a:rPr sz="340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この4つ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785" y="3624262"/>
            <a:ext cx="2505075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サイコロを転がす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795" y="4026218"/>
            <a:ext cx="3187065" cy="463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15歳から。それまでは「一歩すすむ」で1マスずつ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058" y="3462338"/>
            <a:ext cx="7953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1440" y="3624262"/>
            <a:ext cx="2883218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止まったマスで、できごと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7592" y="4026218"/>
            <a:ext cx="3187065" cy="4638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おしごと・しゅっぴ・できごと・まなび・トビラ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0808" y="3462338"/>
            <a:ext cx="7953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29488" y="3624262"/>
            <a:ext cx="2788920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おかねと★まなびが動く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342" y="4026218"/>
            <a:ext cx="3187065" cy="260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増えることも、減ることもある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93605" y="3462338"/>
            <a:ext cx="7953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42345" y="3624262"/>
            <a:ext cx="2308860" cy="397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79"/>
              </a:lnSpc>
            </a:pPr>
            <a:r>
              <a:rPr sz="14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25歳でゴール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64140" y="4026218"/>
            <a:ext cx="3187065" cy="260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00"/>
              </a:lnSpc>
            </a:pPr>
            <a:r>
              <a:rPr sz="1032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そのときの♥ハッピーで順位が決まる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7152" y="4764405"/>
            <a:ext cx="5941695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おかねも★まなびも、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それ自体は順位になりません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順位を決めるのは、ゴール時点の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♥ハッピー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です。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810" y="2185035"/>
            <a:ext cx="194310" cy="194310"/>
          </a:xfrm>
          <a:prstGeom prst="rect">
            <a:avLst/>
          </a:prstGeom>
        </p:spPr>
      </p:pic>
      <p:pic>
        <p:nvPicPr>
          <p:cNvPr id="24" name="Picture 23" descr="683ca999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502" y="3695700"/>
            <a:ext cx="198120" cy="198120"/>
          </a:xfrm>
          <a:prstGeom prst="rect">
            <a:avLst/>
          </a:prstGeom>
        </p:spPr>
      </p:pic>
      <p:pic>
        <p:nvPicPr>
          <p:cNvPr id="25" name="Picture 24" descr="10d4f0b28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158" y="3695700"/>
            <a:ext cx="198120" cy="198120"/>
          </a:xfrm>
          <a:prstGeom prst="rect">
            <a:avLst/>
          </a:prstGeom>
        </p:spPr>
      </p:pic>
      <p:pic>
        <p:nvPicPr>
          <p:cNvPr id="26" name="Picture 25" descr="706f2583c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5205" y="3695700"/>
            <a:ext cx="198120" cy="198120"/>
          </a:xfrm>
          <a:prstGeom prst="rect">
            <a:avLst/>
          </a:prstGeom>
        </p:spPr>
      </p:pic>
      <p:pic>
        <p:nvPicPr>
          <p:cNvPr id="27" name="Picture 26" descr="278f8b252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8062" y="3695700"/>
            <a:ext cx="198120" cy="198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08332" y="2403158"/>
            <a:ext cx="2300288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992505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887278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056822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951595" y="304419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121140" y="316039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92505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887278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056822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7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951595" y="3977640"/>
            <a:ext cx="3941445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21140" y="4093845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24550" y="2403158"/>
            <a:ext cx="236886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マスの種類は6つ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4498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おしごと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基本給＋★まなび×掛け率＋仕送り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58815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しゅっぴ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いるものは、いる。決まった額を払う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132" y="3175635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できごと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カードを1枚引く。幸運も、事故も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4498" y="4245292"/>
            <a:ext cx="2944178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まなび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自分に投資する。0円でも学べる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58815" y="4245292"/>
            <a:ext cx="321278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トビラ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人生の分岐点。19年間で6枚に出会う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3132" y="4108132"/>
            <a:ext cx="3242310" cy="605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はなしあい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22歳。ゲームを止めてチームで話す。数字は変わらない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6262" y="4957762"/>
            <a:ext cx="494442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止まったマスの指示に従い、OKを押すと次の人の番になります</a:t>
            </a:r>
          </a:p>
        </p:txBody>
      </p:sp>
      <p:pic>
        <p:nvPicPr>
          <p:cNvPr id="23" name="Picture 22" descr="7ef1eed3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838" y="2541270"/>
            <a:ext cx="194310" cy="194310"/>
          </a:xfrm>
          <a:prstGeom prst="rect">
            <a:avLst/>
          </a:prstGeom>
        </p:spPr>
      </p:pic>
      <p:pic>
        <p:nvPicPr>
          <p:cNvPr id="24" name="Picture 23" descr="3d99c9c0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620" y="3318510"/>
            <a:ext cx="261938" cy="261938"/>
          </a:xfrm>
          <a:prstGeom prst="rect">
            <a:avLst/>
          </a:prstGeom>
        </p:spPr>
      </p:pic>
      <p:pic>
        <p:nvPicPr>
          <p:cNvPr id="25" name="Picture 24" descr="a9d316b1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4938" y="3318510"/>
            <a:ext cx="261938" cy="261938"/>
          </a:xfrm>
          <a:prstGeom prst="rect">
            <a:avLst/>
          </a:prstGeom>
        </p:spPr>
      </p:pic>
      <p:pic>
        <p:nvPicPr>
          <p:cNvPr id="26" name="Picture 25" descr="7bf4505dc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0208" y="3318510"/>
            <a:ext cx="261938" cy="261938"/>
          </a:xfrm>
          <a:prstGeom prst="rect">
            <a:avLst/>
          </a:prstGeom>
        </p:spPr>
      </p:pic>
      <p:pic>
        <p:nvPicPr>
          <p:cNvPr id="27" name="Picture 26" descr="8afc0ea0c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0620" y="4251960"/>
            <a:ext cx="261938" cy="261938"/>
          </a:xfrm>
          <a:prstGeom prst="rect">
            <a:avLst/>
          </a:prstGeom>
        </p:spPr>
      </p:pic>
      <p:pic>
        <p:nvPicPr>
          <p:cNvPr id="28" name="Picture 27" descr="96066573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4938" y="4251960"/>
            <a:ext cx="261938" cy="261938"/>
          </a:xfrm>
          <a:prstGeom prst="rect">
            <a:avLst/>
          </a:prstGeom>
        </p:spPr>
      </p:pic>
      <p:pic>
        <p:nvPicPr>
          <p:cNvPr id="29" name="Picture 28" descr="6d28f3c5d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80208" y="4251960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50092" y="385762"/>
            <a:ext cx="4615815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hoice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63" y="1503581"/>
            <a:ext cx="6194107" cy="3868935"/>
          </a:xfrm>
          <a:prstGeom prst="rect">
            <a:avLst/>
          </a:prstGeom>
        </p:spPr>
      </p:pic>
      <p:pic>
        <p:nvPicPr>
          <p:cNvPr id="7" name="Picture 6" descr="confirm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130" y="1503581"/>
            <a:ext cx="6194107" cy="38689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67262" y="385762"/>
            <a:ext cx="46843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トビラとカギ — ここがこのゲームの核心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3660" y="5909310"/>
            <a:ext cx="1738312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1. どの道を選ぶか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7945" y="3322320"/>
            <a:ext cx="880110" cy="6124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374"/>
              </a:lnSpc>
            </a:pPr>
            <a:r>
              <a:rPr sz="2429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2040" y="5909310"/>
            <a:ext cx="3062288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2. 開くかどうかは、選んでから分かる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2945" y="6657022"/>
            <a:ext cx="319659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カギがいくつ必要かは、ここでは分からない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一覧に出るのは名前だけ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45380" y="6657022"/>
            <a:ext cx="40528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カギが足りなければ「このトビラは開かなかった」。カギの要らない道は必ず選べる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選んで、はじめて分かる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6862" y="6657022"/>
            <a:ext cx="348234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そもそも中身が見えない。選ぶことすらできない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？？？</a:t>
            </a:r>
          </a:p>
        </p:txBody>
      </p:sp>
      <p:pic>
        <p:nvPicPr>
          <p:cNvPr id="18" name="Picture 17" descr="96066573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1550" y="524828"/>
            <a:ext cx="194310" cy="194310"/>
          </a:xfrm>
          <a:prstGeom prst="rect">
            <a:avLst/>
          </a:prstGeom>
        </p:spPr>
      </p:pic>
      <p:pic>
        <p:nvPicPr>
          <p:cNvPr id="19" name="Picture 18" descr="5b29d22d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20" name="Picture 19" descr="2facab2a3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21" name="Picture 20" descr="37db8309e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38725" y="385762"/>
            <a:ext cx="3637598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2994660" y="5664518"/>
            <a:ext cx="7726680" cy="1587818"/>
          </a:xfrm>
          <a:prstGeom prst="roundRect">
            <a:avLst>
              <a:gd name="adj" fmla="val 126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mo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5168" y="1027880"/>
            <a:ext cx="7225665" cy="4513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55895" y="385762"/>
            <a:ext cx="3706178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同じ★でも、入るお金がちがう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08910" y="5664518"/>
            <a:ext cx="8298180" cy="1644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日本・欧米で育つと、</a:t>
            </a:r>
            <a:r>
              <a:rPr sz="1640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★1つが10万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  <a:p>
            <a:pPr algn="ctr">
              <a:lnSpc>
                <a:spcPts val="2952"/>
              </a:lnSpc>
            </a:pP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ウガンダで育つと、</a:t>
            </a:r>
            <a:r>
              <a:rPr sz="1640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★1つは5万</a:t>
            </a:r>
            <a:r>
              <a:rPr sz="1640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。はたらきはじめの基本給も、20万と10万。</a:t>
            </a:r>
          </a:p>
          <a:p>
            <a:pPr algn="ctr">
              <a:lnSpc>
                <a:spcPts val="2952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この2つは</a:t>
            </a:r>
            <a:r>
              <a:rPr sz="1336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生まれた場所で決まっていて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、</a:t>
            </a: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カードにも盤面にも出てきません</a:t>
            </a:r>
          </a:p>
        </p:txBody>
      </p:sp>
      <p:pic>
        <p:nvPicPr>
          <p:cNvPr id="7" name="Picture 6" descr="adf95adf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182" y="52482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240887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4E8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3049905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50658" y="320421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4103370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50658" y="425767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63540" y="240887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奨学金と、順位の決まり方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0658" y="320421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5965" y="3188970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「奨学金・支援団体の力で進学」は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貸与型（総額48万）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。働くたびに−6万ずつ返し続けます。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25歳では返し終わりません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0658" y="425767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5965" y="4242435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順位を決めるのは、お金ではなく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♥ハッピーの数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＝人生の選択肢を多く持ち、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自分の意思で選べた回数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3370" y="4952048"/>
            <a:ext cx="550926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おかねと★まなびは、♥を得るための「カギ」。目的ではなく手段です</a:t>
            </a:r>
          </a:p>
        </p:txBody>
      </p:sp>
      <p:pic>
        <p:nvPicPr>
          <p:cNvPr id="13" name="Picture 12" descr="23e5ecb7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28" y="2546985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68352" y="2001202"/>
            <a:ext cx="19783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07098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20665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570345" y="4124325"/>
            <a:ext cx="84486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522845" y="4124325"/>
            <a:ext cx="873442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503920" y="4124325"/>
            <a:ext cx="1142048" cy="4171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22295" y="4711065"/>
            <a:ext cx="2908935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138862" y="4711065"/>
            <a:ext cx="2098358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8345805" y="4711065"/>
            <a:ext cx="2247900" cy="4305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085522" y="2001202"/>
            <a:ext cx="20469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プレイタイム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2062" y="2643188"/>
            <a:ext cx="3570922" cy="13687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327"/>
              </a:lnSpc>
            </a:pPr>
            <a:r>
              <a:rPr sz="10327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25:00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523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スタート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4915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一時停止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4595" y="4124325"/>
            <a:ext cx="141636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−1分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7095" y="4124325"/>
            <a:ext cx="1444942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＋1分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8170" y="4124325"/>
            <a:ext cx="1713548" cy="4743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36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リセット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4711065"/>
            <a:ext cx="304038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家庭カードは最後まで自分だけ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168" y="4711065"/>
            <a:ext cx="222980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困ったら手を挙げる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0110" y="4711065"/>
            <a:ext cx="237934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96"/>
              </a:lnSpc>
            </a:pPr>
            <a:r>
              <a:rPr sz="1275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全員25歳ゴールで終了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7922" y="5373052"/>
            <a:ext cx="1240155" cy="320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77"/>
              </a:lnSpc>
            </a:pPr>
            <a:r>
              <a:rPr sz="115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— 記入 —</a:t>
            </a:r>
          </a:p>
        </p:txBody>
      </p:sp>
      <p:pic>
        <p:nvPicPr>
          <p:cNvPr id="22" name="Picture 21" descr="092aaf4a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810" y="2140268"/>
            <a:ext cx="194310" cy="194310"/>
          </a:xfrm>
          <a:prstGeom prst="rect">
            <a:avLst/>
          </a:prstGeom>
        </p:spPr>
      </p:pic>
      <p:pic>
        <p:nvPicPr>
          <p:cNvPr id="23" name="Picture 22" descr="2093fb57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3272" y="4841558"/>
            <a:ext cx="170498" cy="170498"/>
          </a:xfrm>
          <a:prstGeom prst="rect">
            <a:avLst/>
          </a:prstGeom>
        </p:spPr>
      </p:pic>
      <p:pic>
        <p:nvPicPr>
          <p:cNvPr id="24" name="Picture 23" descr="25c5ca3a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9840" y="4841558"/>
            <a:ext cx="170498" cy="170498"/>
          </a:xfrm>
          <a:prstGeom prst="rect">
            <a:avLst/>
          </a:prstGeom>
        </p:spPr>
      </p:pic>
      <p:pic>
        <p:nvPicPr>
          <p:cNvPr id="25" name="Picture 24" descr="4d8d3861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5830" y="4841558"/>
            <a:ext cx="170498" cy="1704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48640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791075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032558" y="6296978"/>
            <a:ext cx="4133850" cy="955358"/>
          </a:xfrm>
          <a:prstGeom prst="roundRect">
            <a:avLst>
              <a:gd name="adj" fmla="val 129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9956" y="1027748"/>
            <a:ext cx="8237041" cy="5145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まず、結果を全員で見ます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2945" y="6657022"/>
            <a:ext cx="348234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同数なら残ったお金。お金の多さでは決まらない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595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順位は♥の数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45380" y="6657022"/>
            <a:ext cx="3339465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誰がどこに生まれていたのかが、ここで分かる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92078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家庭カードが公開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6862" y="6657022"/>
            <a:ext cx="4052888" cy="531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借りた人はまだ返し終わっていない。ゴールは、終わりではなかった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4512" y="6381750"/>
            <a:ext cx="3921442" cy="2943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1"/>
              </a:lnSpc>
            </a:pPr>
            <a:r>
              <a:rPr sz="1336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奨学金の残り</a:t>
            </a:r>
          </a:p>
        </p:txBody>
      </p:sp>
      <p:pic>
        <p:nvPicPr>
          <p:cNvPr id="14" name="Picture 13" descr="8ece8238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5" name="Picture 14" descr="eea51cc2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945" y="6411278"/>
            <a:ext cx="178118" cy="178118"/>
          </a:xfrm>
          <a:prstGeom prst="rect">
            <a:avLst/>
          </a:prstGeom>
        </p:spPr>
      </p:pic>
      <p:pic>
        <p:nvPicPr>
          <p:cNvPr id="16" name="Picture 15" descr="a33551a2c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5380" y="6411278"/>
            <a:ext cx="178118" cy="178118"/>
          </a:xfrm>
          <a:prstGeom prst="rect">
            <a:avLst/>
          </a:prstGeom>
        </p:spPr>
      </p:pic>
      <p:pic>
        <p:nvPicPr>
          <p:cNvPr id="17" name="Picture 16" descr="5baef69d5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6862" y="6411278"/>
            <a:ext cx="178118" cy="17811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246370" y="385762"/>
            <a:ext cx="3223260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843212" y="5905500"/>
            <a:ext cx="4922520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22720" y="6732270"/>
            <a:ext cx="201358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41470" y="7146608"/>
            <a:ext cx="274796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8610" y="1027748"/>
            <a:ext cx="7117828" cy="44462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3540" y="385762"/>
            <a:ext cx="329184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誰が、どの扉を選んだのか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61172" y="5597842"/>
            <a:ext cx="10192702" cy="1712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誰のネタバラシでも、自分の画面から開けます。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19年間の扉が全部ならびます。</a:t>
            </a:r>
          </a:p>
          <a:p>
            <a:pPr algn="ctr">
              <a:lnSpc>
                <a:spcPts val="3259"/>
              </a:lnSpc>
            </a:pP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えらんだ</a:t>
            </a:r>
            <a:r>
              <a:rPr sz="1761" b="0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4CA872"/>
                </a:solidFill>
                <a:latin typeface="Zen Maru Gothic"/>
                <a:ea typeface="Zen Maru Gothic"/>
                <a:cs typeface="Zen Maru Gothic"/>
              </a:rPr>
              <a:t>開けられた</a:t>
            </a:r>
            <a:r>
              <a:rPr sz="1761" b="0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C98A3C"/>
                </a:solidFill>
                <a:latin typeface="Zen Maru Gothic"/>
                <a:ea typeface="Zen Maru Gothic"/>
                <a:cs typeface="Zen Maru Gothic"/>
              </a:rPr>
              <a:t>カギ不足</a:t>
            </a:r>
            <a:r>
              <a:rPr sz="1761" b="0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　</a:t>
            </a:r>
            <a:r>
              <a:rPr sz="1761" b="1">
                <a:solidFill>
                  <a:srgbClr val="7E6BC4"/>
                </a:solidFill>
                <a:latin typeface="Zen Maru Gothic"/>
                <a:ea typeface="Zen Maru Gothic"/>
                <a:cs typeface="Zen Maru Gothic"/>
              </a:rPr>
              <a:t>見えてなかった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紫の行が、ゲーム中「？？？」だったもの。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本当は何だったのか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が、ここで初めて分かります。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まず、自分の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「見えていなかった ◯枚」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を声に出して読み上げてみてください。</a:t>
            </a:r>
          </a:p>
        </p:txBody>
      </p:sp>
      <p:pic>
        <p:nvPicPr>
          <p:cNvPr id="9" name="Picture 8" descr="96066573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828" y="524828"/>
            <a:ext cx="194310" cy="194310"/>
          </a:xfrm>
          <a:prstGeom prst="rect">
            <a:avLst/>
          </a:prstGeom>
        </p:spPr>
      </p:pic>
      <p:pic>
        <p:nvPicPr>
          <p:cNvPr id="10" name="Picture 9" descr="dedbf7a2d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0465" y="6107430"/>
            <a:ext cx="235268" cy="235268"/>
          </a:xfrm>
          <a:prstGeom prst="rect">
            <a:avLst/>
          </a:prstGeom>
        </p:spPr>
      </p:pic>
      <p:pic>
        <p:nvPicPr>
          <p:cNvPr id="11" name="Picture 10" descr="1f2a15ff6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6832" y="6107430"/>
            <a:ext cx="235268" cy="235268"/>
          </a:xfrm>
          <a:prstGeom prst="rect">
            <a:avLst/>
          </a:prstGeom>
        </p:spPr>
      </p:pic>
      <p:pic>
        <p:nvPicPr>
          <p:cNvPr id="12" name="Picture 11" descr="2facab2a3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7038" y="6107430"/>
            <a:ext cx="235268" cy="235268"/>
          </a:xfrm>
          <a:prstGeom prst="rect">
            <a:avLst/>
          </a:prstGeom>
        </p:spPr>
      </p:pic>
      <p:pic>
        <p:nvPicPr>
          <p:cNvPr id="13" name="Picture 12" descr="37db8309e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3405" y="6107430"/>
            <a:ext cx="235268" cy="2352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4120" y="2467928"/>
            <a:ext cx="112776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8370" y="2467928"/>
            <a:ext cx="169926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2208" y="3093720"/>
            <a:ext cx="88715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結果画面で、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★の数が近い人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を2人さがしてください。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おかねの増え方は、同じでしたか？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それは本人の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努力のちがい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だろうか？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9540" y="4892992"/>
            <a:ext cx="607599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基本給は20万と10万、★1つは10万と5万。どちらも生まれた場所で決まっていた</a:t>
            </a:r>
          </a:p>
        </p:txBody>
      </p:sp>
      <p:pic>
        <p:nvPicPr>
          <p:cNvPr id="6" name="Picture 5" descr="49c8b010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6212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91262" y="2467928"/>
            <a:ext cx="113347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5512" y="2467928"/>
            <a:ext cx="170497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98408" y="3093720"/>
            <a:ext cx="8719185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自分のカードの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「見えていなかった ◯」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を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読み上げてください。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チームで数字がちがいます。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何が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その差をつくった？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25415" y="4892992"/>
            <a:ext cx="350329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結果画面の帯グラフ。紫の部分の数字です</a:t>
            </a:r>
          </a:p>
        </p:txBody>
      </p:sp>
      <p:pic>
        <p:nvPicPr>
          <p:cNvPr id="6" name="Picture 5" descr="d07e4653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088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8405" y="2467928"/>
            <a:ext cx="1139190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2655" y="2467928"/>
            <a:ext cx="1710690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8450" y="3093720"/>
            <a:ext cx="804005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ウガンダの遺児の家庭だった人のネタバラシを、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全員が自分の画面で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開いてください。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その人には、何が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「見えて」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本人に見せてもらう必要はありません。誰のぶんでも開けます</a:t>
            </a:r>
          </a:p>
        </p:txBody>
      </p:sp>
      <p:pic>
        <p:nvPicPr>
          <p:cNvPr id="6" name="Picture 5" descr="bb3a5bc0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6500" y="2467928"/>
            <a:ext cx="1142048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0750" y="2467928"/>
            <a:ext cx="1713548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07995" y="3093720"/>
            <a:ext cx="7700962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今日あなたが持ってきたもの——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スマホ、無料の教科書、給食。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それは、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どの家庭カードの世界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のものだった？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9725" y="4892992"/>
            <a:ext cx="3114675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「3つの世界の朝」を思い出しながら</a:t>
            </a:r>
          </a:p>
        </p:txBody>
      </p:sp>
      <p:pic>
        <p:nvPicPr>
          <p:cNvPr id="6" name="Picture 5" descr="100c481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7350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289358" y="2467928"/>
            <a:ext cx="1137285" cy="45624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003608" y="2467928"/>
            <a:ext cx="1708785" cy="513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問い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86175" y="3093720"/>
            <a:ext cx="6342698" cy="16859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日本にいる私たちが、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世界の遺児にわたせる</a:t>
            </a:r>
            <a:r>
              <a:rPr sz="2673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「カギ」</a:t>
            </a: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って、</a:t>
            </a:r>
          </a:p>
          <a:p>
            <a:pPr algn="ctr">
              <a:lnSpc>
                <a:spcPts val="4276"/>
              </a:lnSpc>
            </a:pPr>
            <a:r>
              <a:rPr sz="2673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何だろう？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1042" y="4892992"/>
            <a:ext cx="4892040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正解はありません。話したくないことは話さなくて大丈夫です</a:t>
            </a:r>
          </a:p>
        </p:txBody>
      </p:sp>
      <p:pic>
        <p:nvPicPr>
          <p:cNvPr id="6" name="Picture 5" descr="9be63490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715" y="4951095"/>
            <a:ext cx="161925" cy="16192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1660" y="1607820"/>
            <a:ext cx="239363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3320415" y="3628072"/>
            <a:ext cx="1581150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380672" y="3628072"/>
            <a:ext cx="2406968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65795" y="3628072"/>
            <a:ext cx="2129790" cy="991552"/>
          </a:xfrm>
          <a:prstGeom prst="roundRect">
            <a:avLst>
              <a:gd name="adj" fmla="val 1556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061460" y="5096827"/>
            <a:ext cx="5594032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62650" y="5511165"/>
            <a:ext cx="268509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78830" y="1607820"/>
            <a:ext cx="246221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ゲームから現実へ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9118" y="2248852"/>
            <a:ext cx="4978718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生まれた場所の差は、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連鎖していく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66122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生まれの差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66122" y="4215765"/>
            <a:ext cx="1690688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初期資金・基本給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24400" y="3628072"/>
            <a:ext cx="833438" cy="10487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4975" y="3820478"/>
            <a:ext cx="213741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見える世界の差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6380" y="4215765"/>
            <a:ext cx="2515552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知っている支援・出会える情報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9522" y="3628072"/>
            <a:ext cx="833438" cy="10487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717"/>
              </a:lnSpc>
            </a:pPr>
            <a:r>
              <a:rPr sz="2065" b="1">
                <a:solidFill>
                  <a:srgbClr val="F4879F"/>
                </a:solidFill>
                <a:latin typeface="Zen Maru Gothic"/>
                <a:ea typeface="Zen Maru Gothic"/>
                <a:cs typeface="Zen Maru Gothic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4870" y="3820478"/>
            <a:ext cx="1690688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71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実る場の差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502" y="4215765"/>
            <a:ext cx="2238375" cy="3067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68"/>
              </a:lnSpc>
            </a:pPr>
            <a:r>
              <a:rPr sz="109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同じ★でも、かせぎが違う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2755" y="4789170"/>
            <a:ext cx="7731442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学べば報われる、は、場が用意されている人の話です。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そしてその差は、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次の世代の「生まれの差」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へ——。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ゲームで見た「？？？」も「カギ不足」も、いまの世界に実在します。</a:t>
            </a:r>
          </a:p>
        </p:txBody>
      </p:sp>
      <p:pic>
        <p:nvPicPr>
          <p:cNvPr id="19" name="Picture 18" descr="995d0a3b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118" y="174593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50192" y="1473518"/>
            <a:ext cx="3015615" cy="471488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234440" y="2114550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450658" y="226885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234440" y="2932748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450658" y="3087052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234440" y="3985260"/>
            <a:ext cx="11247120" cy="914400"/>
          </a:xfrm>
          <a:prstGeom prst="roundRect">
            <a:avLst>
              <a:gd name="adj" fmla="val 1687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450658" y="4139565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234440" y="5038725"/>
            <a:ext cx="11247120" cy="679132"/>
          </a:xfrm>
          <a:prstGeom prst="roundRect">
            <a:avLst>
              <a:gd name="adj" fmla="val 2272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450658" y="5193030"/>
            <a:ext cx="385762" cy="385762"/>
          </a:xfrm>
          <a:prstGeom prst="ellipse">
            <a:avLst/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567362" y="1473518"/>
            <a:ext cx="308419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7A6320"/>
                </a:solidFill>
                <a:latin typeface="Zen Maru Gothic"/>
                <a:ea typeface="Zen Maru Gothic"/>
                <a:cs typeface="Zen Maru Gothic"/>
              </a:rPr>
              <a:t>だから、「支援」がある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0658" y="226885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965" y="2253615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この連鎖は、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本人の努力だけでは断ち切れない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。だから世界には、遺児を支える仕組みと人がいる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0658" y="3087052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05965" y="3071812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あしなが育英会は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「あしながウガンダ」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で、現地の遺児の教育を実際に支えている——ゲームに出てきた支援団体のモデル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0658" y="4139565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5965" y="4124325"/>
            <a:ext cx="10602278" cy="6934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AAI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は、アフリカの遺児を海外の大学へ送り出す奨学金。カギはお金ではなく、まなびと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「志」</a:t>
            </a: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——祖国に貢献するリーダーを育てる「約束」の仕組み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50658" y="5193030"/>
            <a:ext cx="728662" cy="442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5965" y="5177790"/>
            <a:ext cx="10602278" cy="3752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5"/>
              </a:lnSpc>
            </a:pPr>
            <a:r>
              <a:rPr sz="151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そして、その入り口に立っているのが——</a:t>
            </a:r>
            <a:r>
              <a:rPr sz="1518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いま街頭に立っている、みなさんです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9330" y="5887402"/>
            <a:ext cx="9196388" cy="335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87"/>
              </a:lnSpc>
            </a:pPr>
            <a:r>
              <a:rPr sz="1214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ゲームでAAIを選んだ人は、お金を1円も払っていません。25歳のいま、その人がどこで何をしていたか、読んでみてください</a:t>
            </a:r>
          </a:p>
        </p:txBody>
      </p:sp>
      <p:pic>
        <p:nvPicPr>
          <p:cNvPr id="21" name="Picture 20" descr="1b2e1ed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50" y="1612582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54015" y="2394585"/>
            <a:ext cx="2807970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738812" y="5136832"/>
            <a:ext cx="111918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71185" y="2394585"/>
            <a:ext cx="2876550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ここからは、検証です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7078" y="3036570"/>
            <a:ext cx="7141845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今度は</a:t>
            </a:r>
            <a:r>
              <a:rPr sz="3401" b="1">
                <a:solidFill>
                  <a:srgbClr val="5B7FA8"/>
                </a:solidFill>
                <a:latin typeface="Zen Maru Gothic"/>
                <a:ea typeface="Zen Maru Gothic"/>
                <a:cs typeface="Zen Maru Gothic"/>
              </a:rPr>
              <a:t>「届ける側」</a:t>
            </a: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として、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いまの75分を振り返ってください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5640" y="4415790"/>
            <a:ext cx="7283768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このゲームは、まだ完成していません。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今日みなさんが感じた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引っかかり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が、そのまま改善点になります。</a:t>
            </a:r>
          </a:p>
        </p:txBody>
      </p:sp>
      <p:pic>
        <p:nvPicPr>
          <p:cNvPr id="7" name="Picture 6" descr="867d447a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472" y="2533650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24388" y="2127885"/>
            <a:ext cx="4467225" cy="471488"/>
          </a:xfrm>
          <a:prstGeom prst="roundRect">
            <a:avLst>
              <a:gd name="adj" fmla="val 50000"/>
            </a:avLst>
          </a:prstGeom>
          <a:solidFill>
            <a:srgbClr val="5B7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1371600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541145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C6E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919912" y="276987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089458" y="288512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DCD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371600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541145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919912" y="3703320"/>
            <a:ext cx="5424488" cy="809625"/>
          </a:xfrm>
          <a:prstGeom prst="roundRect">
            <a:avLst>
              <a:gd name="adj" fmla="val 1715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089458" y="3818572"/>
            <a:ext cx="579120" cy="579120"/>
          </a:xfrm>
          <a:prstGeom prst="roundRect">
            <a:avLst>
              <a:gd name="adj" fmla="val 18651"/>
            </a:avLst>
          </a:prstGeom>
          <a:solidFill>
            <a:srgbClr val="FCE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955858" y="5403532"/>
            <a:ext cx="3579495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1558" y="2127885"/>
            <a:ext cx="4535805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気になるところを、全部出してください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3138" y="3037522"/>
            <a:ext cx="3722370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時間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25分で終わった？ 長すぎた・短すぎたのはどこ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1450" y="3037522"/>
            <a:ext cx="433387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つまずき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ルールで分からなかったこと、操作で迷ったところ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3138" y="3970972"/>
            <a:ext cx="3693795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表現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「この言い方は違う」「強すぎる／弱すぎる」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1450" y="3970972"/>
            <a:ext cx="3586162" cy="3314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97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届け方</a:t>
            </a:r>
            <a:r>
              <a:rPr sz="1123" b="1">
                <a:solidFill>
                  <a:srgbClr val="8A97A5"/>
                </a:solidFill>
                <a:latin typeface="Zen Maru Gothic"/>
                <a:ea typeface="Zen Maru Gothic"/>
                <a:cs typeface="Zen Maru Gothic"/>
              </a:rPr>
              <a:t>高校生に届けるなら、何を削り、何を足す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5710" y="4682490"/>
            <a:ext cx="616553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数字のバランス、扉の選択肢、エンディングの文章——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「ここは違うと思う」を、遠慮なく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。</a:t>
            </a:r>
          </a:p>
        </p:txBody>
      </p:sp>
      <p:pic>
        <p:nvPicPr>
          <p:cNvPr id="18" name="Picture 17" descr="b7c36b66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45" y="2266950"/>
            <a:ext cx="194310" cy="194310"/>
          </a:xfrm>
          <a:prstGeom prst="rect">
            <a:avLst/>
          </a:prstGeom>
        </p:spPr>
      </p:pic>
      <p:pic>
        <p:nvPicPr>
          <p:cNvPr id="19" name="Picture 18" descr="ad04ca62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9260" y="3043238"/>
            <a:ext cx="261938" cy="261938"/>
          </a:xfrm>
          <a:prstGeom prst="rect">
            <a:avLst/>
          </a:prstGeom>
        </p:spPr>
      </p:pic>
      <p:pic>
        <p:nvPicPr>
          <p:cNvPr id="20" name="Picture 19" descr="f5603e6f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7572" y="3043238"/>
            <a:ext cx="261938" cy="261938"/>
          </a:xfrm>
          <a:prstGeom prst="rect">
            <a:avLst/>
          </a:prstGeom>
        </p:spPr>
      </p:pic>
      <p:pic>
        <p:nvPicPr>
          <p:cNvPr id="21" name="Picture 20" descr="374ef3bd0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9260" y="3976688"/>
            <a:ext cx="261938" cy="261938"/>
          </a:xfrm>
          <a:prstGeom prst="rect">
            <a:avLst/>
          </a:prstGeom>
        </p:spPr>
      </p:pic>
      <p:pic>
        <p:nvPicPr>
          <p:cNvPr id="22" name="Picture 21" descr="325205dcc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7572" y="3976688"/>
            <a:ext cx="261938" cy="26193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35855" y="2187892"/>
            <a:ext cx="3845242" cy="471488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2718435" y="5344477"/>
            <a:ext cx="5146358" cy="54292"/>
          </a:xfrm>
          <a:prstGeom prst="rect">
            <a:avLst/>
          </a:prstGeom>
          <a:solidFill>
            <a:srgbClr val="FCE6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53025" y="2187892"/>
            <a:ext cx="3913822" cy="528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24"/>
              </a:lnSpc>
            </a:pPr>
            <a:r>
              <a:rPr sz="1458" b="1">
                <a:solidFill>
                  <a:srgbClr val="FFFFFF"/>
                </a:solidFill>
                <a:latin typeface="Zen Maru Gothic"/>
                <a:ea typeface="Zen Maru Gothic"/>
                <a:cs typeface="Zen Maru Gothic"/>
              </a:rPr>
              <a:t>最後に、感想を聞かせてください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28110" y="2829878"/>
            <a:ext cx="5859780" cy="12668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うまく言葉にならなくても</a:t>
            </a:r>
          </a:p>
          <a:p>
            <a:pPr algn="ctr">
              <a:lnSpc>
                <a:spcPts val="4762"/>
              </a:lnSpc>
            </a:pPr>
            <a:r>
              <a:rPr sz="340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かまいません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2685" y="4209098"/>
            <a:ext cx="8850630" cy="12982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今日いちばん心に残った場面。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自分のカードを見たときのこと、他の人のカードを知ったときのこと。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街頭に立つときの言葉が、ひとつでも変わったなら</a:t>
            </a: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——それを聞かせてください。</a:t>
            </a:r>
          </a:p>
        </p:txBody>
      </p:sp>
      <p:pic>
        <p:nvPicPr>
          <p:cNvPr id="7" name="Picture 6" descr="8f9f87c3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312" y="2326958"/>
            <a:ext cx="194310" cy="19431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9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56032" y="2272665"/>
            <a:ext cx="1002982" cy="1234440"/>
          </a:xfrm>
          <a:prstGeom prst="roundRect">
            <a:avLst>
              <a:gd name="adj" fmla="val 50000"/>
            </a:avLst>
          </a:prstGeom>
          <a:solidFill>
            <a:srgbClr val="F48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472238" y="2388870"/>
            <a:ext cx="771525" cy="1002982"/>
          </a:xfrm>
          <a:prstGeom prst="roundRect">
            <a:avLst>
              <a:gd name="adj" fmla="val 50000"/>
            </a:avLst>
          </a:prstGeom>
          <a:solidFill>
            <a:srgbClr val="FBD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02380" y="3676650"/>
            <a:ext cx="6112192" cy="748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443"/>
              </a:lnSpc>
            </a:pPr>
            <a:r>
              <a:rPr sz="3888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2432" y="4537710"/>
            <a:ext cx="5270182" cy="884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あなたの前にも、世界のどこかの子の前にも、</a:t>
            </a:r>
          </a:p>
          <a:p>
            <a:pPr algn="ctr">
              <a:lnSpc>
                <a:spcPts val="3259"/>
              </a:lnSpc>
            </a:pPr>
            <a:r>
              <a:rPr sz="1761" b="1">
                <a:solidFill>
                  <a:srgbClr val="3F5266"/>
                </a:solidFill>
                <a:latin typeface="Zen Maru Gothic"/>
                <a:ea typeface="Zen Maru Gothic"/>
                <a:cs typeface="Zen Maru Gothic"/>
              </a:rPr>
              <a:t>まだ見ぬトビラがたくさんある。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